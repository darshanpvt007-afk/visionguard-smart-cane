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a6e3766-f72f-8748-af7d-b6b299d4ee24}">
          <p14:sldIdLst>
            <p14:sldId id="256"/>
            <p14:sldId id="257"/>
            <p14:sldId id="258"/>
            <p14:sldId id="259"/>
            <p14:sldId id="260"/>
            <p14:sldId id="261"/>
          </p14:sldIdLst>
        </p14:section>
        <p14:section name="System Design" id="{53747080-8f19-97bf-6de8-a36b3553f8f9}">
          <p14:sldIdLst>
            <p14:sldId id="262"/>
            <p14:sldId id="263"/>
            <p14:sldId id="264"/>
            <p14:sldId id="265"/>
            <p14:sldId id="266"/>
            <p14:sldId id="267"/>
            <p14:sldId id="268"/>
            <p14:sldId id="269"/>
          </p14:sldIdLst>
        </p14:section>
        <p14:section name="Software" id="{fca74e68-2fe6-01ce-ed75-7adeeac78d16}">
          <p14:sldIdLst>
            <p14:sldId id="270"/>
            <p14:sldId id="271"/>
            <p14:sldId id="272"/>
            <p14:sldId id="273"/>
          </p14:sldIdLst>
        </p14:section>
        <p14:section name="Results and Conclusion" id="{1089706e-deb7-842b-2a9a-55e8336065bf}">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Cost breakdown (₹, incl. GST)</a:t>
            </a:r>
          </a:p>
        </c:rich>
      </c:tx>
      <c:layout/>
      <c:overlay val="0"/>
    </c:title>
    <c:autoTitleDeleted val="0"/>
    <c:plotArea>
      <c:layout/>
      <c:barChart>
        <c:barDir val="bar"/>
        <c:grouping val="clustered"/>
        <c:varyColors val="0"/>
        <c:ser>
          <c:idx val="0"/>
          <c:order val="0"/>
          <c:tx>
            <c:strRef>
              <c:f>Sheet1!$B$1</c:f>
              <c:strCache>
                <c:ptCount val="1"/>
                <c:pt idx="0">
                  <c:v>Cost (₹)</c:v>
                </c:pt>
              </c:strCache>
            </c:strRef>
          </c:tx>
          <c:spPr>
            <a:solidFill>
              <a:srgbClr val="1F7A8C"/>
            </a:solidFill>
            <a:effectLst/>
          </c:spPr>
          <c:invertIfNegative val="0"/>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cat>
            <c:multiLvlStrRef>
              <c:f>Sheet1!$A$2:$A$6</c:f>
              <c:multiLvlStrCache>
                <c:ptCount val="5"/>
                <c:lvl>
                  <c:pt idx="0">
                    <c:v>Controller</c:v>
                  </c:pt>
                  <c:pt idx="1">
                    <c:v>Power</c:v>
                  </c:pt>
                  <c:pt idx="2">
                    <c:v>Wiring &amp; passives</c:v>
                  </c:pt>
                  <c:pt idx="3">
                    <c:v>Sensors</c:v>
                  </c:pt>
                  <c:pt idx="4">
                    <c:v>Cable, buzzer, body</c:v>
                  </c:pt>
                </c:lvl>
              </c:multiLvlStrCache>
            </c:multiLvlStrRef>
          </c:cat>
          <c:val>
            <c:numRef>
              <c:f>Sheet1!$B$2:$B$6</c:f>
              <c:numCache>
                <c:formatCode>General</c:formatCode>
                <c:ptCount val="5"/>
                <c:pt idx="0">
                  <c:v>250</c:v>
                </c:pt>
                <c:pt idx="1">
                  <c:v>175</c:v>
                </c:pt>
                <c:pt idx="2">
                  <c:v>191</c:v>
                </c:pt>
                <c:pt idx="3">
                  <c:v>150</c:v>
                </c:pt>
                <c:pt idx="4">
                  <c:v>110</c:v>
                </c:pt>
              </c:numCache>
            </c:numRef>
          </c:val>
        </c:ser>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77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BOTH  (~25 s)
ACTION: Stand on either side of the screen. Darshan holds the cane.
DARSHAN: Good morning, sir. I'm S Darshan, registration number 25BCE2883.
TANAY: And I'm Tanay Agarwal, 25BCE2475.
DARSHAN: Our project is VisionGuard, a smart cane for visually impaired people. It warns the user about obstacles in front of them and about water at the tip of the cane.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(~20 s)
DARSHAN: First I'll explain the problem, our objectives, the system design and the sensors. Then Tanay will cover the power, circuit, software, results, cost and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Point at the 2.2 billion figure, then the three points.
DARSHAN: According to the WHO, about 2.2 billion people around the world have some kind of vision impairment. Most blind people use a white cane, but it has three problems. First, it finds an obstacle only when it actually hits it. Second, it can't warn about water, puddles or open drains. Third, it doesn't tell the user how far away the obstacle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Move left to right across the three boxes.
DARSHAN: We looked at what already exists. A white cane is cheap and simple, but it works only on contact. A guide dog is very helpful, but it's expensive, needs long training and isn't easily available. There are commercial smart canes, but they're costly, mostly imported and hard to repair here. So the gap we saw is a low-cost cane that warns early about both obstacles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Point at each number as you say it.
DARSHAN: We set four objectives. One: detect obstacles within 50 centimetres. Two: show the distance through the beep speed. The gap between beeps goes from 50 milliseconds when the obstacle is very close to 400 milliseconds at 50 centimetres. Three: detect water when the moisture reading drops below 500 out of 1023, and give that the highest priority. Four: keep it cheap and portable. The cane parts cost about 876 rupees, and it runs on one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Hold up the cane next to the photo.
DARSHAN: Our solution has three main parts on a PVC pipe: an ultrasonic sensor that works like the cane's eyes, a moisture probe at the tip, and a buzzer that gives alerts by priority. The idea actually started as a smart shoe. We moved it to a cane because the cane tip reaches water before the foot does, and a sensor on the shaft stays steadier than one on a moving shoe.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(~40 s)
ACTION: Trace the diagram left, middle, right, then top.
DARSHAN: This is our block diagram. On the left are the inputs: the ultrasonic sensor connected to pins D5 and D6, and the moisture probe connected through the LM393 module to pin A0. In the middle is the Arduino Nano, which makes all the decisions. On the right is the output, the buzzer on pin D2. At the top, the battery powers everything through the on/off switch. The dashed box is a vibration motor, which we plan to add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(~35 s)
ACTION: Go across the top row, then the bottom row.
DARSHAN: These are the eight parts we used. The Arduino Nano is the controller. The HC-SR04 measures distance. The moisture probe and the LM393 module detect water. The active buzzer gives the alerts. The 18650 battery, the rocker switch and a 220 microfarad capacitor make up the power side. The capacitor smooths the supply so the Nano doesn't reset when the buzzer switches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(~30 s)
DARSHAN: We chose the Arduino Nano because it's small, only 18 by 45 millimetres, so it fits on a cane. It costs about 250 rupees. It uses 5-volt logic like our sensors, and it has a built-in 10-bit ADC to read the moisture sensor. It's also easy to program over USB. A Raspberry Pi would be too expensive and power-hungry for a simple job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(~45 s)
ACTION: Point at steps 1, 2, 3, then the formula box.
DARSHAN: This is how the ultrasonic sensor works. Step one: the Nano sends a 10-microsecond pulse to the Trig pin. Step two: the sensor sends out eight sound pulses at 40 kilohertz, which is too high for us to hear. Step three: the Echo pin stays HIGH until the echo comes back. So distance equals speed of sound times time, divided by two. We divide by two because the sound goes to the object and comes back. The speed of sound is about 0.034 centimetres per microsecond, so if the echo takes 1000 microseconds, the distance is 17 centimetres.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(~45 s)
ACTION: Point at the probe on the real cane. End by turning towards Tanay.
DARSHAN: This is the moisture probe at the tip. It has two copper strips. Dry air doesn't conduct electricity, but water does, so when the tip touches water, the resistance between the strips drops. The LM393 module turns this into a voltage, and the Nano reads it on A0. When it's dry the reading is about 1023, and when it's wet it goes below 500. We use the analog output instead of the digital D0 pin, so we can set the threshold in the code.
DARSHAN: Now Tanay will explain the power system and the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Point at battery → switch → 5V pin, then the warning.
TANAY: Thank you. The cane runs on one 18650 lithium-ion battery: 3.7 volts, 1200 milliamp-hours. It goes through the rocker switch to the Nano's 5V pin, which also powers both sensors. We didn't use the VIN pin, because VIN needs about 7 volts. The whole cane draws around 40 milliamps, so in theory the battery can last about 30 hours. One safety point: we always switch the cane off before connecting USB, because the battery is connected directly to the 5V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(~40 s)
ACTION: Point at the red 5V line and black GND line first.
TANAY: This is the full circuit. The red line is 5 volts and the black line is ground. Every module shares them. Trig goes to D5, Echo to D6, the moisture signal to A0 and the buzzer to D2. In the final cane we didn't use a breadboard. We soldered male header pins onto the Nano, and since the sensors also have header pins, the signal wires are female jumper wires plugged onto both ends. The power wires, the buzzer and the 220 microfarad capacitor are soldered for a strong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(~20 s)
TANAY: This table lists every connection. The main pins to remember are D5 for Trig, D6 for Echo, A0 for moisture and D2 for the buzzer. The LM393's D0 pin isn't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(~45 s)
ACTION: Point at boxes 1 to 6 in order.
TANAY: This is our algorithm. First the Nano sets up the pins. Then, in a loop, it measures the distance and reads the moisture. Then it decides. If the moisture is below 500, that's water, so the buzzer stays on continuously. If not, and an obstacle is closer than 50 centimetres, it beeps for 50 milliseconds and then waits a gap between 50 and 400 milliseconds depending on the distance. Otherwise the path is clear and the buzzer stays off. Then it waits 30 milliseconds and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Trace the top path, then the bottom path, then the priority box.
TANAY: The data flow graph shows how the data is processed. The echo time t is multiplied by 0.034 and divided by 2 to get the distance d. The distance is used in two places: to check whether the obstacle is near, and to work out the beep gap g. The moisture value m is compared with 500 to decide whether it's wet. Finally, the priority block uses wet, near and g to control the buzzer.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ACTION: Follow the arrows from OFF to SENSE, then the three states.
TANAY: This is the state diagram. When the switch is turned on, the cane sets up once and goes to SENSE. From SENSE it goes into exactly one state: water alert, obstacle alert or clear. After 30 milliseconds it comes back to SENSE. Turning the switch off takes it back to OFF from any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(~40 s)
ACTION: Point at the top half of the code, then the bottom half. End by turning towards Darshan.
TANAY: This is the main part of our code. The readDistanceCm function sends the trigger pulse and uses pulseIn with a 30-millisecond timeout. Without the timeout, it would wait up to one second when there's no echo and freeze the cane. Below that is the if-else chain. Water is checked first, so it always has priority. The map function converts the distance into the beep gap.
TANAY: Now Darshan will show you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DARSHAN  (~75 s)
ACTION: Point at the photos, then at the real cane. DEMO: switch on → hand from far to near → dip tip in water.
DARSHAN: This is our prototype and how we put it together. We soldered male header pins onto the Nano and connected the sensors with female jumper wires: Trig to D5, Echo to D6 and the moisture output to A0. The power wires, the buzzer and the capacitor are soldered. All the parts are hot-glued to the PVC pipe, the ultrasonic sensor sits on a foam spacer, and the battery holder is cable-tied. From the bottom: the probe, the LM393 module, the ultrasonic sensor, the Nano with the buzzer, then the switch and battery near the handle.
DARSHAN: Let me show you. I'm switching it on. It's silent now because the path is clear. Now I'll move my hand closer. It starts beeping at 50 centimetres and gets faster as I get closer. Now I'll dip the tip in water. It gives a continuous beep, which means water is detected.
DARSHAN: Tanay will now show our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ACTION: Point at the Result column.
TANAY: These are our tests. Running on battery and the obstacle alert are both verified. The water alert is in the code, and we're calibrating the exact threshold using the dry and wet readings on the Serial Monitor. We'll update this table once that's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(~25 s)
ACTION: Point at ₹876.
TANAY: The parts on the cane cost about 876 rupees. Our total spending was 1,805 rupees, but that includes tools like the soldering iron and extra parts for the next version, like the MOSFET and the fuse. That's much cheaper than commercial smart 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(~35 s)
ACTION: Left box first, then right box.
TANAY: The advantages: it warns before the user hits an obstacle, it shows the distance through the beep speed, it detects water, and it's cheap and easy to repair. The limitations, to be honest: the sensor's beam is narrow, so it can miss head-level objects. Water is detected only when the tip touches it. The probe will corrode over time. The battery isn't regulated. And the buzzer can be hard to hear in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(~30 s)
TANAY: To fix these, we plan to add a vibration motor using the MOSFET, so the user can feel the alerts. We also plan proper power with a boost converter, a charger and a fuse; extra sensors pointing up and down for head-level objects and steps; a capacitive moisture sensor that won't corrode; GPS with an SOS message; and finally a PCB inside a waterproof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TANAY  (~10 s)
TANAY: These are the datasheets and documents we referred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BOTH  (~25 s)
ACTION: Both face the faculty.
DARSHAN: To conclude, VisionGuard turns a normal cane into a low-cost electronic aid. It warns about obstacles early, shows the distance through the beep speed, and gives a priority warning for water, all for under 900 rupees.
TANAY: Thank you, sir. We're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773168"/>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VisionGuard Smart Cane  |  BACSE324 Embedded Systems Architecture</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VisionGuard</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Smart cane for visually impaired people: obstacle and wet-surface warning with an Arduino Nano</a:t>
            </a:r>
            <a:endParaRPr lang="en-US" sz="1800" dirty="0"/>
          </a:p>
        </p:txBody>
      </p:sp>
      <p:sp>
        <p:nvSpPr>
          <p:cNvPr id="4" name="Text 2"/>
          <p:cNvSpPr txBox="1"/>
          <p:nvPr/>
        </p:nvSpPr>
        <p:spPr>
          <a:xfrm>
            <a:off x="548640" y="3840480"/>
            <a:ext cx="4754880" cy="594360"/>
          </a:xfrm>
          <a:prstGeom prst="rect">
            <a:avLst/>
          </a:prstGeom>
          <a:noFill/>
          <a:ln/>
        </p:spPr>
        <p:txBody>
          <a:bodyPr wrap="square" lIns="0" tIns="0" rIns="0" bIns="0" rtlCol="0" anchor="t"/>
          <a:lstStyle/>
          <a:p>
            <a:pPr indent="0" marL="0">
              <a:buNone/>
            </a:pPr>
            <a:r>
              <a:rPr lang="en-US" sz="1300" b="1" dirty="0">
                <a:solidFill>
                  <a:schemeClr val="bg1"/>
                </a:solidFill>
              </a:rPr>
              <a:t>S Darshan (25BCE2883)  ·  Tanay Agarwal (25BCE2475)</a:t>
            </a:r>
            <a:endParaRPr lang="en-US" sz="1300" dirty="0"/>
          </a:p>
          <a:p>
            <a:pPr indent="0" marL="0">
              <a:buNone/>
            </a:pPr>
            <a:r>
              <a:rPr lang="en-US" sz="1300" dirty="0">
                <a:solidFill>
                  <a:schemeClr val="bg1"/>
                </a:solidFill>
              </a:rPr>
              <a:t>BACSE324 Embedded Systems Architecture  |  B.Tech CSE, VIT Vellore</a:t>
            </a:r>
            <a:endParaRPr lang="en-US" sz="1300" dirty="0"/>
          </a:p>
        </p:txBody>
      </p:sp>
      <p:sp>
        <p:nvSpPr>
          <p:cNvPr id="5" name="tag"/>
          <p:cNvSpPr/>
          <p:nvPr/>
        </p:nvSpPr>
        <p:spPr>
          <a:xfrm>
            <a:off x="548640" y="548640"/>
            <a:ext cx="1463040" cy="329184"/>
          </a:xfrm>
          <a:prstGeom prst="rect">
            <a:avLst/>
          </a:prstGeom>
          <a:solidFill>
            <a:schemeClr val="accent1"/>
          </a:solidFill>
          <a:ln w="12700">
            <a:solidFill>
              <a:schemeClr val="accent1"/>
            </a:solidFill>
            <a:prstDash val="solid"/>
          </a:ln>
        </p:spPr>
      </p:sp>
      <p:sp>
        <p:nvSpPr>
          <p:cNvPr id="6" name="Text 4"/>
          <p:cNvSpPr txBox="1"/>
          <p:nvPr/>
        </p:nvSpPr>
        <p:spPr>
          <a:xfrm>
            <a:off x="548640" y="548640"/>
            <a:ext cx="1463040" cy="329184"/>
          </a:xfrm>
          <a:prstGeom prst="rect">
            <a:avLst/>
          </a:prstGeom>
          <a:noFill/>
          <a:ln/>
        </p:spPr>
        <p:txBody>
          <a:bodyPr wrap="square" lIns="0" tIns="0" rIns="0" bIns="0" rtlCol="0" anchor="ctr"/>
          <a:lstStyle/>
          <a:p>
            <a:pPr algn="ctr" indent="0" marL="0">
              <a:buNone/>
            </a:pPr>
            <a:r>
              <a:rPr lang="en-US" sz="1100" b="1" dirty="0">
                <a:solidFill>
                  <a:schemeClr val="tx2"/>
                </a:solidFill>
              </a:rPr>
              <a:t>COURSE PROJECT</a:t>
            </a:r>
            <a:endParaRPr lang="en-US" sz="1100" dirty="0"/>
          </a:p>
        </p:txBody>
      </p:sp>
      <p:pic>
        <p:nvPicPr>
          <p:cNvPr id="7" name="prototype photo" descr="img/new_front.jpg">    </p:cNvPr>
          <p:cNvPicPr>
            <a:picLocks noChangeAspect="1"/>
          </p:cNvPicPr>
          <p:nvPr/>
        </p:nvPicPr>
        <p:blipFill>
          <a:blip r:embed="rId1"/>
          <a:stretch>
            <a:fillRect/>
          </a:stretch>
        </p:blipFill>
        <p:spPr>
          <a:xfrm>
            <a:off x="5526372" y="548640"/>
            <a:ext cx="3029015"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this presentation covers</a:t>
            </a:r>
            <a:endParaRPr lang="en-US" sz="3000" dirty="0"/>
          </a:p>
        </p:txBody>
      </p:sp>
      <p:sp>
        <p:nvSpPr>
          <p:cNvPr id="3" name="agenda card"/>
          <p:cNvSpPr/>
          <p:nvPr/>
        </p:nvSpPr>
        <p:spPr>
          <a:xfrm>
            <a:off x="457200" y="1234440"/>
            <a:ext cx="2606040" cy="1463040"/>
          </a:xfrm>
          <a:prstGeom prst="rect">
            <a:avLst/>
          </a:prstGeom>
          <a:solidFill>
            <a:schemeClr val="bg2"/>
          </a:solidFill>
          <a:ln w="9525">
            <a:solidFill>
              <a:srgbClr val="B8C4D6"/>
            </a:solidFill>
            <a:prstDash val="solid"/>
          </a:ln>
        </p:spPr>
      </p:sp>
      <p:sp>
        <p:nvSpPr>
          <p:cNvPr id="4" name="Text 2"/>
          <p:cNvSpPr txBox="1"/>
          <p:nvPr/>
        </p:nvSpPr>
        <p:spPr>
          <a:xfrm>
            <a:off x="68580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01</a:t>
            </a:r>
            <a:endParaRPr lang="en-US" sz="2600" dirty="0"/>
          </a:p>
        </p:txBody>
      </p:sp>
      <p:sp>
        <p:nvSpPr>
          <p:cNvPr id="5" name="Text 3"/>
          <p:cNvSpPr txBox="1"/>
          <p:nvPr/>
        </p:nvSpPr>
        <p:spPr>
          <a:xfrm>
            <a:off x="68580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Problem</a:t>
            </a:r>
            <a:endParaRPr lang="en-US" sz="1700" dirty="0"/>
          </a:p>
        </p:txBody>
      </p:sp>
      <p:sp>
        <p:nvSpPr>
          <p:cNvPr id="6" name="Text 4"/>
          <p:cNvSpPr txBox="1"/>
          <p:nvPr/>
        </p:nvSpPr>
        <p:spPr>
          <a:xfrm>
            <a:off x="68580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Why a normal cane is not enough</a:t>
            </a:r>
            <a:endParaRPr lang="en-US" sz="1300" dirty="0"/>
          </a:p>
        </p:txBody>
      </p:sp>
      <p:sp>
        <p:nvSpPr>
          <p:cNvPr id="7" name="agenda card"/>
          <p:cNvSpPr/>
          <p:nvPr/>
        </p:nvSpPr>
        <p:spPr>
          <a:xfrm>
            <a:off x="3246120" y="1234440"/>
            <a:ext cx="2606040" cy="1463040"/>
          </a:xfrm>
          <a:prstGeom prst="rect">
            <a:avLst/>
          </a:prstGeom>
          <a:solidFill>
            <a:schemeClr val="bg2"/>
          </a:solidFill>
          <a:ln w="9525">
            <a:solidFill>
              <a:srgbClr val="B8C4D6"/>
            </a:solidFill>
            <a:prstDash val="solid"/>
          </a:ln>
        </p:spPr>
      </p:sp>
      <p:sp>
        <p:nvSpPr>
          <p:cNvPr id="8" name="Text 6"/>
          <p:cNvSpPr txBox="1"/>
          <p:nvPr/>
        </p:nvSpPr>
        <p:spPr>
          <a:xfrm>
            <a:off x="347472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02</a:t>
            </a:r>
            <a:endParaRPr lang="en-US" sz="2600" dirty="0"/>
          </a:p>
        </p:txBody>
      </p:sp>
      <p:sp>
        <p:nvSpPr>
          <p:cNvPr id="9" name="Text 7"/>
          <p:cNvSpPr txBox="1"/>
          <p:nvPr/>
        </p:nvSpPr>
        <p:spPr>
          <a:xfrm>
            <a:off x="347472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Objectives</a:t>
            </a:r>
            <a:endParaRPr lang="en-US" sz="1700" dirty="0"/>
          </a:p>
        </p:txBody>
      </p:sp>
      <p:sp>
        <p:nvSpPr>
          <p:cNvPr id="10" name="Text 8"/>
          <p:cNvSpPr txBox="1"/>
          <p:nvPr/>
        </p:nvSpPr>
        <p:spPr>
          <a:xfrm>
            <a:off x="347472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What the cane must achieve</a:t>
            </a:r>
            <a:endParaRPr lang="en-US" sz="1300" dirty="0"/>
          </a:p>
        </p:txBody>
      </p:sp>
      <p:sp>
        <p:nvSpPr>
          <p:cNvPr id="11" name="agenda card"/>
          <p:cNvSpPr/>
          <p:nvPr/>
        </p:nvSpPr>
        <p:spPr>
          <a:xfrm>
            <a:off x="6035040" y="1234440"/>
            <a:ext cx="2606040" cy="1463040"/>
          </a:xfrm>
          <a:prstGeom prst="rect">
            <a:avLst/>
          </a:prstGeom>
          <a:solidFill>
            <a:schemeClr val="bg2"/>
          </a:solidFill>
          <a:ln w="9525">
            <a:solidFill>
              <a:srgbClr val="B8C4D6"/>
            </a:solidFill>
            <a:prstDash val="solid"/>
          </a:ln>
        </p:spPr>
      </p:sp>
      <p:sp>
        <p:nvSpPr>
          <p:cNvPr id="12" name="Text 10"/>
          <p:cNvSpPr txBox="1"/>
          <p:nvPr/>
        </p:nvSpPr>
        <p:spPr>
          <a:xfrm>
            <a:off x="626364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03</a:t>
            </a:r>
            <a:endParaRPr lang="en-US" sz="2600" dirty="0"/>
          </a:p>
        </p:txBody>
      </p:sp>
      <p:sp>
        <p:nvSpPr>
          <p:cNvPr id="13" name="Text 11"/>
          <p:cNvSpPr txBox="1"/>
          <p:nvPr/>
        </p:nvSpPr>
        <p:spPr>
          <a:xfrm>
            <a:off x="626364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System design</a:t>
            </a:r>
            <a:endParaRPr lang="en-US" sz="1700" dirty="0"/>
          </a:p>
        </p:txBody>
      </p:sp>
      <p:sp>
        <p:nvSpPr>
          <p:cNvPr id="14" name="Text 12"/>
          <p:cNvSpPr txBox="1"/>
          <p:nvPr/>
        </p:nvSpPr>
        <p:spPr>
          <a:xfrm>
            <a:off x="626364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Block diagram, hardware, circuit</a:t>
            </a:r>
            <a:endParaRPr lang="en-US" sz="1300" dirty="0"/>
          </a:p>
        </p:txBody>
      </p:sp>
      <p:sp>
        <p:nvSpPr>
          <p:cNvPr id="15" name="agenda card"/>
          <p:cNvSpPr/>
          <p:nvPr/>
        </p:nvSpPr>
        <p:spPr>
          <a:xfrm>
            <a:off x="457200" y="2926080"/>
            <a:ext cx="2606040" cy="1463040"/>
          </a:xfrm>
          <a:prstGeom prst="rect">
            <a:avLst/>
          </a:prstGeom>
          <a:solidFill>
            <a:schemeClr val="bg2"/>
          </a:solidFill>
          <a:ln w="9525">
            <a:solidFill>
              <a:srgbClr val="B8C4D6"/>
            </a:solidFill>
            <a:prstDash val="solid"/>
          </a:ln>
        </p:spPr>
      </p:sp>
      <p:sp>
        <p:nvSpPr>
          <p:cNvPr id="16" name="Text 14"/>
          <p:cNvSpPr txBox="1"/>
          <p:nvPr/>
        </p:nvSpPr>
        <p:spPr>
          <a:xfrm>
            <a:off x="68580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04</a:t>
            </a:r>
            <a:endParaRPr lang="en-US" sz="2600" dirty="0"/>
          </a:p>
        </p:txBody>
      </p:sp>
      <p:sp>
        <p:nvSpPr>
          <p:cNvPr id="17" name="Text 15"/>
          <p:cNvSpPr txBox="1"/>
          <p:nvPr/>
        </p:nvSpPr>
        <p:spPr>
          <a:xfrm>
            <a:off x="68580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Software</a:t>
            </a:r>
            <a:endParaRPr lang="en-US" sz="1700" dirty="0"/>
          </a:p>
        </p:txBody>
      </p:sp>
      <p:sp>
        <p:nvSpPr>
          <p:cNvPr id="18" name="Text 16"/>
          <p:cNvSpPr txBox="1"/>
          <p:nvPr/>
        </p:nvSpPr>
        <p:spPr>
          <a:xfrm>
            <a:off x="68580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Algorithm, DFG, state diagram, code</a:t>
            </a:r>
            <a:endParaRPr lang="en-US" sz="1300" dirty="0"/>
          </a:p>
        </p:txBody>
      </p:sp>
      <p:sp>
        <p:nvSpPr>
          <p:cNvPr id="19" name="agenda card"/>
          <p:cNvSpPr/>
          <p:nvPr/>
        </p:nvSpPr>
        <p:spPr>
          <a:xfrm>
            <a:off x="3246120" y="2926080"/>
            <a:ext cx="2606040" cy="1463040"/>
          </a:xfrm>
          <a:prstGeom prst="rect">
            <a:avLst/>
          </a:prstGeom>
          <a:solidFill>
            <a:schemeClr val="bg2"/>
          </a:solidFill>
          <a:ln w="9525">
            <a:solidFill>
              <a:srgbClr val="B8C4D6"/>
            </a:solidFill>
            <a:prstDash val="solid"/>
          </a:ln>
        </p:spPr>
      </p:sp>
      <p:sp>
        <p:nvSpPr>
          <p:cNvPr id="20" name="Text 18"/>
          <p:cNvSpPr txBox="1"/>
          <p:nvPr/>
        </p:nvSpPr>
        <p:spPr>
          <a:xfrm>
            <a:off x="347472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05</a:t>
            </a:r>
            <a:endParaRPr lang="en-US" sz="2600" dirty="0"/>
          </a:p>
        </p:txBody>
      </p:sp>
      <p:sp>
        <p:nvSpPr>
          <p:cNvPr id="21" name="Text 19"/>
          <p:cNvSpPr txBox="1"/>
          <p:nvPr/>
        </p:nvSpPr>
        <p:spPr>
          <a:xfrm>
            <a:off x="347472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Results</a:t>
            </a:r>
            <a:endParaRPr lang="en-US" sz="1700" dirty="0"/>
          </a:p>
        </p:txBody>
      </p:sp>
      <p:sp>
        <p:nvSpPr>
          <p:cNvPr id="22" name="Text 20"/>
          <p:cNvSpPr txBox="1"/>
          <p:nvPr/>
        </p:nvSpPr>
        <p:spPr>
          <a:xfrm>
            <a:off x="347472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Prototype, tests and cost</a:t>
            </a:r>
            <a:endParaRPr lang="en-US" sz="1300" dirty="0"/>
          </a:p>
        </p:txBody>
      </p:sp>
      <p:sp>
        <p:nvSpPr>
          <p:cNvPr id="23" name="agenda card"/>
          <p:cNvSpPr/>
          <p:nvPr/>
        </p:nvSpPr>
        <p:spPr>
          <a:xfrm>
            <a:off x="6035040" y="2926080"/>
            <a:ext cx="2606040" cy="1463040"/>
          </a:xfrm>
          <a:prstGeom prst="rect">
            <a:avLst/>
          </a:prstGeom>
          <a:solidFill>
            <a:schemeClr val="bg2"/>
          </a:solidFill>
          <a:ln w="9525">
            <a:solidFill>
              <a:srgbClr val="B8C4D6"/>
            </a:solidFill>
            <a:prstDash val="solid"/>
          </a:ln>
        </p:spPr>
      </p:sp>
      <p:sp>
        <p:nvSpPr>
          <p:cNvPr id="24" name="Text 22"/>
          <p:cNvSpPr txBox="1"/>
          <p:nvPr/>
        </p:nvSpPr>
        <p:spPr>
          <a:xfrm>
            <a:off x="626364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06</a:t>
            </a:r>
            <a:endParaRPr lang="en-US" sz="2600" dirty="0"/>
          </a:p>
        </p:txBody>
      </p:sp>
      <p:sp>
        <p:nvSpPr>
          <p:cNvPr id="25" name="Text 23"/>
          <p:cNvSpPr txBox="1"/>
          <p:nvPr/>
        </p:nvSpPr>
        <p:spPr>
          <a:xfrm>
            <a:off x="626364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Way forward</a:t>
            </a:r>
            <a:endParaRPr lang="en-US" sz="1700" dirty="0"/>
          </a:p>
        </p:txBody>
      </p:sp>
      <p:sp>
        <p:nvSpPr>
          <p:cNvPr id="26" name="Text 24"/>
          <p:cNvSpPr txBox="1"/>
          <p:nvPr/>
        </p:nvSpPr>
        <p:spPr>
          <a:xfrm>
            <a:off x="626364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Limitations and future scope</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problem with a white cane</a:t>
            </a:r>
            <a:endParaRPr lang="en-US" sz="3000" dirty="0"/>
          </a:p>
        </p:txBody>
      </p:sp>
      <p:sp>
        <p:nvSpPr>
          <p:cNvPr id="3" name="stat card"/>
          <p:cNvSpPr/>
          <p:nvPr/>
        </p:nvSpPr>
        <p:spPr>
          <a:xfrm>
            <a:off x="457200" y="1188720"/>
            <a:ext cx="3200400" cy="3291840"/>
          </a:xfrm>
          <a:prstGeom prst="rect">
            <a:avLst/>
          </a:prstGeom>
          <a:solidFill>
            <a:schemeClr val="tx2"/>
          </a:solidFill>
          <a:ln w="9525">
            <a:solidFill>
              <a:srgbClr val="B8C4D6"/>
            </a:solidFill>
            <a:prstDash val="solid"/>
          </a:ln>
        </p:spPr>
      </p:sp>
      <p:sp>
        <p:nvSpPr>
          <p:cNvPr id="4" name="Text 2"/>
          <p:cNvSpPr txBox="1"/>
          <p:nvPr/>
        </p:nvSpPr>
        <p:spPr>
          <a:xfrm>
            <a:off x="685800" y="1600200"/>
            <a:ext cx="2834640" cy="82296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2.2 billion</a:t>
            </a:r>
            <a:endParaRPr lang="en-US" sz="4000" dirty="0"/>
          </a:p>
        </p:txBody>
      </p:sp>
      <p:sp>
        <p:nvSpPr>
          <p:cNvPr id="5" name="Text 3"/>
          <p:cNvSpPr txBox="1"/>
          <p:nvPr/>
        </p:nvSpPr>
        <p:spPr>
          <a:xfrm>
            <a:off x="685800" y="2468880"/>
            <a:ext cx="2743200" cy="914400"/>
          </a:xfrm>
          <a:prstGeom prst="rect">
            <a:avLst/>
          </a:prstGeom>
          <a:noFill/>
          <a:ln/>
        </p:spPr>
        <p:txBody>
          <a:bodyPr wrap="square" lIns="0" tIns="0" rIns="0" bIns="0" rtlCol="0" anchor="t"/>
          <a:lstStyle/>
          <a:p>
            <a:pPr indent="0" marL="0">
              <a:buNone/>
            </a:pPr>
            <a:r>
              <a:rPr lang="en-US" sz="1600" dirty="0">
                <a:solidFill>
                  <a:schemeClr val="bg1"/>
                </a:solidFill>
              </a:rPr>
              <a:t>people worldwide live with a near or distance vision impairment</a:t>
            </a:r>
            <a:endParaRPr lang="en-US" sz="1600" dirty="0"/>
          </a:p>
        </p:txBody>
      </p:sp>
      <p:sp>
        <p:nvSpPr>
          <p:cNvPr id="6" name="Text 4"/>
          <p:cNvSpPr txBox="1"/>
          <p:nvPr/>
        </p:nvSpPr>
        <p:spPr>
          <a:xfrm>
            <a:off x="685800" y="3886200"/>
            <a:ext cx="2743200" cy="365760"/>
          </a:xfrm>
          <a:prstGeom prst="rect">
            <a:avLst/>
          </a:prstGeom>
          <a:noFill/>
          <a:ln/>
        </p:spPr>
        <p:txBody>
          <a:bodyPr wrap="square" lIns="0" tIns="0" rIns="0" bIns="0" rtlCol="0" anchor="t"/>
          <a:lstStyle/>
          <a:p>
            <a:pPr indent="0" marL="0">
              <a:buNone/>
            </a:pPr>
            <a:r>
              <a:rPr lang="en-US" sz="1000" dirty="0">
                <a:solidFill>
                  <a:schemeClr val="accent6"/>
                </a:solidFill>
              </a:rPr>
              <a:t>Source: WHO, World Report on Vision, 2019</a:t>
            </a:r>
            <a:endParaRPr lang="en-US" sz="1000" dirty="0"/>
          </a:p>
        </p:txBody>
      </p:sp>
      <p:pic>
        <p:nvPicPr>
          <p:cNvPr id="7" name="icon" descr="preencoded.png">    </p:cNvPr>
          <p:cNvPicPr>
            <a:picLocks noChangeAspect="1"/>
          </p:cNvPicPr>
          <p:nvPr/>
        </p:nvPicPr>
        <p:blipFill>
          <a:blip r:embed="rId1"/>
          <a:stretch>
            <a:fillRect/>
          </a:stretch>
        </p:blipFill>
        <p:spPr>
          <a:xfrm>
            <a:off x="4133088" y="1298448"/>
            <a:ext cx="480060" cy="480060"/>
          </a:xfrm>
          <a:prstGeom prst="rect">
            <a:avLst/>
          </a:prstGeom>
        </p:spPr>
      </p:pic>
      <p:sp>
        <p:nvSpPr>
          <p:cNvPr id="8" name="Text 5"/>
          <p:cNvSpPr txBox="1"/>
          <p:nvPr/>
        </p:nvSpPr>
        <p:spPr>
          <a:xfrm>
            <a:off x="4892040" y="1234440"/>
            <a:ext cx="3749040" cy="320040"/>
          </a:xfrm>
          <a:prstGeom prst="rect">
            <a:avLst/>
          </a:prstGeom>
          <a:noFill/>
          <a:ln/>
        </p:spPr>
        <p:txBody>
          <a:bodyPr wrap="square" lIns="0" tIns="0" rIns="0" bIns="0" rtlCol="0" anchor="t"/>
          <a:lstStyle/>
          <a:p>
            <a:pPr indent="0" marL="0">
              <a:buNone/>
            </a:pPr>
            <a:r>
              <a:rPr lang="en-US" sz="1700" b="1" dirty="0">
                <a:solidFill>
                  <a:schemeClr val="tx2"/>
                </a:solidFill>
              </a:rPr>
              <a:t>Contact-only detection</a:t>
            </a:r>
            <a:endParaRPr lang="en-US" sz="1700" dirty="0"/>
          </a:p>
        </p:txBody>
      </p:sp>
      <p:sp>
        <p:nvSpPr>
          <p:cNvPr id="9" name="Text 6"/>
          <p:cNvSpPr txBox="1"/>
          <p:nvPr/>
        </p:nvSpPr>
        <p:spPr>
          <a:xfrm>
            <a:off x="4892040" y="158191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Obstacles are found only when the cane hits them, about 1 m ahead</a:t>
            </a:r>
            <a:endParaRPr lang="en-US" sz="1400" dirty="0"/>
          </a:p>
        </p:txBody>
      </p:sp>
      <p:pic>
        <p:nvPicPr>
          <p:cNvPr id="10" name="icon" descr="preencoded.png">    </p:cNvPr>
          <p:cNvPicPr>
            <a:picLocks noChangeAspect="1"/>
          </p:cNvPicPr>
          <p:nvPr/>
        </p:nvPicPr>
        <p:blipFill>
          <a:blip r:embed="rId2"/>
          <a:stretch>
            <a:fillRect/>
          </a:stretch>
        </p:blipFill>
        <p:spPr>
          <a:xfrm>
            <a:off x="4133088" y="2395728"/>
            <a:ext cx="480060" cy="480060"/>
          </a:xfrm>
          <a:prstGeom prst="rect">
            <a:avLst/>
          </a:prstGeom>
        </p:spPr>
      </p:pic>
      <p:sp>
        <p:nvSpPr>
          <p:cNvPr id="11" name="Text 7"/>
          <p:cNvSpPr txBox="1"/>
          <p:nvPr/>
        </p:nvSpPr>
        <p:spPr>
          <a:xfrm>
            <a:off x="4892040" y="233172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water warning</a:t>
            </a:r>
            <a:endParaRPr lang="en-US" sz="1700" dirty="0"/>
          </a:p>
        </p:txBody>
      </p:sp>
      <p:sp>
        <p:nvSpPr>
          <p:cNvPr id="12" name="Text 8"/>
          <p:cNvSpPr txBox="1"/>
          <p:nvPr/>
        </p:nvSpPr>
        <p:spPr>
          <a:xfrm>
            <a:off x="4892040" y="267919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Puddles, open drains and wet mud go unnoticed until stepped in</a:t>
            </a:r>
            <a:endParaRPr lang="en-US" sz="1400" dirty="0"/>
          </a:p>
        </p:txBody>
      </p:sp>
      <p:pic>
        <p:nvPicPr>
          <p:cNvPr id="13" name="icon" descr="preencoded.png">    </p:cNvPr>
          <p:cNvPicPr>
            <a:picLocks noChangeAspect="1"/>
          </p:cNvPicPr>
          <p:nvPr/>
        </p:nvPicPr>
        <p:blipFill>
          <a:blip r:embed="rId3"/>
          <a:stretch>
            <a:fillRect/>
          </a:stretch>
        </p:blipFill>
        <p:spPr>
          <a:xfrm>
            <a:off x="4133088" y="3493008"/>
            <a:ext cx="480060" cy="480060"/>
          </a:xfrm>
          <a:prstGeom prst="rect">
            <a:avLst/>
          </a:prstGeom>
        </p:spPr>
      </p:pic>
      <p:sp>
        <p:nvSpPr>
          <p:cNvPr id="14" name="Text 9"/>
          <p:cNvSpPr txBox="1"/>
          <p:nvPr/>
        </p:nvSpPr>
        <p:spPr>
          <a:xfrm>
            <a:off x="4892040" y="342900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distance information</a:t>
            </a:r>
            <a:endParaRPr lang="en-US" sz="1700" dirty="0"/>
          </a:p>
        </p:txBody>
      </p:sp>
      <p:sp>
        <p:nvSpPr>
          <p:cNvPr id="15" name="Text 10"/>
          <p:cNvSpPr txBox="1"/>
          <p:nvPr/>
        </p:nvSpPr>
        <p:spPr>
          <a:xfrm>
            <a:off x="4892040" y="377647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The user cannot tell how close an obstacle is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Existing solutions and their limits</a:t>
            </a:r>
            <a:endParaRPr lang="en-US" sz="3000" dirty="0"/>
          </a:p>
        </p:txBody>
      </p:sp>
      <p:sp>
        <p:nvSpPr>
          <p:cNvPr id="3" name="solution card"/>
          <p:cNvSpPr/>
          <p:nvPr/>
        </p:nvSpPr>
        <p:spPr>
          <a:xfrm>
            <a:off x="457200" y="1188720"/>
            <a:ext cx="2606040" cy="25146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740664" y="1426464"/>
            <a:ext cx="411480" cy="411480"/>
          </a:xfrm>
          <a:prstGeom prst="rect">
            <a:avLst/>
          </a:prstGeom>
        </p:spPr>
      </p:pic>
      <p:sp>
        <p:nvSpPr>
          <p:cNvPr id="5" name="Text 2"/>
          <p:cNvSpPr txBox="1"/>
          <p:nvPr/>
        </p:nvSpPr>
        <p:spPr>
          <a:xfrm>
            <a:off x="68580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White cane</a:t>
            </a:r>
            <a:endParaRPr lang="en-US" sz="1700" dirty="0"/>
          </a:p>
        </p:txBody>
      </p:sp>
      <p:sp>
        <p:nvSpPr>
          <p:cNvPr id="6" name="Text 3"/>
          <p:cNvSpPr txBox="1"/>
          <p:nvPr/>
        </p:nvSpPr>
        <p:spPr>
          <a:xfrm>
            <a:off x="68580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Cheap and simple</a:t>
            </a:r>
            <a:endParaRPr lang="en-US" sz="1400" dirty="0"/>
          </a:p>
        </p:txBody>
      </p:sp>
      <p:sp>
        <p:nvSpPr>
          <p:cNvPr id="7" name="Text 4"/>
          <p:cNvSpPr txBox="1"/>
          <p:nvPr/>
        </p:nvSpPr>
        <p:spPr>
          <a:xfrm>
            <a:off x="68580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Contact-only, no water or distance warning</a:t>
            </a:r>
            <a:endParaRPr lang="en-US" sz="1400" dirty="0"/>
          </a:p>
        </p:txBody>
      </p:sp>
      <p:sp>
        <p:nvSpPr>
          <p:cNvPr id="8" name="solution card"/>
          <p:cNvSpPr/>
          <p:nvPr/>
        </p:nvSpPr>
        <p:spPr>
          <a:xfrm>
            <a:off x="3246120" y="1188720"/>
            <a:ext cx="2606040" cy="25146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529584" y="1426464"/>
            <a:ext cx="411480" cy="411480"/>
          </a:xfrm>
          <a:prstGeom prst="rect">
            <a:avLst/>
          </a:prstGeom>
        </p:spPr>
      </p:pic>
      <p:sp>
        <p:nvSpPr>
          <p:cNvPr id="10" name="Text 6"/>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Guide dog</a:t>
            </a:r>
            <a:endParaRPr lang="en-US" sz="1700" dirty="0"/>
          </a:p>
        </p:txBody>
      </p:sp>
      <p:sp>
        <p:nvSpPr>
          <p:cNvPr id="11" name="Text 7"/>
          <p:cNvSpPr txBox="1"/>
          <p:nvPr/>
        </p:nvSpPr>
        <p:spPr>
          <a:xfrm>
            <a:off x="347472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Excellent navigation</a:t>
            </a:r>
            <a:endParaRPr lang="en-US" sz="1400" dirty="0"/>
          </a:p>
        </p:txBody>
      </p:sp>
      <p:sp>
        <p:nvSpPr>
          <p:cNvPr id="12" name="Text 8"/>
          <p:cNvSpPr txBox="1"/>
          <p:nvPr/>
        </p:nvSpPr>
        <p:spPr>
          <a:xfrm>
            <a:off x="347472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Expensive, long training, not widely available</a:t>
            </a:r>
            <a:endParaRPr lang="en-US" sz="1400" dirty="0"/>
          </a:p>
        </p:txBody>
      </p:sp>
      <p:sp>
        <p:nvSpPr>
          <p:cNvPr id="13" name="solution card"/>
          <p:cNvSpPr/>
          <p:nvPr/>
        </p:nvSpPr>
        <p:spPr>
          <a:xfrm>
            <a:off x="6035040" y="1188720"/>
            <a:ext cx="2606040" cy="25146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6318504" y="1426464"/>
            <a:ext cx="411480" cy="411480"/>
          </a:xfrm>
          <a:prstGeom prst="rect">
            <a:avLst/>
          </a:prstGeom>
        </p:spPr>
      </p:pic>
      <p:sp>
        <p:nvSpPr>
          <p:cNvPr id="15" name="Text 10"/>
          <p:cNvSpPr txBox="1"/>
          <p:nvPr/>
        </p:nvSpPr>
        <p:spPr>
          <a:xfrm>
            <a:off x="626364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Commercial canes</a:t>
            </a:r>
            <a:endParaRPr lang="en-US" sz="1700" dirty="0"/>
          </a:p>
        </p:txBody>
      </p:sp>
      <p:sp>
        <p:nvSpPr>
          <p:cNvPr id="16" name="Text 11"/>
          <p:cNvSpPr txBox="1"/>
          <p:nvPr/>
        </p:nvSpPr>
        <p:spPr>
          <a:xfrm>
            <a:off x="626364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Electronic early warning</a:t>
            </a:r>
            <a:endParaRPr lang="en-US" sz="1400" dirty="0"/>
          </a:p>
        </p:txBody>
      </p:sp>
      <p:sp>
        <p:nvSpPr>
          <p:cNvPr id="17" name="Text 12"/>
          <p:cNvSpPr txBox="1"/>
          <p:nvPr/>
        </p:nvSpPr>
        <p:spPr>
          <a:xfrm>
            <a:off x="626364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High cost, imported, hard to repair locally</a:t>
            </a:r>
            <a:endParaRPr lang="en-US" sz="1400" dirty="0"/>
          </a:p>
        </p:txBody>
      </p:sp>
      <p:sp>
        <p:nvSpPr>
          <p:cNvPr id="18" name="gap banner"/>
          <p:cNvSpPr/>
          <p:nvPr/>
        </p:nvSpPr>
        <p:spPr>
          <a:xfrm>
            <a:off x="457200" y="3931920"/>
            <a:ext cx="8229600" cy="640080"/>
          </a:xfrm>
          <a:prstGeom prst="rect">
            <a:avLst/>
          </a:prstGeom>
          <a:solidFill>
            <a:schemeClr val="accent1"/>
          </a:solidFill>
          <a:ln w="9525">
            <a:solidFill>
              <a:srgbClr val="B8C4D6"/>
            </a:solidFill>
            <a:prstDash val="solid"/>
          </a:ln>
        </p:spPr>
      </p:sp>
      <p:sp>
        <p:nvSpPr>
          <p:cNvPr id="19" name="Text 14"/>
          <p:cNvSpPr txBox="1"/>
          <p:nvPr/>
        </p:nvSpPr>
        <p:spPr>
          <a:xfrm>
            <a:off x="685800" y="3931920"/>
            <a:ext cx="7772400" cy="640080"/>
          </a:xfrm>
          <a:prstGeom prst="rect">
            <a:avLst/>
          </a:prstGeom>
          <a:noFill/>
          <a:ln/>
        </p:spPr>
        <p:txBody>
          <a:bodyPr wrap="square" lIns="0" tIns="0" rIns="0" bIns="0" rtlCol="0" anchor="ctr"/>
          <a:lstStyle/>
          <a:p>
            <a:pPr indent="0" marL="0">
              <a:buNone/>
            </a:pPr>
            <a:r>
              <a:rPr lang="en-US" sz="1600" b="1" dirty="0">
                <a:solidFill>
                  <a:schemeClr val="tx2"/>
                </a:solidFill>
              </a:rPr>
              <a:t>The gap: </a:t>
            </a:r>
            <a:pPr indent="0" marL="0">
              <a:buNone/>
            </a:pPr>
            <a:r>
              <a:rPr lang="en-US" sz="1600" dirty="0">
                <a:solidFill>
                  <a:schemeClr val="tx2"/>
                </a:solidFill>
              </a:rPr>
              <a:t>a low-cost cane that warns early about obstacles and about water underfoot</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Objectives</a:t>
            </a:r>
            <a:endParaRPr lang="en-US" sz="3000" dirty="0"/>
          </a:p>
        </p:txBody>
      </p:sp>
      <p:sp>
        <p:nvSpPr>
          <p:cNvPr id="3" name="objective card"/>
          <p:cNvSpPr/>
          <p:nvPr/>
        </p:nvSpPr>
        <p:spPr>
          <a:xfrm>
            <a:off x="457200" y="1188720"/>
            <a:ext cx="4023360" cy="1508760"/>
          </a:xfrm>
          <a:prstGeom prst="rect">
            <a:avLst/>
          </a:prstGeom>
          <a:solidFill>
            <a:schemeClr val="bg2"/>
          </a:solidFill>
          <a:ln w="9525">
            <a:solidFill>
              <a:srgbClr val="B8C4D6"/>
            </a:solidFill>
            <a:prstDash val="solid"/>
          </a:ln>
        </p:spPr>
      </p:sp>
      <p:sp>
        <p:nvSpPr>
          <p:cNvPr id="4" name="Text 2"/>
          <p:cNvSpPr txBox="1"/>
          <p:nvPr/>
        </p:nvSpPr>
        <p:spPr>
          <a:xfrm>
            <a:off x="73152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 cm</a:t>
            </a:r>
            <a:endParaRPr lang="en-US" sz="3200" dirty="0"/>
          </a:p>
        </p:txBody>
      </p:sp>
      <p:sp>
        <p:nvSpPr>
          <p:cNvPr id="5" name="Text 3"/>
          <p:cNvSpPr txBox="1"/>
          <p:nvPr/>
        </p:nvSpPr>
        <p:spPr>
          <a:xfrm>
            <a:off x="73152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Detect obstacles ahead with an ultrasonic sensor and warn before contact</a:t>
            </a:r>
            <a:endParaRPr lang="en-US" sz="1400" dirty="0"/>
          </a:p>
        </p:txBody>
      </p:sp>
      <p:sp>
        <p:nvSpPr>
          <p:cNvPr id="6" name="objective card"/>
          <p:cNvSpPr/>
          <p:nvPr/>
        </p:nvSpPr>
        <p:spPr>
          <a:xfrm>
            <a:off x="4663440" y="1188720"/>
            <a:ext cx="4023360" cy="1508760"/>
          </a:xfrm>
          <a:prstGeom prst="rect">
            <a:avLst/>
          </a:prstGeom>
          <a:solidFill>
            <a:schemeClr val="bg2"/>
          </a:solidFill>
          <a:ln w="9525">
            <a:solidFill>
              <a:srgbClr val="B8C4D6"/>
            </a:solidFill>
            <a:prstDash val="solid"/>
          </a:ln>
        </p:spPr>
      </p:sp>
      <p:sp>
        <p:nvSpPr>
          <p:cNvPr id="7" name="Text 5"/>
          <p:cNvSpPr txBox="1"/>
          <p:nvPr/>
        </p:nvSpPr>
        <p:spPr>
          <a:xfrm>
            <a:off x="493776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50–400 ms</a:t>
            </a:r>
            <a:endParaRPr lang="en-US" sz="3200" dirty="0"/>
          </a:p>
        </p:txBody>
      </p:sp>
      <p:sp>
        <p:nvSpPr>
          <p:cNvPr id="8" name="Text 6"/>
          <p:cNvSpPr txBox="1"/>
          <p:nvPr/>
        </p:nvSpPr>
        <p:spPr>
          <a:xfrm>
            <a:off x="493776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Encode distance in the beep gap: closer obstacle, faster beeps</a:t>
            </a:r>
            <a:endParaRPr lang="en-US" sz="1400" dirty="0"/>
          </a:p>
        </p:txBody>
      </p:sp>
      <p:sp>
        <p:nvSpPr>
          <p:cNvPr id="9" name="objective card"/>
          <p:cNvSpPr/>
          <p:nvPr/>
        </p:nvSpPr>
        <p:spPr>
          <a:xfrm>
            <a:off x="457200" y="2880360"/>
            <a:ext cx="4023360" cy="1508760"/>
          </a:xfrm>
          <a:prstGeom prst="rect">
            <a:avLst/>
          </a:prstGeom>
          <a:solidFill>
            <a:schemeClr val="bg2"/>
          </a:solidFill>
          <a:ln w="9525">
            <a:solidFill>
              <a:srgbClr val="B8C4D6"/>
            </a:solidFill>
            <a:prstDash val="solid"/>
          </a:ln>
        </p:spPr>
      </p:sp>
      <p:sp>
        <p:nvSpPr>
          <p:cNvPr id="10" name="Text 8"/>
          <p:cNvSpPr txBox="1"/>
          <p:nvPr/>
        </p:nvSpPr>
        <p:spPr>
          <a:xfrm>
            <a:off x="73152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&lt; 500</a:t>
            </a:r>
            <a:endParaRPr lang="en-US" sz="3200" dirty="0"/>
          </a:p>
        </p:txBody>
      </p:sp>
      <p:sp>
        <p:nvSpPr>
          <p:cNvPr id="11" name="Text 9"/>
          <p:cNvSpPr txBox="1"/>
          <p:nvPr/>
        </p:nvSpPr>
        <p:spPr>
          <a:xfrm>
            <a:off x="73152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ADC reading below this means water: continuous tone, top priority</a:t>
            </a:r>
            <a:endParaRPr lang="en-US" sz="1400" dirty="0"/>
          </a:p>
        </p:txBody>
      </p:sp>
      <p:sp>
        <p:nvSpPr>
          <p:cNvPr id="12" name="objective card"/>
          <p:cNvSpPr/>
          <p:nvPr/>
        </p:nvSpPr>
        <p:spPr>
          <a:xfrm>
            <a:off x="4663440" y="2880360"/>
            <a:ext cx="4023360" cy="1508760"/>
          </a:xfrm>
          <a:prstGeom prst="rect">
            <a:avLst/>
          </a:prstGeom>
          <a:solidFill>
            <a:schemeClr val="bg2"/>
          </a:solidFill>
          <a:ln w="9525">
            <a:solidFill>
              <a:srgbClr val="B8C4D6"/>
            </a:solidFill>
            <a:prstDash val="solid"/>
          </a:ln>
        </p:spPr>
      </p:sp>
      <p:sp>
        <p:nvSpPr>
          <p:cNvPr id="13" name="Text 11"/>
          <p:cNvSpPr txBox="1"/>
          <p:nvPr/>
        </p:nvSpPr>
        <p:spPr>
          <a:xfrm>
            <a:off x="493776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₹876</a:t>
            </a:r>
            <a:endParaRPr lang="en-US" sz="3200" dirty="0"/>
          </a:p>
        </p:txBody>
      </p:sp>
      <p:sp>
        <p:nvSpPr>
          <p:cNvPr id="14" name="Text 12"/>
          <p:cNvSpPr txBox="1"/>
          <p:nvPr/>
        </p:nvSpPr>
        <p:spPr>
          <a:xfrm>
            <a:off x="493776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Low-cost, portable cane running on one 18650 cell with a switch</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VisionGuard</a:t>
            </a:r>
            <a:endParaRPr lang="en-US" sz="3000" dirty="0"/>
          </a:p>
        </p:txBody>
      </p:sp>
      <p:pic>
        <p:nvPicPr>
          <p:cNvPr id="3" name="prototype photo" descr="img/new_front.jpg">    </p:cNvPr>
          <p:cNvPicPr>
            <a:picLocks noChangeAspect="1"/>
          </p:cNvPicPr>
          <p:nvPr/>
        </p:nvPicPr>
        <p:blipFill>
          <a:blip r:embed="rId1"/>
          <a:stretch>
            <a:fillRect/>
          </a:stretch>
        </p:blipFill>
        <p:spPr>
          <a:xfrm>
            <a:off x="1160896" y="1143000"/>
            <a:ext cx="2615968" cy="3474720"/>
          </a:xfrm>
          <a:prstGeom prst="rect">
            <a:avLst/>
          </a:prstGeom>
        </p:spPr>
      </p:pic>
      <p:pic>
        <p:nvPicPr>
          <p:cNvPr id="4" name="icon" descr="preencoded.png">    </p:cNvPr>
          <p:cNvPicPr>
            <a:picLocks noChangeAspect="1"/>
          </p:cNvPicPr>
          <p:nvPr/>
        </p:nvPicPr>
        <p:blipFill>
          <a:blip r:embed="rId2"/>
          <a:stretch>
            <a:fillRect/>
          </a:stretch>
        </p:blipFill>
        <p:spPr>
          <a:xfrm>
            <a:off x="4818888" y="1298448"/>
            <a:ext cx="480060" cy="480060"/>
          </a:xfrm>
          <a:prstGeom prst="rect">
            <a:avLst/>
          </a:prstGeom>
        </p:spPr>
      </p:pic>
      <p:sp>
        <p:nvSpPr>
          <p:cNvPr id="5" name="Text 1"/>
          <p:cNvSpPr txBox="1"/>
          <p:nvPr/>
        </p:nvSpPr>
        <p:spPr>
          <a:xfrm>
            <a:off x="5577840" y="1234440"/>
            <a:ext cx="3108960" cy="320040"/>
          </a:xfrm>
          <a:prstGeom prst="rect">
            <a:avLst/>
          </a:prstGeom>
          <a:noFill/>
          <a:ln/>
        </p:spPr>
        <p:txBody>
          <a:bodyPr wrap="square" lIns="0" tIns="0" rIns="0" bIns="0" rtlCol="0" anchor="t"/>
          <a:lstStyle/>
          <a:p>
            <a:pPr indent="0" marL="0">
              <a:buNone/>
            </a:pPr>
            <a:r>
              <a:rPr lang="en-US" sz="1700" b="1" dirty="0">
                <a:solidFill>
                  <a:schemeClr val="tx2"/>
                </a:solidFill>
              </a:rPr>
              <a:t>Ultrasonic “eyes”</a:t>
            </a:r>
            <a:endParaRPr lang="en-US" sz="1700" dirty="0"/>
          </a:p>
        </p:txBody>
      </p:sp>
      <p:sp>
        <p:nvSpPr>
          <p:cNvPr id="6" name="Text 2"/>
          <p:cNvSpPr txBox="1"/>
          <p:nvPr/>
        </p:nvSpPr>
        <p:spPr>
          <a:xfrm>
            <a:off x="5577840" y="158191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HC-SR04 measures distance to obstacles ahead</a:t>
            </a:r>
            <a:endParaRPr lang="en-US" sz="1400" dirty="0"/>
          </a:p>
        </p:txBody>
      </p:sp>
      <p:pic>
        <p:nvPicPr>
          <p:cNvPr id="7" name="icon" descr="preencoded.png">    </p:cNvPr>
          <p:cNvPicPr>
            <a:picLocks noChangeAspect="1"/>
          </p:cNvPicPr>
          <p:nvPr/>
        </p:nvPicPr>
        <p:blipFill>
          <a:blip r:embed="rId3"/>
          <a:stretch>
            <a:fillRect/>
          </a:stretch>
        </p:blipFill>
        <p:spPr>
          <a:xfrm>
            <a:off x="4818888" y="2395728"/>
            <a:ext cx="480060" cy="480060"/>
          </a:xfrm>
          <a:prstGeom prst="rect">
            <a:avLst/>
          </a:prstGeom>
        </p:spPr>
      </p:pic>
      <p:sp>
        <p:nvSpPr>
          <p:cNvPr id="8" name="Text 3"/>
          <p:cNvSpPr txBox="1"/>
          <p:nvPr/>
        </p:nvSpPr>
        <p:spPr>
          <a:xfrm>
            <a:off x="5577840" y="2331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Moisture-sensing tip</a:t>
            </a:r>
            <a:endParaRPr lang="en-US" sz="1700" dirty="0"/>
          </a:p>
        </p:txBody>
      </p:sp>
      <p:sp>
        <p:nvSpPr>
          <p:cNvPr id="9" name="Text 4"/>
          <p:cNvSpPr txBox="1"/>
          <p:nvPr/>
        </p:nvSpPr>
        <p:spPr>
          <a:xfrm>
            <a:off x="5577840" y="267919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Probe at the bottom detects water and wet mud</a:t>
            </a:r>
            <a:endParaRPr lang="en-US" sz="1400" dirty="0"/>
          </a:p>
        </p:txBody>
      </p:sp>
      <p:pic>
        <p:nvPicPr>
          <p:cNvPr id="10" name="icon" descr="preencoded.png">    </p:cNvPr>
          <p:cNvPicPr>
            <a:picLocks noChangeAspect="1"/>
          </p:cNvPicPr>
          <p:nvPr/>
        </p:nvPicPr>
        <p:blipFill>
          <a:blip r:embed="rId4"/>
          <a:stretch>
            <a:fillRect/>
          </a:stretch>
        </p:blipFill>
        <p:spPr>
          <a:xfrm>
            <a:off x="4818888" y="3493008"/>
            <a:ext cx="480060" cy="480060"/>
          </a:xfrm>
          <a:prstGeom prst="rect">
            <a:avLst/>
          </a:prstGeom>
        </p:spPr>
      </p:pic>
      <p:sp>
        <p:nvSpPr>
          <p:cNvPr id="11" name="Text 5"/>
          <p:cNvSpPr txBox="1"/>
          <p:nvPr/>
        </p:nvSpPr>
        <p:spPr>
          <a:xfrm>
            <a:off x="5577840" y="3429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Prioritised buzzer alerts</a:t>
            </a:r>
            <a:endParaRPr lang="en-US" sz="1700" dirty="0"/>
          </a:p>
        </p:txBody>
      </p:sp>
      <p:sp>
        <p:nvSpPr>
          <p:cNvPr id="12" name="Text 6"/>
          <p:cNvSpPr txBox="1"/>
          <p:nvPr/>
        </p:nvSpPr>
        <p:spPr>
          <a:xfrm>
            <a:off x="5577840" y="377647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Continuous tone for water; faster beeps as obstacles get closer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Block diagram</a:t>
            </a:r>
            <a:endParaRPr lang="en-US" sz="3000" dirty="0"/>
          </a:p>
        </p:txBody>
      </p:sp>
      <p:pic>
        <p:nvPicPr>
          <p:cNvPr id="3" name="block diagram" descr="img/block.png">    </p:cNvPr>
          <p:cNvPicPr>
            <a:picLocks noChangeAspect="1"/>
          </p:cNvPicPr>
          <p:nvPr/>
        </p:nvPicPr>
        <p:blipFill>
          <a:blip r:embed="rId1"/>
          <a:stretch>
            <a:fillRect/>
          </a:stretch>
        </p:blipFill>
        <p:spPr>
          <a:xfrm>
            <a:off x="818147" y="1097280"/>
            <a:ext cx="7507705" cy="35661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Hardware components</a:t>
            </a:r>
            <a:endParaRPr lang="en-US" sz="3000" dirty="0"/>
          </a:p>
        </p:txBody>
      </p:sp>
      <p:sp>
        <p:nvSpPr>
          <p:cNvPr id="3" name="component card"/>
          <p:cNvSpPr/>
          <p:nvPr/>
        </p:nvSpPr>
        <p:spPr>
          <a:xfrm>
            <a:off x="457200" y="1188720"/>
            <a:ext cx="1920240" cy="150876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64008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Arduino Nano</a:t>
            </a:r>
            <a:endParaRPr lang="en-US" sz="1500" dirty="0"/>
          </a:p>
        </p:txBody>
      </p:sp>
      <p:sp>
        <p:nvSpPr>
          <p:cNvPr id="6" name="Text 3"/>
          <p:cNvSpPr txBox="1"/>
          <p:nvPr/>
        </p:nvSpPr>
        <p:spPr>
          <a:xfrm>
            <a:off x="64008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ATmega328P controller</a:t>
            </a:r>
            <a:endParaRPr lang="en-US" sz="1200" dirty="0"/>
          </a:p>
        </p:txBody>
      </p:sp>
      <p:sp>
        <p:nvSpPr>
          <p:cNvPr id="7" name="component card"/>
          <p:cNvSpPr/>
          <p:nvPr/>
        </p:nvSpPr>
        <p:spPr>
          <a:xfrm>
            <a:off x="2560320" y="1188720"/>
            <a:ext cx="1920240" cy="150876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2793492" y="1421892"/>
            <a:ext cx="377190" cy="377190"/>
          </a:xfrm>
          <a:prstGeom prst="rect">
            <a:avLst/>
          </a:prstGeom>
        </p:spPr>
      </p:pic>
      <p:sp>
        <p:nvSpPr>
          <p:cNvPr id="9" name="Text 5"/>
          <p:cNvSpPr txBox="1"/>
          <p:nvPr/>
        </p:nvSpPr>
        <p:spPr>
          <a:xfrm>
            <a:off x="274320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HC-SR04</a:t>
            </a:r>
            <a:endParaRPr lang="en-US" sz="1500" dirty="0"/>
          </a:p>
        </p:txBody>
      </p:sp>
      <p:sp>
        <p:nvSpPr>
          <p:cNvPr id="10" name="Text 6"/>
          <p:cNvSpPr txBox="1"/>
          <p:nvPr/>
        </p:nvSpPr>
        <p:spPr>
          <a:xfrm>
            <a:off x="274320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Ultrasonic distance sensor</a:t>
            </a:r>
            <a:endParaRPr lang="en-US" sz="1200" dirty="0"/>
          </a:p>
        </p:txBody>
      </p:sp>
      <p:sp>
        <p:nvSpPr>
          <p:cNvPr id="11" name="component card"/>
          <p:cNvSpPr/>
          <p:nvPr/>
        </p:nvSpPr>
        <p:spPr>
          <a:xfrm>
            <a:off x="4663440" y="1188720"/>
            <a:ext cx="1920240" cy="150876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4896612" y="1421892"/>
            <a:ext cx="377190" cy="377190"/>
          </a:xfrm>
          <a:prstGeom prst="rect">
            <a:avLst/>
          </a:prstGeom>
        </p:spPr>
      </p:pic>
      <p:sp>
        <p:nvSpPr>
          <p:cNvPr id="13" name="Text 8"/>
          <p:cNvSpPr txBox="1"/>
          <p:nvPr/>
        </p:nvSpPr>
        <p:spPr>
          <a:xfrm>
            <a:off x="484632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Moisture probe</a:t>
            </a:r>
            <a:endParaRPr lang="en-US" sz="1500" dirty="0"/>
          </a:p>
        </p:txBody>
      </p:sp>
      <p:sp>
        <p:nvSpPr>
          <p:cNvPr id="14" name="Text 9"/>
          <p:cNvSpPr txBox="1"/>
          <p:nvPr/>
        </p:nvSpPr>
        <p:spPr>
          <a:xfrm>
            <a:off x="484632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Water sensing at the tip</a:t>
            </a:r>
            <a:endParaRPr lang="en-US" sz="1200" dirty="0"/>
          </a:p>
        </p:txBody>
      </p:sp>
      <p:sp>
        <p:nvSpPr>
          <p:cNvPr id="15" name="component card"/>
          <p:cNvSpPr/>
          <p:nvPr/>
        </p:nvSpPr>
        <p:spPr>
          <a:xfrm>
            <a:off x="6766560" y="1188720"/>
            <a:ext cx="1920240" cy="150876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99732" y="1421892"/>
            <a:ext cx="377190" cy="377190"/>
          </a:xfrm>
          <a:prstGeom prst="rect">
            <a:avLst/>
          </a:prstGeom>
        </p:spPr>
      </p:pic>
      <p:sp>
        <p:nvSpPr>
          <p:cNvPr id="17" name="Text 11"/>
          <p:cNvSpPr txBox="1"/>
          <p:nvPr/>
        </p:nvSpPr>
        <p:spPr>
          <a:xfrm>
            <a:off x="694944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LM393 module</a:t>
            </a:r>
            <a:endParaRPr lang="en-US" sz="1500" dirty="0"/>
          </a:p>
        </p:txBody>
      </p:sp>
      <p:sp>
        <p:nvSpPr>
          <p:cNvPr id="18" name="Text 12"/>
          <p:cNvSpPr txBox="1"/>
          <p:nvPr/>
        </p:nvSpPr>
        <p:spPr>
          <a:xfrm>
            <a:off x="694944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Probe resistance → voltage</a:t>
            </a:r>
            <a:endParaRPr lang="en-US" sz="1200" dirty="0"/>
          </a:p>
        </p:txBody>
      </p:sp>
      <p:sp>
        <p:nvSpPr>
          <p:cNvPr id="19" name="component card"/>
          <p:cNvSpPr/>
          <p:nvPr/>
        </p:nvSpPr>
        <p:spPr>
          <a:xfrm>
            <a:off x="457200" y="2880360"/>
            <a:ext cx="1920240" cy="150876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690372" y="3113532"/>
            <a:ext cx="377190" cy="377190"/>
          </a:xfrm>
          <a:prstGeom prst="rect">
            <a:avLst/>
          </a:prstGeom>
        </p:spPr>
      </p:pic>
      <p:sp>
        <p:nvSpPr>
          <p:cNvPr id="21" name="Text 14"/>
          <p:cNvSpPr txBox="1"/>
          <p:nvPr/>
        </p:nvSpPr>
        <p:spPr>
          <a:xfrm>
            <a:off x="64008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Active buzzer</a:t>
            </a:r>
            <a:endParaRPr lang="en-US" sz="1500" dirty="0"/>
          </a:p>
        </p:txBody>
      </p:sp>
      <p:sp>
        <p:nvSpPr>
          <p:cNvPr id="22" name="Text 15"/>
          <p:cNvSpPr txBox="1"/>
          <p:nvPr/>
        </p:nvSpPr>
        <p:spPr>
          <a:xfrm>
            <a:off x="64008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Audio alert on D2</a:t>
            </a:r>
            <a:endParaRPr lang="en-US" sz="1200" dirty="0"/>
          </a:p>
        </p:txBody>
      </p:sp>
      <p:sp>
        <p:nvSpPr>
          <p:cNvPr id="23" name="component card"/>
          <p:cNvSpPr/>
          <p:nvPr/>
        </p:nvSpPr>
        <p:spPr>
          <a:xfrm>
            <a:off x="2560320" y="2880360"/>
            <a:ext cx="1920240" cy="150876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2793492" y="3113532"/>
            <a:ext cx="377190" cy="377190"/>
          </a:xfrm>
          <a:prstGeom prst="rect">
            <a:avLst/>
          </a:prstGeom>
        </p:spPr>
      </p:pic>
      <p:sp>
        <p:nvSpPr>
          <p:cNvPr id="25" name="Text 17"/>
          <p:cNvSpPr txBox="1"/>
          <p:nvPr/>
        </p:nvSpPr>
        <p:spPr>
          <a:xfrm>
            <a:off x="274320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18650 Li-ion</a:t>
            </a:r>
            <a:endParaRPr lang="en-US" sz="1500" dirty="0"/>
          </a:p>
        </p:txBody>
      </p:sp>
      <p:sp>
        <p:nvSpPr>
          <p:cNvPr id="26" name="Text 18"/>
          <p:cNvSpPr txBox="1"/>
          <p:nvPr/>
        </p:nvSpPr>
        <p:spPr>
          <a:xfrm>
            <a:off x="274320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3.7 V, 1200 mAh</a:t>
            </a:r>
            <a:endParaRPr lang="en-US" sz="1200" dirty="0"/>
          </a:p>
        </p:txBody>
      </p:sp>
      <p:sp>
        <p:nvSpPr>
          <p:cNvPr id="27" name="component card"/>
          <p:cNvSpPr/>
          <p:nvPr/>
        </p:nvSpPr>
        <p:spPr>
          <a:xfrm>
            <a:off x="4663440" y="2880360"/>
            <a:ext cx="1920240" cy="1508760"/>
          </a:xfrm>
          <a:prstGeom prst="rect">
            <a:avLst/>
          </a:prstGeom>
          <a:solidFill>
            <a:schemeClr val="bg2"/>
          </a:solidFill>
          <a:ln w="9525">
            <a:solidFill>
              <a:srgbClr val="B8C4D6"/>
            </a:solidFill>
            <a:prstDash val="solid"/>
          </a:ln>
        </p:spPr>
      </p:sp>
      <p:pic>
        <p:nvPicPr>
          <p:cNvPr id="28" name="icon" descr="preencoded.png">    </p:cNvPr>
          <p:cNvPicPr>
            <a:picLocks noChangeAspect="1"/>
          </p:cNvPicPr>
          <p:nvPr/>
        </p:nvPicPr>
        <p:blipFill>
          <a:blip r:embed="rId7"/>
          <a:stretch>
            <a:fillRect/>
          </a:stretch>
        </p:blipFill>
        <p:spPr>
          <a:xfrm>
            <a:off x="4896612" y="3113532"/>
            <a:ext cx="377190" cy="377190"/>
          </a:xfrm>
          <a:prstGeom prst="rect">
            <a:avLst/>
          </a:prstGeom>
        </p:spPr>
      </p:pic>
      <p:sp>
        <p:nvSpPr>
          <p:cNvPr id="29" name="Text 20"/>
          <p:cNvSpPr txBox="1"/>
          <p:nvPr/>
        </p:nvSpPr>
        <p:spPr>
          <a:xfrm>
            <a:off x="484632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Rocker switch</a:t>
            </a:r>
            <a:endParaRPr lang="en-US" sz="1500" dirty="0"/>
          </a:p>
        </p:txBody>
      </p:sp>
      <p:sp>
        <p:nvSpPr>
          <p:cNvPr id="30" name="Text 21"/>
          <p:cNvSpPr txBox="1"/>
          <p:nvPr/>
        </p:nvSpPr>
        <p:spPr>
          <a:xfrm>
            <a:off x="484632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Power ON / OFF</a:t>
            </a:r>
            <a:endParaRPr lang="en-US" sz="1200" dirty="0"/>
          </a:p>
        </p:txBody>
      </p:sp>
      <p:sp>
        <p:nvSpPr>
          <p:cNvPr id="31" name="component card"/>
          <p:cNvSpPr/>
          <p:nvPr/>
        </p:nvSpPr>
        <p:spPr>
          <a:xfrm>
            <a:off x="6766560" y="2880360"/>
            <a:ext cx="1920240" cy="1508760"/>
          </a:xfrm>
          <a:prstGeom prst="rect">
            <a:avLst/>
          </a:prstGeom>
          <a:solidFill>
            <a:schemeClr val="bg2"/>
          </a:solidFill>
          <a:ln w="9525">
            <a:solidFill>
              <a:srgbClr val="B8C4D6"/>
            </a:solidFill>
            <a:prstDash val="solid"/>
          </a:ln>
        </p:spPr>
      </p:sp>
      <p:pic>
        <p:nvPicPr>
          <p:cNvPr id="32" name="icon" descr="preencoded.png">    </p:cNvPr>
          <p:cNvPicPr>
            <a:picLocks noChangeAspect="1"/>
          </p:cNvPicPr>
          <p:nvPr/>
        </p:nvPicPr>
        <p:blipFill>
          <a:blip r:embed="rId8"/>
          <a:stretch>
            <a:fillRect/>
          </a:stretch>
        </p:blipFill>
        <p:spPr>
          <a:xfrm>
            <a:off x="6999732" y="3113532"/>
            <a:ext cx="377190" cy="377190"/>
          </a:xfrm>
          <a:prstGeom prst="rect">
            <a:avLst/>
          </a:prstGeom>
        </p:spPr>
      </p:pic>
      <p:sp>
        <p:nvSpPr>
          <p:cNvPr id="33" name="Text 23"/>
          <p:cNvSpPr txBox="1"/>
          <p:nvPr/>
        </p:nvSpPr>
        <p:spPr>
          <a:xfrm>
            <a:off x="694944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Capacitor</a:t>
            </a:r>
            <a:endParaRPr lang="en-US" sz="1500" dirty="0"/>
          </a:p>
        </p:txBody>
      </p:sp>
      <p:sp>
        <p:nvSpPr>
          <p:cNvPr id="34" name="Text 24"/>
          <p:cNvSpPr txBox="1"/>
          <p:nvPr/>
        </p:nvSpPr>
        <p:spPr>
          <a:xfrm>
            <a:off x="694944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220 µF, 50 V supply filter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Why the Arduino Nano</a:t>
            </a:r>
            <a:endParaRPr lang="en-US" sz="3000" dirty="0"/>
          </a:p>
        </p:txBody>
      </p:sp>
      <p:sp>
        <p:nvSpPr>
          <p:cNvPr id="3" name="spec card"/>
          <p:cNvSpPr/>
          <p:nvPr/>
        </p:nvSpPr>
        <p:spPr>
          <a:xfrm>
            <a:off x="457200" y="1188720"/>
            <a:ext cx="1874520" cy="1508760"/>
          </a:xfrm>
          <a:prstGeom prst="rect">
            <a:avLst/>
          </a:prstGeom>
          <a:solidFill>
            <a:schemeClr val="tx2"/>
          </a:solidFill>
          <a:ln w="9525">
            <a:solidFill>
              <a:srgbClr val="B8C4D6"/>
            </a:solidFill>
            <a:prstDash val="solid"/>
          </a:ln>
        </p:spPr>
      </p:sp>
      <p:sp>
        <p:nvSpPr>
          <p:cNvPr id="4" name="Text 2"/>
          <p:cNvSpPr txBox="1"/>
          <p:nvPr/>
        </p:nvSpPr>
        <p:spPr>
          <a:xfrm>
            <a:off x="5943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16 MHz</a:t>
            </a:r>
            <a:endParaRPr lang="en-US" sz="2200" dirty="0"/>
          </a:p>
        </p:txBody>
      </p:sp>
      <p:sp>
        <p:nvSpPr>
          <p:cNvPr id="5" name="Text 3"/>
          <p:cNvSpPr txBox="1"/>
          <p:nvPr/>
        </p:nvSpPr>
        <p:spPr>
          <a:xfrm>
            <a:off x="6400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ATmega328P clock</a:t>
            </a:r>
            <a:endParaRPr lang="en-US" sz="1300" dirty="0"/>
          </a:p>
        </p:txBody>
      </p:sp>
      <p:sp>
        <p:nvSpPr>
          <p:cNvPr id="6" name="spec card"/>
          <p:cNvSpPr/>
          <p:nvPr/>
        </p:nvSpPr>
        <p:spPr>
          <a:xfrm>
            <a:off x="2514600" y="1188720"/>
            <a:ext cx="1874520" cy="1508760"/>
          </a:xfrm>
          <a:prstGeom prst="rect">
            <a:avLst/>
          </a:prstGeom>
          <a:solidFill>
            <a:schemeClr val="tx2"/>
          </a:solidFill>
          <a:ln w="9525">
            <a:solidFill>
              <a:srgbClr val="B8C4D6"/>
            </a:solidFill>
            <a:prstDash val="solid"/>
          </a:ln>
        </p:spPr>
      </p:sp>
      <p:sp>
        <p:nvSpPr>
          <p:cNvPr id="7" name="Text 5"/>
          <p:cNvSpPr txBox="1"/>
          <p:nvPr/>
        </p:nvSpPr>
        <p:spPr>
          <a:xfrm>
            <a:off x="26517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32 KB</a:t>
            </a:r>
            <a:endParaRPr lang="en-US" sz="2200" dirty="0"/>
          </a:p>
        </p:txBody>
      </p:sp>
      <p:sp>
        <p:nvSpPr>
          <p:cNvPr id="8" name="Text 6"/>
          <p:cNvSpPr txBox="1"/>
          <p:nvPr/>
        </p:nvSpPr>
        <p:spPr>
          <a:xfrm>
            <a:off x="26974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Flash memory</a:t>
            </a:r>
            <a:endParaRPr lang="en-US" sz="1300" dirty="0"/>
          </a:p>
        </p:txBody>
      </p:sp>
      <p:sp>
        <p:nvSpPr>
          <p:cNvPr id="9" name="spec card"/>
          <p:cNvSpPr/>
          <p:nvPr/>
        </p:nvSpPr>
        <p:spPr>
          <a:xfrm>
            <a:off x="457200" y="2880360"/>
            <a:ext cx="1874520" cy="1508760"/>
          </a:xfrm>
          <a:prstGeom prst="rect">
            <a:avLst/>
          </a:prstGeom>
          <a:solidFill>
            <a:schemeClr val="tx2"/>
          </a:solidFill>
          <a:ln w="9525">
            <a:solidFill>
              <a:srgbClr val="B8C4D6"/>
            </a:solidFill>
            <a:prstDash val="solid"/>
          </a:ln>
        </p:spPr>
      </p:sp>
      <p:sp>
        <p:nvSpPr>
          <p:cNvPr id="10" name="Text 8"/>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10-bit</a:t>
            </a:r>
            <a:endParaRPr lang="en-US" sz="2200" dirty="0"/>
          </a:p>
        </p:txBody>
      </p:sp>
      <p:sp>
        <p:nvSpPr>
          <p:cNvPr id="11" name="Text 9"/>
          <p:cNvSpPr txBox="1"/>
          <p:nvPr/>
        </p:nvSpPr>
        <p:spPr>
          <a:xfrm>
            <a:off x="6400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ADC, 8 analog inputs</a:t>
            </a:r>
            <a:endParaRPr lang="en-US" sz="1300" dirty="0"/>
          </a:p>
        </p:txBody>
      </p:sp>
      <p:sp>
        <p:nvSpPr>
          <p:cNvPr id="12" name="spec card"/>
          <p:cNvSpPr/>
          <p:nvPr/>
        </p:nvSpPr>
        <p:spPr>
          <a:xfrm>
            <a:off x="2514600" y="2880360"/>
            <a:ext cx="1874520" cy="1508760"/>
          </a:xfrm>
          <a:prstGeom prst="rect">
            <a:avLst/>
          </a:prstGeom>
          <a:solidFill>
            <a:schemeClr val="tx2"/>
          </a:solidFill>
          <a:ln w="9525">
            <a:solidFill>
              <a:srgbClr val="B8C4D6"/>
            </a:solidFill>
            <a:prstDash val="solid"/>
          </a:ln>
        </p:spPr>
      </p:sp>
      <p:sp>
        <p:nvSpPr>
          <p:cNvPr id="13" name="Text 11"/>
          <p:cNvSpPr txBox="1"/>
          <p:nvPr/>
        </p:nvSpPr>
        <p:spPr>
          <a:xfrm>
            <a:off x="26517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18×45 mm</a:t>
            </a:r>
            <a:endParaRPr lang="en-US" sz="2200" dirty="0"/>
          </a:p>
        </p:txBody>
      </p:sp>
      <p:sp>
        <p:nvSpPr>
          <p:cNvPr id="14" name="Text 12"/>
          <p:cNvSpPr txBox="1"/>
          <p:nvPr/>
        </p:nvSpPr>
        <p:spPr>
          <a:xfrm>
            <a:off x="26974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Fits on a cane</a:t>
            </a:r>
            <a:endParaRPr lang="en-US" sz="1300" dirty="0"/>
          </a:p>
        </p:txBody>
      </p:sp>
      <p:sp>
        <p:nvSpPr>
          <p:cNvPr id="15" name="Text 13"/>
          <p:cNvSpPr txBox="1"/>
          <p:nvPr/>
        </p:nvSpPr>
        <p:spPr>
          <a:xfrm>
            <a:off x="4846320" y="1280160"/>
            <a:ext cx="38404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Small and light enough to mount on the cane shaft</a:t>
            </a:r>
            <a:endParaRPr lang="en-US" sz="1500" dirty="0"/>
          </a:p>
          <a:p>
            <a:pPr marL="342900" indent="-342900">
              <a:spcAft>
                <a:spcPts val="1000"/>
              </a:spcAft>
              <a:buSzPct val="100000"/>
              <a:buChar char="•"/>
            </a:pPr>
            <a:r>
              <a:rPr lang="en-US" sz="1500" dirty="0">
                <a:solidFill>
                  <a:schemeClr val="tx1"/>
                </a:solidFill>
              </a:rPr>
              <a:t>Low cost (about ₹250) and easy to replace</a:t>
            </a:r>
            <a:endParaRPr lang="en-US" sz="1500" dirty="0"/>
          </a:p>
          <a:p>
            <a:pPr marL="342900" indent="-342900">
              <a:spcAft>
                <a:spcPts val="1000"/>
              </a:spcAft>
              <a:buSzPct val="100000"/>
              <a:buChar char="•"/>
            </a:pPr>
            <a:r>
              <a:rPr lang="en-US" sz="1500" dirty="0">
                <a:solidFill>
                  <a:schemeClr val="tx1"/>
                </a:solidFill>
              </a:rPr>
              <a:t>5 V logic matches the HC-SR04 and the moisture module</a:t>
            </a:r>
            <a:endParaRPr lang="en-US" sz="1500" dirty="0"/>
          </a:p>
          <a:p>
            <a:pPr marL="342900" indent="-342900">
              <a:spcAft>
                <a:spcPts val="1000"/>
              </a:spcAft>
              <a:buSzPct val="100000"/>
              <a:buChar char="•"/>
            </a:pPr>
            <a:r>
              <a:rPr lang="en-US" sz="1500" dirty="0">
                <a:solidFill>
                  <a:schemeClr val="tx1"/>
                </a:solidFill>
              </a:rPr>
              <a:t>Built-in ADC reads the moisture voltage directly</a:t>
            </a:r>
            <a:endParaRPr lang="en-US" sz="1500" dirty="0"/>
          </a:p>
          <a:p>
            <a:pPr marL="342900" indent="-342900">
              <a:spcAft>
                <a:spcPts val="1000"/>
              </a:spcAft>
              <a:buSzPct val="100000"/>
              <a:buChar char="•"/>
            </a:pPr>
            <a:r>
              <a:rPr lang="en-US" sz="1500" dirty="0">
                <a:solidFill>
                  <a:schemeClr val="tx1"/>
                </a:solidFill>
              </a:rPr>
              <a:t>Programmed over USB with the free Arduino IDE</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ultrasonic sensor measures distance</a:t>
            </a:r>
            <a:endParaRPr lang="en-US" sz="3000" dirty="0"/>
          </a:p>
        </p:txBody>
      </p:sp>
      <p:sp>
        <p:nvSpPr>
          <p:cNvPr id="3" name="step number"/>
          <p:cNvSpPr/>
          <p:nvPr/>
        </p:nvSpPr>
        <p:spPr>
          <a:xfrm>
            <a:off x="457200" y="1188720"/>
            <a:ext cx="548640" cy="548640"/>
          </a:xfrm>
          <a:prstGeom prst="ellipse">
            <a:avLst/>
          </a:prstGeom>
          <a:solidFill>
            <a:schemeClr val="accent2"/>
          </a:solidFill>
          <a:ln w="12700">
            <a:solidFill>
              <a:schemeClr val="accent2"/>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188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Trigger</a:t>
            </a:r>
            <a:endParaRPr lang="en-US" sz="1700" dirty="0"/>
          </a:p>
        </p:txBody>
      </p:sp>
      <p:sp>
        <p:nvSpPr>
          <p:cNvPr id="6" name="Text 4"/>
          <p:cNvSpPr txBox="1"/>
          <p:nvPr/>
        </p:nvSpPr>
        <p:spPr>
          <a:xfrm>
            <a:off x="1188720" y="152704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Nano holds Trig HIGH for 10 µs</a:t>
            </a:r>
            <a:endParaRPr lang="en-US" sz="1400" dirty="0"/>
          </a:p>
        </p:txBody>
      </p:sp>
      <p:sp>
        <p:nvSpPr>
          <p:cNvPr id="7" name="step number"/>
          <p:cNvSpPr/>
          <p:nvPr/>
        </p:nvSpPr>
        <p:spPr>
          <a:xfrm>
            <a:off x="457200" y="2286000"/>
            <a:ext cx="548640" cy="548640"/>
          </a:xfrm>
          <a:prstGeom prst="ellipse">
            <a:avLst/>
          </a:prstGeom>
          <a:solidFill>
            <a:schemeClr val="accent2"/>
          </a:solidFill>
          <a:ln w="12700">
            <a:solidFill>
              <a:schemeClr val="accent2"/>
            </a:solidFill>
            <a:prstDash val="solid"/>
          </a:ln>
        </p:spPr>
      </p:sp>
      <p:sp>
        <p:nvSpPr>
          <p:cNvPr id="8" name="Text 6"/>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188720" y="2286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Burst</a:t>
            </a:r>
            <a:endParaRPr lang="en-US" sz="1700" dirty="0"/>
          </a:p>
        </p:txBody>
      </p:sp>
      <p:sp>
        <p:nvSpPr>
          <p:cNvPr id="10" name="Text 8"/>
          <p:cNvSpPr txBox="1"/>
          <p:nvPr/>
        </p:nvSpPr>
        <p:spPr>
          <a:xfrm>
            <a:off x="1188720" y="262432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Sensor sends eight 40 kHz sound pulses</a:t>
            </a:r>
            <a:endParaRPr lang="en-US" sz="1400" dirty="0"/>
          </a:p>
        </p:txBody>
      </p:sp>
      <p:sp>
        <p:nvSpPr>
          <p:cNvPr id="11" name="step number"/>
          <p:cNvSpPr/>
          <p:nvPr/>
        </p:nvSpPr>
        <p:spPr>
          <a:xfrm>
            <a:off x="457200" y="338328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188720" y="3383280"/>
            <a:ext cx="3108960" cy="320040"/>
          </a:xfrm>
          <a:prstGeom prst="rect">
            <a:avLst/>
          </a:prstGeom>
          <a:noFill/>
          <a:ln/>
        </p:spPr>
        <p:txBody>
          <a:bodyPr wrap="square" lIns="0" tIns="0" rIns="0" bIns="0" rtlCol="0" anchor="t"/>
          <a:lstStyle/>
          <a:p>
            <a:pPr indent="0" marL="0">
              <a:buNone/>
            </a:pPr>
            <a:r>
              <a:rPr lang="en-US" sz="1700" b="1" dirty="0">
                <a:solidFill>
                  <a:schemeClr val="tx2"/>
                </a:solidFill>
              </a:rPr>
              <a:t>Echo</a:t>
            </a:r>
            <a:endParaRPr lang="en-US" sz="1700" dirty="0"/>
          </a:p>
        </p:txBody>
      </p:sp>
      <p:sp>
        <p:nvSpPr>
          <p:cNvPr id="14" name="Text 12"/>
          <p:cNvSpPr txBox="1"/>
          <p:nvPr/>
        </p:nvSpPr>
        <p:spPr>
          <a:xfrm>
            <a:off x="1188720" y="372160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Echo stays HIGH for the round-trip time t</a:t>
            </a:r>
            <a:endParaRPr lang="en-US" sz="1400" dirty="0"/>
          </a:p>
        </p:txBody>
      </p:sp>
      <p:sp>
        <p:nvSpPr>
          <p:cNvPr id="15" name="formula card"/>
          <p:cNvSpPr/>
          <p:nvPr/>
        </p:nvSpPr>
        <p:spPr>
          <a:xfrm>
            <a:off x="4663440" y="1188720"/>
            <a:ext cx="4023360" cy="3291840"/>
          </a:xfrm>
          <a:prstGeom prst="rect">
            <a:avLst/>
          </a:prstGeom>
          <a:solidFill>
            <a:schemeClr val="tx2"/>
          </a:solidFill>
          <a:ln w="9525">
            <a:solidFill>
              <a:srgbClr val="B8C4D6"/>
            </a:solidFill>
            <a:prstDash val="solid"/>
          </a:ln>
        </p:spPr>
      </p:sp>
      <p:sp>
        <p:nvSpPr>
          <p:cNvPr id="16" name="Text 14"/>
          <p:cNvSpPr txBox="1"/>
          <p:nvPr/>
        </p:nvSpPr>
        <p:spPr>
          <a:xfrm>
            <a:off x="4937760" y="1417320"/>
            <a:ext cx="3474720" cy="640080"/>
          </a:xfrm>
          <a:prstGeom prst="rect">
            <a:avLst/>
          </a:prstGeom>
          <a:noFill/>
          <a:ln/>
        </p:spPr>
        <p:txBody>
          <a:bodyPr wrap="square" lIns="0" tIns="0" rIns="0" bIns="0" rtlCol="0" anchor="t"/>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d = v × t / 2</a:t>
            </a:r>
            <a:endParaRPr lang="en-US" sz="3000" dirty="0"/>
          </a:p>
        </p:txBody>
      </p:sp>
      <p:sp>
        <p:nvSpPr>
          <p:cNvPr id="17" name="Text 15"/>
          <p:cNvSpPr txBox="1"/>
          <p:nvPr/>
        </p:nvSpPr>
        <p:spPr>
          <a:xfrm>
            <a:off x="4937760" y="2194560"/>
            <a:ext cx="3566160" cy="2103120"/>
          </a:xfrm>
          <a:prstGeom prst="rect">
            <a:avLst/>
          </a:prstGeom>
          <a:noFill/>
          <a:ln/>
        </p:spPr>
        <p:txBody>
          <a:bodyPr wrap="square" lIns="0" tIns="0" rIns="0" bIns="0" rtlCol="0" anchor="t"/>
          <a:lstStyle/>
          <a:p>
            <a:pPr indent="0" marL="0">
              <a:buNone/>
            </a:pPr>
            <a:r>
              <a:rPr lang="en-US" sz="1400" dirty="0">
                <a:solidFill>
                  <a:schemeClr val="bg1"/>
                </a:solidFill>
              </a:rPr>
              <a:t>v ≈ 343 m/s = 0.034 cm/µs</a:t>
            </a:r>
            <a:endParaRPr lang="en-US" sz="1400" dirty="0"/>
          </a:p>
          <a:p>
            <a:pPr indent="0" marL="0">
              <a:buNone/>
            </a:pPr>
            <a:r>
              <a:rPr lang="en-US" sz="1400" dirty="0">
                <a:solidFill>
                  <a:schemeClr val="bg1"/>
                </a:solidFill>
              </a:rPr>
              <a:t>÷ 2 because sound travels there and back</a:t>
            </a:r>
            <a:endParaRPr lang="en-US" sz="1400" dirty="0"/>
          </a:p>
          <a:p>
            <a:pPr indent="0" marL="0">
              <a:buNone/>
            </a:pPr>
            <a:r>
              <a:rPr lang="en-US" sz="1400" dirty="0">
                <a:solidFill>
                  <a:schemeClr val="bg1"/>
                </a:solidFill>
              </a:rPr>
              <a:t> </a:t>
            </a:r>
            <a:endParaRPr lang="en-US" sz="1400" dirty="0"/>
          </a:p>
          <a:p>
            <a:pPr indent="0" marL="0">
              <a:buNone/>
            </a:pPr>
            <a:r>
              <a:rPr lang="en-US" sz="1400" b="1" dirty="0">
                <a:solidFill>
                  <a:schemeClr val="accent1"/>
                </a:solidFill>
              </a:rPr>
              <a:t>Example: </a:t>
            </a:r>
            <a:pPr indent="0" marL="0">
              <a:buNone/>
            </a:pPr>
            <a:r>
              <a:rPr lang="en-US" sz="1400" dirty="0">
                <a:solidFill>
                  <a:schemeClr val="bg1"/>
                </a:solidFill>
              </a:rPr>
              <a:t>t = 1000 µs → d = 0.034 × 1000 / 2 = 17 cm</a:t>
            </a:r>
            <a:endParaRPr lang="en-US" sz="1400" dirty="0"/>
          </a:p>
          <a:p>
            <a:pPr indent="0" marL="0">
              <a:buNone/>
            </a:pPr>
            <a:r>
              <a:rPr lang="en-US" sz="1400" dirty="0">
                <a:solidFill>
                  <a:schemeClr val="bg1"/>
                </a:solidFill>
              </a:rPr>
              <a:t> </a:t>
            </a:r>
            <a:endParaRPr lang="en-US" sz="1400" dirty="0"/>
          </a:p>
          <a:p>
            <a:pPr indent="0" marL="0">
              <a:buNone/>
            </a:pPr>
            <a:r>
              <a:rPr lang="en-US" sz="1400" dirty="0">
                <a:solidFill>
                  <a:schemeClr val="bg1"/>
                </a:solidFill>
              </a:rPr>
              <a:t>Range 2–400 cm  ·  beam ≈ 15°</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tip detects water</a:t>
            </a:r>
            <a:endParaRPr lang="en-US" sz="3000" dirty="0"/>
          </a:p>
        </p:txBody>
      </p:sp>
      <p:pic>
        <p:nvPicPr>
          <p:cNvPr id="3" name="probe photo" descr="img/new_tip.jpg">    </p:cNvPr>
          <p:cNvPicPr>
            <a:picLocks noChangeAspect="1"/>
          </p:cNvPicPr>
          <p:nvPr/>
        </p:nvPicPr>
        <p:blipFill>
          <a:blip r:embed="rId1"/>
          <a:stretch>
            <a:fillRect/>
          </a:stretch>
        </p:blipFill>
        <p:spPr>
          <a:xfrm>
            <a:off x="1223010" y="1143000"/>
            <a:ext cx="2125980" cy="2834640"/>
          </a:xfrm>
          <a:prstGeom prst="rect">
            <a:avLst/>
          </a:prstGeom>
        </p:spPr>
      </p:pic>
      <p:sp>
        <p:nvSpPr>
          <p:cNvPr id="4" name="Text 1"/>
          <p:cNvSpPr txBox="1"/>
          <p:nvPr/>
        </p:nvSpPr>
        <p:spPr>
          <a:xfrm>
            <a:off x="457200" y="4023360"/>
            <a:ext cx="3657600" cy="274320"/>
          </a:xfrm>
          <a:prstGeom prst="rect">
            <a:avLst/>
          </a:prstGeom>
          <a:noFill/>
          <a:ln/>
        </p:spPr>
        <p:txBody>
          <a:bodyPr wrap="square" lIns="0" tIns="0" rIns="0" bIns="0" rtlCol="0" anchor="t"/>
          <a:lstStyle/>
          <a:p>
            <a:pPr indent="0" marL="0">
              <a:buNone/>
            </a:pPr>
            <a:r>
              <a:rPr lang="en-US" sz="1100" i="1" dirty="0">
                <a:solidFill>
                  <a:schemeClr val="accent5"/>
                </a:solidFill>
              </a:rPr>
              <a:t>Probe at the tip, LM393 module above it</a:t>
            </a:r>
            <a:endParaRPr lang="en-US" sz="1100" dirty="0"/>
          </a:p>
        </p:txBody>
      </p:sp>
      <p:sp>
        <p:nvSpPr>
          <p:cNvPr id="5" name="Text 2"/>
          <p:cNvSpPr txBox="1"/>
          <p:nvPr/>
        </p:nvSpPr>
        <p:spPr>
          <a:xfrm>
            <a:off x="4480560" y="1188720"/>
            <a:ext cx="4206240" cy="822960"/>
          </a:xfrm>
          <a:prstGeom prst="rect">
            <a:avLst/>
          </a:prstGeom>
          <a:noFill/>
          <a:ln/>
        </p:spPr>
        <p:txBody>
          <a:bodyPr wrap="square" lIns="0" tIns="0" rIns="0" bIns="0" rtlCol="0" anchor="t"/>
          <a:lstStyle/>
          <a:p>
            <a:pPr indent="0" marL="0">
              <a:buNone/>
            </a:pPr>
            <a:r>
              <a:rPr lang="en-US" sz="1400" dirty="0">
                <a:solidFill>
                  <a:schemeClr val="tx1"/>
                </a:solidFill>
              </a:rPr>
              <a:t>Water conducts electricity, so the resistance Rp between the copper tracks drops. The LM393 module turns this into a voltage:</a:t>
            </a:r>
            <a:endParaRPr lang="en-US" sz="1400" dirty="0"/>
          </a:p>
        </p:txBody>
      </p:sp>
      <p:sp>
        <p:nvSpPr>
          <p:cNvPr id="6" name="formula"/>
          <p:cNvSpPr/>
          <p:nvPr/>
        </p:nvSpPr>
        <p:spPr>
          <a:xfrm>
            <a:off x="4480560" y="2057400"/>
            <a:ext cx="4206240" cy="594360"/>
          </a:xfrm>
          <a:prstGeom prst="rect">
            <a:avLst/>
          </a:prstGeom>
          <a:solidFill>
            <a:schemeClr val="bg2"/>
          </a:solidFill>
          <a:ln w="9525">
            <a:solidFill>
              <a:srgbClr val="B8C4D6"/>
            </a:solidFill>
            <a:prstDash val="solid"/>
          </a:ln>
        </p:spPr>
      </p:sp>
      <p:sp>
        <p:nvSpPr>
          <p:cNvPr id="7" name="Text 4"/>
          <p:cNvSpPr txBox="1"/>
          <p:nvPr/>
        </p:nvSpPr>
        <p:spPr>
          <a:xfrm>
            <a:off x="4663440" y="2057400"/>
            <a:ext cx="3931920" cy="59436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V_A0 = Vcc × Rp / (Rp + Rf)</a:t>
            </a:r>
            <a:endParaRPr lang="en-US" sz="1800" dirty="0"/>
          </a:p>
        </p:txBody>
      </p:sp>
      <p:sp>
        <p:nvSpPr>
          <p:cNvPr id="8" name="reading card"/>
          <p:cNvSpPr/>
          <p:nvPr/>
        </p:nvSpPr>
        <p:spPr>
          <a:xfrm>
            <a:off x="4480560" y="2834640"/>
            <a:ext cx="2057400" cy="1051560"/>
          </a:xfrm>
          <a:prstGeom prst="rect">
            <a:avLst/>
          </a:prstGeom>
          <a:solidFill>
            <a:schemeClr val="bg2"/>
          </a:solidFill>
          <a:ln w="9525">
            <a:solidFill>
              <a:srgbClr val="B8C4D6"/>
            </a:solidFill>
            <a:prstDash val="solid"/>
          </a:ln>
        </p:spPr>
      </p:sp>
      <p:sp>
        <p:nvSpPr>
          <p:cNvPr id="9" name="Text 6"/>
          <p:cNvSpPr txBox="1"/>
          <p:nvPr/>
        </p:nvSpPr>
        <p:spPr>
          <a:xfrm>
            <a:off x="4663440" y="29260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Times New Roman" pitchFamily="34" charset="0"/>
                <a:ea typeface="Times New Roman" pitchFamily="34" charset="-122"/>
                <a:cs typeface="Times New Roman" pitchFamily="34" charset="-120"/>
              </a:rPr>
              <a:t>≈ 1023</a:t>
            </a:r>
            <a:endParaRPr lang="en-US" sz="2400" dirty="0"/>
          </a:p>
        </p:txBody>
      </p:sp>
      <p:sp>
        <p:nvSpPr>
          <p:cNvPr id="10" name="Text 7"/>
          <p:cNvSpPr txBox="1"/>
          <p:nvPr/>
        </p:nvSpPr>
        <p:spPr>
          <a:xfrm>
            <a:off x="466344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Dry: Rp very high</a:t>
            </a:r>
            <a:endParaRPr lang="en-US" sz="1300" dirty="0"/>
          </a:p>
        </p:txBody>
      </p:sp>
      <p:sp>
        <p:nvSpPr>
          <p:cNvPr id="11" name="reading card"/>
          <p:cNvSpPr/>
          <p:nvPr/>
        </p:nvSpPr>
        <p:spPr>
          <a:xfrm>
            <a:off x="6629400" y="2834640"/>
            <a:ext cx="2057400" cy="1051560"/>
          </a:xfrm>
          <a:prstGeom prst="rect">
            <a:avLst/>
          </a:prstGeom>
          <a:solidFill>
            <a:schemeClr val="bg2"/>
          </a:solidFill>
          <a:ln w="9525">
            <a:solidFill>
              <a:srgbClr val="B8C4D6"/>
            </a:solidFill>
            <a:prstDash val="solid"/>
          </a:ln>
        </p:spPr>
      </p:sp>
      <p:sp>
        <p:nvSpPr>
          <p:cNvPr id="12" name="Text 9"/>
          <p:cNvSpPr txBox="1"/>
          <p:nvPr/>
        </p:nvSpPr>
        <p:spPr>
          <a:xfrm>
            <a:off x="6812280" y="29260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&lt; 500</a:t>
            </a:r>
            <a:endParaRPr lang="en-US" sz="2400" dirty="0"/>
          </a:p>
        </p:txBody>
      </p:sp>
      <p:sp>
        <p:nvSpPr>
          <p:cNvPr id="13" name="Text 10"/>
          <p:cNvSpPr txBox="1"/>
          <p:nvPr/>
        </p:nvSpPr>
        <p:spPr>
          <a:xfrm>
            <a:off x="681228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Wet: water alert</a:t>
            </a:r>
            <a:endParaRPr lang="en-US" sz="1300" dirty="0"/>
          </a:p>
        </p:txBody>
      </p:sp>
      <p:sp>
        <p:nvSpPr>
          <p:cNvPr id="14" name="Text 11"/>
          <p:cNvSpPr txBox="1"/>
          <p:nvPr/>
        </p:nvSpPr>
        <p:spPr>
          <a:xfrm>
            <a:off x="4480560" y="4023360"/>
            <a:ext cx="4206240" cy="594360"/>
          </a:xfrm>
          <a:prstGeom prst="rect">
            <a:avLst/>
          </a:prstGeom>
          <a:noFill/>
          <a:ln/>
        </p:spPr>
        <p:txBody>
          <a:bodyPr wrap="square" lIns="0" tIns="0" rIns="0" bIns="0" rtlCol="0" anchor="t"/>
          <a:lstStyle/>
          <a:p>
            <a:pPr indent="0" marL="0">
              <a:buNone/>
            </a:pPr>
            <a:r>
              <a:rPr lang="en-US" sz="1200" dirty="0">
                <a:solidFill>
                  <a:schemeClr val="accent5"/>
                </a:solidFill>
              </a:rPr>
              <a:t>The reading is ratiometric (independent of battery voltage). The D0 output is unused; the threshold is set in code.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Power system</a:t>
            </a:r>
            <a:endParaRPr lang="en-US" sz="3000" dirty="0"/>
          </a:p>
        </p:txBody>
      </p:sp>
      <p:sp>
        <p:nvSpPr>
          <p:cNvPr id="3" name="power block"/>
          <p:cNvSpPr/>
          <p:nvPr/>
        </p:nvSpPr>
        <p:spPr>
          <a:xfrm>
            <a:off x="457200" y="1188720"/>
            <a:ext cx="1691640" cy="16002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1078992" y="1380744"/>
            <a:ext cx="411480" cy="411480"/>
          </a:xfrm>
          <a:prstGeom prst="rect">
            <a:avLst/>
          </a:prstGeom>
        </p:spPr>
      </p:pic>
      <p:sp>
        <p:nvSpPr>
          <p:cNvPr id="5" name="Text 2"/>
          <p:cNvSpPr txBox="1"/>
          <p:nvPr/>
        </p:nvSpPr>
        <p:spPr>
          <a:xfrm>
            <a:off x="54864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18650 cell</a:t>
            </a:r>
            <a:endParaRPr lang="en-US" sz="1500" dirty="0"/>
          </a:p>
        </p:txBody>
      </p:sp>
      <p:sp>
        <p:nvSpPr>
          <p:cNvPr id="6" name="Text 3"/>
          <p:cNvSpPr txBox="1"/>
          <p:nvPr/>
        </p:nvSpPr>
        <p:spPr>
          <a:xfrm>
            <a:off x="54864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3.7 V, 1200 mAh</a:t>
            </a:r>
            <a:endParaRPr lang="en-US" sz="1200" dirty="0"/>
          </a:p>
        </p:txBody>
      </p:sp>
      <p:sp>
        <p:nvSpPr>
          <p:cNvPr id="7" name="arrow"/>
          <p:cNvSpPr/>
          <p:nvPr/>
        </p:nvSpPr>
        <p:spPr>
          <a:xfrm>
            <a:off x="2176272" y="1856232"/>
            <a:ext cx="219456" cy="237744"/>
          </a:xfrm>
          <a:prstGeom prst="rightArrow">
            <a:avLst/>
          </a:prstGeom>
          <a:solidFill>
            <a:schemeClr val="accent1"/>
          </a:solidFill>
          <a:ln w="12700">
            <a:solidFill>
              <a:schemeClr val="accent1"/>
            </a:solidFill>
            <a:prstDash val="solid"/>
          </a:ln>
        </p:spPr>
      </p:sp>
      <p:sp>
        <p:nvSpPr>
          <p:cNvPr id="8" name="power block"/>
          <p:cNvSpPr/>
          <p:nvPr/>
        </p:nvSpPr>
        <p:spPr>
          <a:xfrm>
            <a:off x="2423160" y="1188720"/>
            <a:ext cx="1691640" cy="16002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044952" y="1380744"/>
            <a:ext cx="411480" cy="411480"/>
          </a:xfrm>
          <a:prstGeom prst="rect">
            <a:avLst/>
          </a:prstGeom>
        </p:spPr>
      </p:pic>
      <p:sp>
        <p:nvSpPr>
          <p:cNvPr id="10" name="Text 6"/>
          <p:cNvSpPr txBox="1"/>
          <p:nvPr/>
        </p:nvSpPr>
        <p:spPr>
          <a:xfrm>
            <a:off x="251460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Rocker switch</a:t>
            </a:r>
            <a:endParaRPr lang="en-US" sz="1500" dirty="0"/>
          </a:p>
        </p:txBody>
      </p:sp>
      <p:sp>
        <p:nvSpPr>
          <p:cNvPr id="11" name="Text 7"/>
          <p:cNvSpPr txBox="1"/>
          <p:nvPr/>
        </p:nvSpPr>
        <p:spPr>
          <a:xfrm>
            <a:off x="251460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ON / OFF</a:t>
            </a:r>
            <a:endParaRPr lang="en-US" sz="1200" dirty="0"/>
          </a:p>
        </p:txBody>
      </p:sp>
      <p:sp>
        <p:nvSpPr>
          <p:cNvPr id="12" name="arrow"/>
          <p:cNvSpPr/>
          <p:nvPr/>
        </p:nvSpPr>
        <p:spPr>
          <a:xfrm>
            <a:off x="4142232" y="1856232"/>
            <a:ext cx="219456" cy="237744"/>
          </a:xfrm>
          <a:prstGeom prst="rightArrow">
            <a:avLst/>
          </a:prstGeom>
          <a:solidFill>
            <a:schemeClr val="accent1"/>
          </a:solidFill>
          <a:ln w="12700">
            <a:solidFill>
              <a:schemeClr val="accent1"/>
            </a:solidFill>
            <a:prstDash val="solid"/>
          </a:ln>
        </p:spPr>
      </p:sp>
      <p:sp>
        <p:nvSpPr>
          <p:cNvPr id="13" name="power block"/>
          <p:cNvSpPr/>
          <p:nvPr/>
        </p:nvSpPr>
        <p:spPr>
          <a:xfrm>
            <a:off x="4389120" y="1188720"/>
            <a:ext cx="1691640" cy="16002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5010912" y="1380744"/>
            <a:ext cx="411480" cy="411480"/>
          </a:xfrm>
          <a:prstGeom prst="rect">
            <a:avLst/>
          </a:prstGeom>
        </p:spPr>
      </p:pic>
      <p:sp>
        <p:nvSpPr>
          <p:cNvPr id="15" name="Text 10"/>
          <p:cNvSpPr txBox="1"/>
          <p:nvPr/>
        </p:nvSpPr>
        <p:spPr>
          <a:xfrm>
            <a:off x="448056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5V pin</a:t>
            </a:r>
            <a:endParaRPr lang="en-US" sz="1500" dirty="0"/>
          </a:p>
        </p:txBody>
      </p:sp>
      <p:sp>
        <p:nvSpPr>
          <p:cNvPr id="16" name="Text 11"/>
          <p:cNvSpPr txBox="1"/>
          <p:nvPr/>
        </p:nvSpPr>
        <p:spPr>
          <a:xfrm>
            <a:off x="448056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Nano + both sensors</a:t>
            </a:r>
            <a:endParaRPr lang="en-US" sz="1200" dirty="0"/>
          </a:p>
        </p:txBody>
      </p:sp>
      <p:sp>
        <p:nvSpPr>
          <p:cNvPr id="17" name="Text 12"/>
          <p:cNvSpPr txBox="1"/>
          <p:nvPr/>
        </p:nvSpPr>
        <p:spPr>
          <a:xfrm>
            <a:off x="45720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~40 mA</a:t>
            </a:r>
            <a:endParaRPr lang="en-US" sz="3000" dirty="0"/>
          </a:p>
        </p:txBody>
      </p:sp>
      <p:sp>
        <p:nvSpPr>
          <p:cNvPr id="18" name="Text 13"/>
          <p:cNvSpPr txBox="1"/>
          <p:nvPr/>
        </p:nvSpPr>
        <p:spPr>
          <a:xfrm>
            <a:off x="45720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total current draw</a:t>
            </a:r>
            <a:endParaRPr lang="en-US" sz="1300" dirty="0"/>
          </a:p>
        </p:txBody>
      </p:sp>
      <p:sp>
        <p:nvSpPr>
          <p:cNvPr id="19" name="Text 14"/>
          <p:cNvSpPr txBox="1"/>
          <p:nvPr/>
        </p:nvSpPr>
        <p:spPr>
          <a:xfrm>
            <a:off x="338328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 30 h</a:t>
            </a:r>
            <a:endParaRPr lang="en-US" sz="3000" dirty="0"/>
          </a:p>
        </p:txBody>
      </p:sp>
      <p:sp>
        <p:nvSpPr>
          <p:cNvPr id="20" name="Text 15"/>
          <p:cNvSpPr txBox="1"/>
          <p:nvPr/>
        </p:nvSpPr>
        <p:spPr>
          <a:xfrm>
            <a:off x="338328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theoretical runtime</a:t>
            </a:r>
            <a:endParaRPr lang="en-US" sz="1300" dirty="0"/>
          </a:p>
        </p:txBody>
      </p:sp>
      <p:sp>
        <p:nvSpPr>
          <p:cNvPr id="21" name="warning"/>
          <p:cNvSpPr/>
          <p:nvPr/>
        </p:nvSpPr>
        <p:spPr>
          <a:xfrm>
            <a:off x="457200" y="3977640"/>
            <a:ext cx="5669280" cy="594360"/>
          </a:xfrm>
          <a:prstGeom prst="rect">
            <a:avLst/>
          </a:prstGeom>
          <a:solidFill>
            <a:srgbClr val="FDECEA"/>
          </a:solidFill>
          <a:ln w="9525">
            <a:solidFill>
              <a:srgbClr val="B8C4D6"/>
            </a:solidFill>
            <a:prstDash val="solid"/>
          </a:ln>
        </p:spPr>
      </p:sp>
      <p:sp>
        <p:nvSpPr>
          <p:cNvPr id="22" name="Text 17"/>
          <p:cNvSpPr txBox="1"/>
          <p:nvPr/>
        </p:nvSpPr>
        <p:spPr>
          <a:xfrm>
            <a:off x="640080" y="3977640"/>
            <a:ext cx="5394960" cy="594360"/>
          </a:xfrm>
          <a:prstGeom prst="rect">
            <a:avLst/>
          </a:prstGeom>
          <a:noFill/>
          <a:ln/>
        </p:spPr>
        <p:txBody>
          <a:bodyPr wrap="square" lIns="0" tIns="0" rIns="0" bIns="0" rtlCol="0" anchor="ctr"/>
          <a:lstStyle/>
          <a:p>
            <a:pPr indent="0" marL="0">
              <a:buNone/>
            </a:pPr>
            <a:r>
              <a:rPr lang="en-US" sz="1300" b="1" dirty="0">
                <a:solidFill>
                  <a:schemeClr val="accent3"/>
                </a:solidFill>
              </a:rPr>
              <a:t>Safety: </a:t>
            </a:r>
            <a:pPr indent="0" marL="0">
              <a:buNone/>
            </a:pPr>
            <a:r>
              <a:rPr lang="en-US" sz="1300" dirty="0">
                <a:solidFill>
                  <a:schemeClr val="tx1"/>
                </a:solidFill>
              </a:rPr>
              <a:t>switch OFF before plugging in USB. The battery feeds the 5V rail directly.</a:t>
            </a:r>
            <a:endParaRPr lang="en-US" sz="1300" dirty="0"/>
          </a:p>
        </p:txBody>
      </p:sp>
      <p:pic>
        <p:nvPicPr>
          <p:cNvPr id="23" name="battery and switch photo" descr="img/new_power.jpg">    </p:cNvPr>
          <p:cNvPicPr>
            <a:picLocks noChangeAspect="1"/>
          </p:cNvPicPr>
          <p:nvPr/>
        </p:nvPicPr>
        <p:blipFill>
          <a:blip r:embed="rId4"/>
          <a:stretch>
            <a:fillRect/>
          </a:stretch>
        </p:blipFill>
        <p:spPr>
          <a:xfrm>
            <a:off x="6400800" y="1362144"/>
            <a:ext cx="2286000" cy="3036433"/>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Circuit diagram</a:t>
            </a:r>
            <a:endParaRPr lang="en-US" sz="3000" dirty="0"/>
          </a:p>
        </p:txBody>
      </p:sp>
      <p:pic>
        <p:nvPicPr>
          <p:cNvPr id="3" name="circuit diagram" descr="img/circuit.png">    </p:cNvPr>
          <p:cNvPicPr>
            <a:picLocks noChangeAspect="1"/>
          </p:cNvPicPr>
          <p:nvPr/>
        </p:nvPicPr>
        <p:blipFill>
          <a:blip r:embed="rId1"/>
          <a:stretch>
            <a:fillRect/>
          </a:stretch>
        </p:blipFill>
        <p:spPr>
          <a:xfrm>
            <a:off x="530352" y="1097280"/>
            <a:ext cx="5705856" cy="3566160"/>
          </a:xfrm>
          <a:prstGeom prst="rect">
            <a:avLst/>
          </a:prstGeom>
        </p:spPr>
      </p:pic>
      <p:sp>
        <p:nvSpPr>
          <p:cNvPr id="4" name="Text 1"/>
          <p:cNvSpPr txBox="1"/>
          <p:nvPr/>
        </p:nvSpPr>
        <p:spPr>
          <a:xfrm>
            <a:off x="6492240" y="1371600"/>
            <a:ext cx="219456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Shared +5 V and GND rails</a:t>
            </a:r>
            <a:endParaRPr lang="en-US" sz="1400" dirty="0"/>
          </a:p>
          <a:p>
            <a:pPr marL="342900" indent="-342900">
              <a:spcAft>
                <a:spcPts val="800"/>
              </a:spcAft>
              <a:buSzPct val="100000"/>
              <a:buChar char="•"/>
            </a:pPr>
            <a:r>
              <a:rPr lang="en-US" sz="1400" dirty="0">
                <a:solidFill>
                  <a:schemeClr val="tx1"/>
                </a:solidFill>
              </a:rPr>
              <a:t>Trig → D5, Echo → D6</a:t>
            </a:r>
            <a:endParaRPr lang="en-US" sz="1400" dirty="0"/>
          </a:p>
          <a:p>
            <a:pPr marL="342900" indent="-342900">
              <a:spcAft>
                <a:spcPts val="800"/>
              </a:spcAft>
              <a:buSzPct val="100000"/>
              <a:buChar char="•"/>
            </a:pPr>
            <a:r>
              <a:rPr lang="en-US" sz="1400" dirty="0">
                <a:solidFill>
                  <a:schemeClr val="tx1"/>
                </a:solidFill>
              </a:rPr>
              <a:t>Moisture A0 → A0</a:t>
            </a:r>
            <a:endParaRPr lang="en-US" sz="1400" dirty="0"/>
          </a:p>
          <a:p>
            <a:pPr marL="342900" indent="-342900">
              <a:spcAft>
                <a:spcPts val="800"/>
              </a:spcAft>
              <a:buSzPct val="100000"/>
              <a:buChar char="•"/>
            </a:pPr>
            <a:r>
              <a:rPr lang="en-US" sz="1400" dirty="0">
                <a:solidFill>
                  <a:schemeClr val="tx1"/>
                </a:solidFill>
              </a:rPr>
              <a:t>Buzzer → D2</a:t>
            </a:r>
            <a:endParaRPr lang="en-US" sz="1400" dirty="0"/>
          </a:p>
          <a:p>
            <a:pPr marL="342900" indent="-342900">
              <a:spcAft>
                <a:spcPts val="800"/>
              </a:spcAft>
              <a:buSzPct val="100000"/>
              <a:buChar char="•"/>
            </a:pPr>
            <a:r>
              <a:rPr lang="en-US" sz="1400" dirty="0">
                <a:solidFill>
                  <a:schemeClr val="tx1"/>
                </a:solidFill>
              </a:rPr>
              <a:t>220 µF capacitor across 5V and GND</a:t>
            </a:r>
            <a:endParaRPr lang="en-US" sz="1400" dirty="0"/>
          </a:p>
          <a:p>
            <a:pPr marL="342900" indent="-342900">
              <a:spcAft>
                <a:spcPts val="800"/>
              </a:spcAft>
              <a:buSzPct val="100000"/>
              <a:buChar char="•"/>
            </a:pPr>
            <a:r>
              <a:rPr lang="en-US" sz="1400" dirty="0">
                <a:solidFill>
                  <a:schemeClr val="tx1"/>
                </a:solidFill>
              </a:rPr>
              <a:t>D3 reserved for a vibration motor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Pin connections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926080"/>
                <a:gridCol w="1645920"/>
                <a:gridCol w="3657600"/>
              </a:tblGrid>
              <a:tr h="384048">
                <a:tc>
                  <a:txBody>
                    <a:bodyPr/>
                    <a:lstStyle/>
                    <a:p>
                      <a:pPr indent="0" marL="0">
                        <a:buNone/>
                      </a:pPr>
                      <a:r>
                        <a:rPr lang="en-US" sz="1400" b="1" dirty="0">
                          <a:solidFill>
                            <a:schemeClr val="bg1"/>
                          </a:solidFill>
                        </a:rPr>
                        <a:t>Device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Nano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Purpose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Battery + (via switch)</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Power, 3.0–4.2 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Battery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Common ground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Trig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D5</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10 µs trigger pulse (output)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Echo</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D6</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Echo pulse width (input)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Moisture value 0–1023</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D0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Not used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Buzzer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D2</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HIGH = sound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Sensor VCC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Module power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Algorithm</a:t>
            </a:r>
            <a:endParaRPr lang="en-US" sz="3000" dirty="0"/>
          </a:p>
        </p:txBody>
      </p:sp>
      <p:sp>
        <p:nvSpPr>
          <p:cNvPr id="3" name="algorithm step"/>
          <p:cNvSpPr/>
          <p:nvPr/>
        </p:nvSpPr>
        <p:spPr>
          <a:xfrm>
            <a:off x="457200" y="1188720"/>
            <a:ext cx="2606040" cy="1463040"/>
          </a:xfrm>
          <a:prstGeom prst="rect">
            <a:avLst/>
          </a:prstGeom>
          <a:solidFill>
            <a:srgbClr val="EEF2F7"/>
          </a:solidFill>
          <a:ln w="9525">
            <a:solidFill>
              <a:srgbClr val="B8C4D6"/>
            </a:solidFill>
            <a:prstDash val="solid"/>
          </a:ln>
        </p:spPr>
      </p:sp>
      <p:sp>
        <p:nvSpPr>
          <p:cNvPr id="4" name="Text 2"/>
          <p:cNvSpPr txBox="1"/>
          <p:nvPr/>
        </p:nvSpPr>
        <p:spPr>
          <a:xfrm>
            <a:off x="64008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1</a:t>
            </a:r>
            <a:endParaRPr lang="en-US" sz="2400" dirty="0"/>
          </a:p>
        </p:txBody>
      </p:sp>
      <p:sp>
        <p:nvSpPr>
          <p:cNvPr id="5" name="Text 3"/>
          <p:cNvSpPr txBox="1"/>
          <p:nvPr/>
        </p:nvSpPr>
        <p:spPr>
          <a:xfrm>
            <a:off x="109728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Initialise</a:t>
            </a:r>
            <a:endParaRPr lang="en-US" sz="1600" dirty="0"/>
          </a:p>
        </p:txBody>
      </p:sp>
      <p:sp>
        <p:nvSpPr>
          <p:cNvPr id="6" name="Text 4"/>
          <p:cNvSpPr txBox="1"/>
          <p:nvPr/>
        </p:nvSpPr>
        <p:spPr>
          <a:xfrm>
            <a:off x="64008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Set pin modes, start Serial at 9600</a:t>
            </a:r>
            <a:endParaRPr lang="en-US" sz="1300" dirty="0"/>
          </a:p>
        </p:txBody>
      </p:sp>
      <p:sp>
        <p:nvSpPr>
          <p:cNvPr id="7" name="algorithm step"/>
          <p:cNvSpPr/>
          <p:nvPr/>
        </p:nvSpPr>
        <p:spPr>
          <a:xfrm>
            <a:off x="3246120" y="1188720"/>
            <a:ext cx="2606040" cy="1463040"/>
          </a:xfrm>
          <a:prstGeom prst="rect">
            <a:avLst/>
          </a:prstGeom>
          <a:solidFill>
            <a:srgbClr val="EEF2F7"/>
          </a:solidFill>
          <a:ln w="9525">
            <a:solidFill>
              <a:srgbClr val="B8C4D6"/>
            </a:solidFill>
            <a:prstDash val="solid"/>
          </a:ln>
        </p:spPr>
      </p:sp>
      <p:sp>
        <p:nvSpPr>
          <p:cNvPr id="8" name="Text 6"/>
          <p:cNvSpPr txBox="1"/>
          <p:nvPr/>
        </p:nvSpPr>
        <p:spPr>
          <a:xfrm>
            <a:off x="342900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2</a:t>
            </a:r>
            <a:endParaRPr lang="en-US" sz="2400" dirty="0"/>
          </a:p>
        </p:txBody>
      </p:sp>
      <p:sp>
        <p:nvSpPr>
          <p:cNvPr id="9" name="Text 7"/>
          <p:cNvSpPr txBox="1"/>
          <p:nvPr/>
        </p:nvSpPr>
        <p:spPr>
          <a:xfrm>
            <a:off x="388620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Measure distance</a:t>
            </a:r>
            <a:endParaRPr lang="en-US" sz="1600" dirty="0"/>
          </a:p>
        </p:txBody>
      </p:sp>
      <p:sp>
        <p:nvSpPr>
          <p:cNvPr id="10" name="Text 8"/>
          <p:cNvSpPr txBox="1"/>
          <p:nvPr/>
        </p:nvSpPr>
        <p:spPr>
          <a:xfrm>
            <a:off x="342900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Trigger, pulseIn() with 30 ms timeout, d = t × 0.034 / 2</a:t>
            </a:r>
            <a:endParaRPr lang="en-US" sz="1300" dirty="0"/>
          </a:p>
        </p:txBody>
      </p:sp>
      <p:sp>
        <p:nvSpPr>
          <p:cNvPr id="11" name="algorithm step"/>
          <p:cNvSpPr/>
          <p:nvPr/>
        </p:nvSpPr>
        <p:spPr>
          <a:xfrm>
            <a:off x="6035040" y="1188720"/>
            <a:ext cx="2606040" cy="1463040"/>
          </a:xfrm>
          <a:prstGeom prst="rect">
            <a:avLst/>
          </a:prstGeom>
          <a:solidFill>
            <a:srgbClr val="EEF2F7"/>
          </a:solidFill>
          <a:ln w="9525">
            <a:solidFill>
              <a:srgbClr val="B8C4D6"/>
            </a:solidFill>
            <a:prstDash val="solid"/>
          </a:ln>
        </p:spPr>
      </p:sp>
      <p:sp>
        <p:nvSpPr>
          <p:cNvPr id="12" name="Text 10"/>
          <p:cNvSpPr txBox="1"/>
          <p:nvPr/>
        </p:nvSpPr>
        <p:spPr>
          <a:xfrm>
            <a:off x="621792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3</a:t>
            </a:r>
            <a:endParaRPr lang="en-US" sz="2400" dirty="0"/>
          </a:p>
        </p:txBody>
      </p:sp>
      <p:sp>
        <p:nvSpPr>
          <p:cNvPr id="13" name="Text 11"/>
          <p:cNvSpPr txBox="1"/>
          <p:nvPr/>
        </p:nvSpPr>
        <p:spPr>
          <a:xfrm>
            <a:off x="667512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Read moisture</a:t>
            </a:r>
            <a:endParaRPr lang="en-US" sz="1600" dirty="0"/>
          </a:p>
        </p:txBody>
      </p:sp>
      <p:sp>
        <p:nvSpPr>
          <p:cNvPr id="14" name="Text 12"/>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m = analogRead(A0), 0–1023</a:t>
            </a:r>
            <a:endParaRPr lang="en-US" sz="1300" dirty="0"/>
          </a:p>
        </p:txBody>
      </p:sp>
      <p:sp>
        <p:nvSpPr>
          <p:cNvPr id="15" name="algorithm step"/>
          <p:cNvSpPr/>
          <p:nvPr/>
        </p:nvSpPr>
        <p:spPr>
          <a:xfrm>
            <a:off x="457200" y="2880360"/>
            <a:ext cx="2606040" cy="1463040"/>
          </a:xfrm>
          <a:prstGeom prst="rect">
            <a:avLst/>
          </a:prstGeom>
          <a:solidFill>
            <a:srgbClr val="FDECEA"/>
          </a:solidFill>
          <a:ln w="9525">
            <a:solidFill>
              <a:srgbClr val="B8C4D6"/>
            </a:solidFill>
            <a:prstDash val="solid"/>
          </a:ln>
        </p:spPr>
      </p:sp>
      <p:sp>
        <p:nvSpPr>
          <p:cNvPr id="16" name="Text 14"/>
          <p:cNvSpPr txBox="1"/>
          <p:nvPr/>
        </p:nvSpPr>
        <p:spPr>
          <a:xfrm>
            <a:off x="64008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4</a:t>
            </a:r>
            <a:endParaRPr lang="en-US" sz="2400" dirty="0"/>
          </a:p>
        </p:txBody>
      </p:sp>
      <p:sp>
        <p:nvSpPr>
          <p:cNvPr id="17" name="Text 15"/>
          <p:cNvSpPr txBox="1"/>
          <p:nvPr/>
        </p:nvSpPr>
        <p:spPr>
          <a:xfrm>
            <a:off x="109728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Water?</a:t>
            </a:r>
            <a:endParaRPr lang="en-US" sz="1600" dirty="0"/>
          </a:p>
        </p:txBody>
      </p:sp>
      <p:sp>
        <p:nvSpPr>
          <p:cNvPr id="18" name="Text 16"/>
          <p:cNvSpPr txBox="1"/>
          <p:nvPr/>
        </p:nvSpPr>
        <p:spPr>
          <a:xfrm>
            <a:off x="64008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If m &lt; 500, buzzer ON continuously</a:t>
            </a:r>
            <a:endParaRPr lang="en-US" sz="1300" dirty="0"/>
          </a:p>
        </p:txBody>
      </p:sp>
      <p:sp>
        <p:nvSpPr>
          <p:cNvPr id="19" name="algorithm step"/>
          <p:cNvSpPr/>
          <p:nvPr/>
        </p:nvSpPr>
        <p:spPr>
          <a:xfrm>
            <a:off x="3246120" y="2880360"/>
            <a:ext cx="2606040" cy="1463040"/>
          </a:xfrm>
          <a:prstGeom prst="rect">
            <a:avLst/>
          </a:prstGeom>
          <a:solidFill>
            <a:srgbClr val="FFF3E0"/>
          </a:solidFill>
          <a:ln w="9525">
            <a:solidFill>
              <a:srgbClr val="B8C4D6"/>
            </a:solidFill>
            <a:prstDash val="solid"/>
          </a:ln>
        </p:spPr>
      </p:sp>
      <p:sp>
        <p:nvSpPr>
          <p:cNvPr id="20" name="Text 18"/>
          <p:cNvSpPr txBox="1"/>
          <p:nvPr/>
        </p:nvSpPr>
        <p:spPr>
          <a:xfrm>
            <a:off x="342900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5</a:t>
            </a:r>
            <a:endParaRPr lang="en-US" sz="2400" dirty="0"/>
          </a:p>
        </p:txBody>
      </p:sp>
      <p:sp>
        <p:nvSpPr>
          <p:cNvPr id="21" name="Text 19"/>
          <p:cNvSpPr txBox="1"/>
          <p:nvPr/>
        </p:nvSpPr>
        <p:spPr>
          <a:xfrm>
            <a:off x="388620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Obstacle?</a:t>
            </a:r>
            <a:endParaRPr lang="en-US" sz="1600" dirty="0"/>
          </a:p>
        </p:txBody>
      </p:sp>
      <p:sp>
        <p:nvSpPr>
          <p:cNvPr id="22" name="Text 20"/>
          <p:cNvSpPr txBox="1"/>
          <p:nvPr/>
        </p:nvSpPr>
        <p:spPr>
          <a:xfrm>
            <a:off x="342900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if 0 &lt; d &lt; 50, beep 50 ms, wait map(d) = 50–400 ms</a:t>
            </a:r>
            <a:endParaRPr lang="en-US" sz="1300" dirty="0"/>
          </a:p>
        </p:txBody>
      </p:sp>
      <p:sp>
        <p:nvSpPr>
          <p:cNvPr id="23" name="algorithm step"/>
          <p:cNvSpPr/>
          <p:nvPr/>
        </p:nvSpPr>
        <p:spPr>
          <a:xfrm>
            <a:off x="6035040" y="2880360"/>
            <a:ext cx="2606040" cy="1463040"/>
          </a:xfrm>
          <a:prstGeom prst="rect">
            <a:avLst/>
          </a:prstGeom>
          <a:solidFill>
            <a:srgbClr val="E6F4EA"/>
          </a:solidFill>
          <a:ln w="9525">
            <a:solidFill>
              <a:srgbClr val="B8C4D6"/>
            </a:solidFill>
            <a:prstDash val="solid"/>
          </a:ln>
        </p:spPr>
      </p:sp>
      <p:sp>
        <p:nvSpPr>
          <p:cNvPr id="24" name="Text 22"/>
          <p:cNvSpPr txBox="1"/>
          <p:nvPr/>
        </p:nvSpPr>
        <p:spPr>
          <a:xfrm>
            <a:off x="621792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6</a:t>
            </a:r>
            <a:endParaRPr lang="en-US" sz="2400" dirty="0"/>
          </a:p>
        </p:txBody>
      </p:sp>
      <p:sp>
        <p:nvSpPr>
          <p:cNvPr id="25" name="Text 23"/>
          <p:cNvSpPr txBox="1"/>
          <p:nvPr/>
        </p:nvSpPr>
        <p:spPr>
          <a:xfrm>
            <a:off x="667512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Clear</a:t>
            </a:r>
            <a:endParaRPr lang="en-US" sz="1600" dirty="0"/>
          </a:p>
        </p:txBody>
      </p:sp>
      <p:sp>
        <p:nvSpPr>
          <p:cNvPr id="26" name="Text 24"/>
          <p:cNvSpPr txBox="1"/>
          <p:nvPr/>
        </p:nvSpPr>
        <p:spPr>
          <a:xfrm>
            <a:off x="621792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buzzer OFF; wait 30 ms and repeat</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Data flow graph</a:t>
            </a:r>
            <a:endParaRPr lang="en-US" sz="3000" dirty="0"/>
          </a:p>
        </p:txBody>
      </p:sp>
      <p:pic>
        <p:nvPicPr>
          <p:cNvPr id="3" name="data flow graph" descr="img/dfg.png">    </p:cNvPr>
          <p:cNvPicPr>
            <a:picLocks noChangeAspect="1"/>
          </p:cNvPicPr>
          <p:nvPr/>
        </p:nvPicPr>
        <p:blipFill>
          <a:blip r:embed="rId1"/>
          <a:stretch>
            <a:fillRect/>
          </a:stretch>
        </p:blipFill>
        <p:spPr>
          <a:xfrm>
            <a:off x="984738" y="1051560"/>
            <a:ext cx="7174523"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Echo time t becomes distance d, which feeds two branches (near, and beep gap g); moisture m becomes wet. The priority select drives the buzzer.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State diagram</a:t>
            </a:r>
            <a:endParaRPr lang="en-US" sz="3000" dirty="0"/>
          </a:p>
        </p:txBody>
      </p:sp>
      <p:pic>
        <p:nvPicPr>
          <p:cNvPr id="3" name="state diagram" descr="img/state.png">    </p:cNvPr>
          <p:cNvPicPr>
            <a:picLocks noChangeAspect="1"/>
          </p:cNvPicPr>
          <p:nvPr/>
        </p:nvPicPr>
        <p:blipFill>
          <a:blip r:embed="rId1"/>
          <a:stretch>
            <a:fillRect/>
          </a:stretch>
        </p:blipFill>
        <p:spPr>
          <a:xfrm>
            <a:off x="1360449" y="1051560"/>
            <a:ext cx="6423102"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Every loop the system senses, then enters exactly one state: WATER, OBSTACLE or CLEAR. Water always wins.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Key code logic</a:t>
            </a:r>
            <a:endParaRPr lang="en-US" sz="3000" dirty="0"/>
          </a:p>
        </p:txBody>
      </p:sp>
      <p:sp>
        <p:nvSpPr>
          <p:cNvPr id="3" name="code box"/>
          <p:cNvSpPr/>
          <p:nvPr/>
        </p:nvSpPr>
        <p:spPr>
          <a:xfrm>
            <a:off x="457200" y="1188720"/>
            <a:ext cx="5120640" cy="3383280"/>
          </a:xfrm>
          <a:prstGeom prst="rect">
            <a:avLst/>
          </a:prstGeom>
          <a:solidFill>
            <a:schemeClr val="tx2"/>
          </a:solidFill>
          <a:ln w="9525">
            <a:solidFill>
              <a:srgbClr val="B8C4D6"/>
            </a:solidFill>
            <a:prstDash val="solid"/>
          </a:ln>
        </p:spPr>
      </p:sp>
      <p:sp>
        <p:nvSpPr>
          <p:cNvPr id="4" name="Text 2"/>
          <p:cNvSpPr txBox="1"/>
          <p:nvPr/>
        </p:nvSpPr>
        <p:spPr>
          <a:xfrm>
            <a:off x="685800" y="1325880"/>
            <a:ext cx="4754880" cy="315468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int readDistanceCm()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HIGH);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delayMicroseconds(10);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LOW);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unsigned long 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pulseIn(ECHO_PIN, HIGH, 30000);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t * 0.034 / 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if (soil &lt; 500)        // water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buzzer ON (continuous);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if (d &gt; 0 &amp;&amp; d &lt; 50)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beep, gap = map(d,2,50,50,400);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buzzer OFF;     // clear</a:t>
            </a:r>
            <a:endParaRPr lang="en-US" sz="1200" dirty="0"/>
          </a:p>
        </p:txBody>
      </p:sp>
      <p:sp>
        <p:nvSpPr>
          <p:cNvPr id="5" name="explanation card"/>
          <p:cNvSpPr/>
          <p:nvPr/>
        </p:nvSpPr>
        <p:spPr>
          <a:xfrm>
            <a:off x="5852160" y="1188720"/>
            <a:ext cx="2834640" cy="1005840"/>
          </a:xfrm>
          <a:prstGeom prst="rect">
            <a:avLst/>
          </a:prstGeom>
          <a:solidFill>
            <a:schemeClr val="bg2"/>
          </a:solidFill>
          <a:ln w="9525">
            <a:solidFill>
              <a:srgbClr val="B8C4D6"/>
            </a:solidFill>
            <a:prstDash val="solid"/>
          </a:ln>
        </p:spPr>
      </p:sp>
      <p:sp>
        <p:nvSpPr>
          <p:cNvPr id="6" name="Text 4"/>
          <p:cNvSpPr txBox="1"/>
          <p:nvPr/>
        </p:nvSpPr>
        <p:spPr>
          <a:xfrm>
            <a:off x="6035040" y="1298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pulseIn() timeout</a:t>
            </a:r>
            <a:endParaRPr lang="en-US" sz="1500" dirty="0"/>
          </a:p>
        </p:txBody>
      </p:sp>
      <p:sp>
        <p:nvSpPr>
          <p:cNvPr id="7" name="Text 5"/>
          <p:cNvSpPr txBox="1"/>
          <p:nvPr/>
        </p:nvSpPr>
        <p:spPr>
          <a:xfrm>
            <a:off x="6035040" y="1627632"/>
            <a:ext cx="2560320" cy="548640"/>
          </a:xfrm>
          <a:prstGeom prst="rect">
            <a:avLst/>
          </a:prstGeom>
          <a:noFill/>
          <a:ln/>
        </p:spPr>
        <p:txBody>
          <a:bodyPr wrap="square" lIns="0" tIns="0" rIns="0" bIns="0" rtlCol="0" anchor="t"/>
          <a:lstStyle/>
          <a:p>
            <a:pPr indent="0" marL="0">
              <a:buNone/>
            </a:pPr>
            <a:r>
              <a:rPr lang="en-US" sz="1200" dirty="0">
                <a:solidFill>
                  <a:schemeClr val="tx1"/>
                </a:solidFill>
              </a:rPr>
              <a:t>30 ms, so a missed echo cannot freeze the loop</a:t>
            </a:r>
            <a:endParaRPr lang="en-US" sz="1200" dirty="0"/>
          </a:p>
        </p:txBody>
      </p:sp>
      <p:sp>
        <p:nvSpPr>
          <p:cNvPr id="8" name="explanation card"/>
          <p:cNvSpPr/>
          <p:nvPr/>
        </p:nvSpPr>
        <p:spPr>
          <a:xfrm>
            <a:off x="5852160" y="2331720"/>
            <a:ext cx="2834640" cy="1005840"/>
          </a:xfrm>
          <a:prstGeom prst="rect">
            <a:avLst/>
          </a:prstGeom>
          <a:solidFill>
            <a:schemeClr val="bg2"/>
          </a:solidFill>
          <a:ln w="9525">
            <a:solidFill>
              <a:srgbClr val="B8C4D6"/>
            </a:solidFill>
            <a:prstDash val="solid"/>
          </a:ln>
        </p:spPr>
      </p:sp>
      <p:sp>
        <p:nvSpPr>
          <p:cNvPr id="9" name="Text 7"/>
          <p:cNvSpPr txBox="1"/>
          <p:nvPr/>
        </p:nvSpPr>
        <p:spPr>
          <a:xfrm>
            <a:off x="6035040" y="2441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0.034 / 2</a:t>
            </a:r>
            <a:endParaRPr lang="en-US" sz="1500" dirty="0"/>
          </a:p>
        </p:txBody>
      </p:sp>
      <p:sp>
        <p:nvSpPr>
          <p:cNvPr id="10" name="Text 8"/>
          <p:cNvSpPr txBox="1"/>
          <p:nvPr/>
        </p:nvSpPr>
        <p:spPr>
          <a:xfrm>
            <a:off x="6035040" y="2770632"/>
            <a:ext cx="2560320" cy="548640"/>
          </a:xfrm>
          <a:prstGeom prst="rect">
            <a:avLst/>
          </a:prstGeom>
          <a:noFill/>
          <a:ln/>
        </p:spPr>
        <p:txBody>
          <a:bodyPr wrap="square" lIns="0" tIns="0" rIns="0" bIns="0" rtlCol="0" anchor="t"/>
          <a:lstStyle/>
          <a:p>
            <a:pPr indent="0" marL="0">
              <a:buNone/>
            </a:pPr>
            <a:r>
              <a:rPr lang="en-US" sz="1200" dirty="0">
                <a:solidFill>
                  <a:schemeClr val="tx1"/>
                </a:solidFill>
              </a:rPr>
              <a:t>Speed of sound in cm/µs, halved for the round trip</a:t>
            </a:r>
            <a:endParaRPr lang="en-US" sz="1200" dirty="0"/>
          </a:p>
        </p:txBody>
      </p:sp>
      <p:sp>
        <p:nvSpPr>
          <p:cNvPr id="11" name="explanation card"/>
          <p:cNvSpPr/>
          <p:nvPr/>
        </p:nvSpPr>
        <p:spPr>
          <a:xfrm>
            <a:off x="5852160" y="3474720"/>
            <a:ext cx="2834640" cy="1005840"/>
          </a:xfrm>
          <a:prstGeom prst="rect">
            <a:avLst/>
          </a:prstGeom>
          <a:solidFill>
            <a:schemeClr val="bg2"/>
          </a:solidFill>
          <a:ln w="9525">
            <a:solidFill>
              <a:srgbClr val="B8C4D6"/>
            </a:solidFill>
            <a:prstDash val="solid"/>
          </a:ln>
        </p:spPr>
      </p:sp>
      <p:sp>
        <p:nvSpPr>
          <p:cNvPr id="12" name="Text 10"/>
          <p:cNvSpPr txBox="1"/>
          <p:nvPr/>
        </p:nvSpPr>
        <p:spPr>
          <a:xfrm>
            <a:off x="6035040" y="3584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map()</a:t>
            </a:r>
            <a:endParaRPr lang="en-US" sz="1500" dirty="0"/>
          </a:p>
        </p:txBody>
      </p:sp>
      <p:sp>
        <p:nvSpPr>
          <p:cNvPr id="13" name="Text 11"/>
          <p:cNvSpPr txBox="1"/>
          <p:nvPr/>
        </p:nvSpPr>
        <p:spPr>
          <a:xfrm>
            <a:off x="6035040" y="3913632"/>
            <a:ext cx="2560320" cy="548640"/>
          </a:xfrm>
          <a:prstGeom prst="rect">
            <a:avLst/>
          </a:prstGeom>
          <a:noFill/>
          <a:ln/>
        </p:spPr>
        <p:txBody>
          <a:bodyPr wrap="square" lIns="0" tIns="0" rIns="0" bIns="0" rtlCol="0" anchor="t"/>
          <a:lstStyle/>
          <a:p>
            <a:pPr indent="0" marL="0">
              <a:buNone/>
            </a:pPr>
            <a:r>
              <a:rPr lang="en-US" sz="1200" dirty="0">
                <a:solidFill>
                  <a:schemeClr val="tx1"/>
                </a:solidFill>
              </a:rPr>
              <a:t>Turns 2–50 cm into a 50–400 ms beep gap</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Prototype and assembly</a:t>
            </a:r>
            <a:endParaRPr lang="en-US" sz="3000" dirty="0"/>
          </a:p>
        </p:txBody>
      </p:sp>
      <p:pic>
        <p:nvPicPr>
          <p:cNvPr id="3" name="prototype photo" descr="img/new_front.jpg">    </p:cNvPr>
          <p:cNvPicPr>
            <a:picLocks noChangeAspect="1"/>
          </p:cNvPicPr>
          <p:nvPr/>
        </p:nvPicPr>
        <p:blipFill>
          <a:blip r:embed="rId1"/>
          <a:stretch>
            <a:fillRect/>
          </a:stretch>
        </p:blipFill>
        <p:spPr>
          <a:xfrm>
            <a:off x="457200" y="1104819"/>
            <a:ext cx="2377440" cy="3157890"/>
          </a:xfrm>
          <a:prstGeom prst="rect">
            <a:avLst/>
          </a:prstGeom>
        </p:spPr>
      </p:pic>
      <p:sp>
        <p:nvSpPr>
          <p:cNvPr id="4" name="Text 1"/>
          <p:cNvSpPr txBox="1"/>
          <p:nvPr/>
        </p:nvSpPr>
        <p:spPr>
          <a:xfrm>
            <a:off x="457200" y="4317573"/>
            <a:ext cx="2377440" cy="274320"/>
          </a:xfrm>
          <a:prstGeom prst="rect">
            <a:avLst/>
          </a:prstGeom>
          <a:noFill/>
          <a:ln/>
        </p:spPr>
        <p:txBody>
          <a:bodyPr wrap="square" lIns="0" tIns="0" rIns="0" bIns="0" rtlCol="0" anchor="t"/>
          <a:lstStyle/>
          <a:p>
            <a:pPr algn="ctr" indent="0" marL="0">
              <a:buNone/>
            </a:pPr>
            <a:r>
              <a:rPr lang="en-US" sz="1000" i="1" dirty="0">
                <a:solidFill>
                  <a:schemeClr val="accent5"/>
                </a:solidFill>
              </a:rPr>
              <a:t>Sensor, Nano, buzzer and switch</a:t>
            </a:r>
            <a:endParaRPr lang="en-US" sz="1000" dirty="0"/>
          </a:p>
        </p:txBody>
      </p:sp>
      <p:pic>
        <p:nvPicPr>
          <p:cNvPr id="5" name="prototype photo" descr="img/new_side.jpg">    </p:cNvPr>
          <p:cNvPicPr>
            <a:picLocks noChangeAspect="1"/>
          </p:cNvPicPr>
          <p:nvPr/>
        </p:nvPicPr>
        <p:blipFill>
          <a:blip r:embed="rId2"/>
          <a:stretch>
            <a:fillRect/>
          </a:stretch>
        </p:blipFill>
        <p:spPr>
          <a:xfrm>
            <a:off x="2971800" y="1104819"/>
            <a:ext cx="2377440" cy="3157890"/>
          </a:xfrm>
          <a:prstGeom prst="rect">
            <a:avLst/>
          </a:prstGeom>
        </p:spPr>
      </p:pic>
      <p:sp>
        <p:nvSpPr>
          <p:cNvPr id="6" name="Text 2"/>
          <p:cNvSpPr txBox="1"/>
          <p:nvPr/>
        </p:nvSpPr>
        <p:spPr>
          <a:xfrm>
            <a:off x="2971800" y="4317573"/>
            <a:ext cx="2377440" cy="274320"/>
          </a:xfrm>
          <a:prstGeom prst="rect">
            <a:avLst/>
          </a:prstGeom>
          <a:noFill/>
          <a:ln/>
        </p:spPr>
        <p:txBody>
          <a:bodyPr wrap="square" lIns="0" tIns="0" rIns="0" bIns="0" rtlCol="0" anchor="t"/>
          <a:lstStyle/>
          <a:p>
            <a:pPr algn="ctr" indent="0" marL="0">
              <a:buNone/>
            </a:pPr>
            <a:r>
              <a:rPr lang="en-US" sz="1000" i="1" dirty="0">
                <a:solidFill>
                  <a:schemeClr val="accent5"/>
                </a:solidFill>
              </a:rPr>
              <a:t>Jumpers on header pins, 220 µF capacitor</a:t>
            </a:r>
            <a:endParaRPr lang="en-US" sz="1000" dirty="0"/>
          </a:p>
        </p:txBody>
      </p:sp>
      <p:sp>
        <p:nvSpPr>
          <p:cNvPr id="7" name="Text 3"/>
          <p:cNvSpPr txBox="1"/>
          <p:nvPr/>
        </p:nvSpPr>
        <p:spPr>
          <a:xfrm>
            <a:off x="5532120" y="1143000"/>
            <a:ext cx="3154680" cy="3474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Male header pins soldered onto the Nano</a:t>
            </a:r>
            <a:endParaRPr lang="en-US" sz="1400" dirty="0"/>
          </a:p>
          <a:p>
            <a:pPr marL="342900" indent="-342900">
              <a:spcAft>
                <a:spcPts val="800"/>
              </a:spcAft>
              <a:buSzPct val="100000"/>
              <a:buChar char="•"/>
            </a:pPr>
            <a:r>
              <a:rPr lang="en-US" sz="1400" dirty="0">
                <a:solidFill>
                  <a:schemeClr val="tx1"/>
                </a:solidFill>
              </a:rPr>
              <a:t>Sensors joined with female jumper wires: Trig D5, Echo D6, moisture A0</a:t>
            </a:r>
            <a:endParaRPr lang="en-US" sz="1400" dirty="0"/>
          </a:p>
          <a:p>
            <a:pPr marL="342900" indent="-342900">
              <a:spcAft>
                <a:spcPts val="800"/>
              </a:spcAft>
              <a:buSzPct val="100000"/>
              <a:buChar char="•"/>
            </a:pPr>
            <a:r>
              <a:rPr lang="en-US" sz="1400" dirty="0">
                <a:solidFill>
                  <a:schemeClr val="tx1"/>
                </a:solidFill>
              </a:rPr>
              <a:t>Power wires, buzzer and 220 µF capacitor soldered</a:t>
            </a:r>
            <a:endParaRPr lang="en-US" sz="1400" dirty="0"/>
          </a:p>
          <a:p>
            <a:pPr marL="342900" indent="-342900">
              <a:spcAft>
                <a:spcPts val="800"/>
              </a:spcAft>
              <a:buSzPct val="100000"/>
              <a:buChar char="•"/>
            </a:pPr>
            <a:r>
              <a:rPr lang="en-US" sz="1400" dirty="0">
                <a:solidFill>
                  <a:schemeClr val="tx1"/>
                </a:solidFill>
              </a:rPr>
              <a:t>Parts hot-glued to the PVC pipe; HC-SR04 on a foam spacer; battery cable-tied</a:t>
            </a:r>
            <a:endParaRPr lang="en-US" sz="1400" dirty="0"/>
          </a:p>
          <a:p>
            <a:pPr marL="342900" indent="-342900">
              <a:spcAft>
                <a:spcPts val="800"/>
              </a:spcAft>
              <a:buSzPct val="100000"/>
              <a:buChar char="•"/>
            </a:pPr>
            <a:r>
              <a:rPr lang="en-US" sz="1400" dirty="0">
                <a:solidFill>
                  <a:schemeClr val="tx1"/>
                </a:solidFill>
              </a:rPr>
              <a:t>No breadboard in the final build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Testing and results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377440"/>
                <a:gridCol w="2651760"/>
                <a:gridCol w="1371600"/>
              </a:tblGrid>
              <a:tr h="457200">
                <a:tc>
                  <a:txBody>
                    <a:bodyPr/>
                    <a:lstStyle/>
                    <a:p>
                      <a:pPr indent="0" marL="0">
                        <a:buNone/>
                      </a:pPr>
                      <a:r>
                        <a:rPr lang="en-US" sz="1400" b="1" dirty="0">
                          <a:solidFill>
                            <a:schemeClr val="bg1"/>
                          </a:solidFill>
                        </a:rPr>
                        <a:t>Test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Method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Power on battery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Switch ON, no USB</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Nano LED on, system runs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Obstacle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Move a notebook from 60 to 5 cm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Beeps under 50 cm, faster when closer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Path clear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Point at open space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Silent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Water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Dip probe tip in water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Calibrating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Priority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Water + obstacle together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 (water wins)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ext 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Update the Result column after the Serial Monitor tests (dry and wet readings).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Cost of the cane hardware</a:t>
            </a:r>
            <a:endParaRPr lang="en-US" sz="3000" dirty="0"/>
          </a:p>
        </p:txBody>
      </p:sp>
      <p:graphicFrame>
        <p:nvGraphicFramePr>
          <p:cNvPr id="3" name="Chart 0" descr=""/>
          <p:cNvGraphicFramePr/>
          <p:nvPr/>
        </p:nvGraphicFramePr>
        <p:xfrm>
          <a:off x="457200" y="109728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total card"/>
          <p:cNvSpPr/>
          <p:nvPr/>
        </p:nvSpPr>
        <p:spPr>
          <a:xfrm>
            <a:off x="6126480" y="1188720"/>
            <a:ext cx="2560320" cy="1554480"/>
          </a:xfrm>
          <a:prstGeom prst="rect">
            <a:avLst/>
          </a:prstGeom>
          <a:solidFill>
            <a:schemeClr val="tx2"/>
          </a:solidFill>
          <a:ln w="9525">
            <a:solidFill>
              <a:srgbClr val="B8C4D6"/>
            </a:solidFill>
            <a:prstDash val="solid"/>
          </a:ln>
        </p:spPr>
      </p:sp>
      <p:sp>
        <p:nvSpPr>
          <p:cNvPr id="5" name="Text 2"/>
          <p:cNvSpPr txBox="1"/>
          <p:nvPr/>
        </p:nvSpPr>
        <p:spPr>
          <a:xfrm>
            <a:off x="6309360" y="1325880"/>
            <a:ext cx="2194560" cy="73152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₹876</a:t>
            </a:r>
            <a:endParaRPr lang="en-US" sz="4000" dirty="0"/>
          </a:p>
        </p:txBody>
      </p:sp>
      <p:sp>
        <p:nvSpPr>
          <p:cNvPr id="6" name="Text 3"/>
          <p:cNvSpPr txBox="1"/>
          <p:nvPr/>
        </p:nvSpPr>
        <p:spPr>
          <a:xfrm>
            <a:off x="6309360" y="2103120"/>
            <a:ext cx="2194560" cy="365760"/>
          </a:xfrm>
          <a:prstGeom prst="rect">
            <a:avLst/>
          </a:prstGeom>
          <a:noFill/>
          <a:ln/>
        </p:spPr>
        <p:txBody>
          <a:bodyPr wrap="square" lIns="0" tIns="0" rIns="0" bIns="0" rtlCol="0" anchor="t"/>
          <a:lstStyle/>
          <a:p>
            <a:pPr indent="0" marL="0">
              <a:buNone/>
            </a:pPr>
            <a:r>
              <a:rPr lang="en-US" sz="1400" dirty="0">
                <a:solidFill>
                  <a:schemeClr val="bg1"/>
                </a:solidFill>
              </a:rPr>
              <a:t>total cane hardware</a:t>
            </a:r>
            <a:endParaRPr lang="en-US" sz="1400" dirty="0"/>
          </a:p>
        </p:txBody>
      </p:sp>
      <p:sp>
        <p:nvSpPr>
          <p:cNvPr id="7" name="Text 4"/>
          <p:cNvSpPr txBox="1"/>
          <p:nvPr/>
        </p:nvSpPr>
        <p:spPr>
          <a:xfrm>
            <a:off x="6126480" y="2926080"/>
            <a:ext cx="2560320" cy="1554480"/>
          </a:xfrm>
          <a:prstGeom prst="rect">
            <a:avLst/>
          </a:prstGeom>
          <a:noFill/>
          <a:ln/>
        </p:spPr>
        <p:txBody>
          <a:bodyPr wrap="square" lIns="0" tIns="0" rIns="0" bIns="0" rtlCol="0" anchor="t"/>
          <a:lstStyle/>
          <a:p>
            <a:pPr indent="0" marL="0">
              <a:buNone/>
            </a:pPr>
            <a:r>
              <a:rPr lang="en-US" sz="1300" dirty="0">
                <a:solidFill>
                  <a:schemeClr val="accent5"/>
                </a:solidFill>
              </a:rPr>
              <a:t>₹1,805 including tools (₹660) and parts for planned upgrades (₹269). Prices from the supplier invoice; buzzer and PVC body estimated.</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Advantages and limitations</a:t>
            </a:r>
            <a:endParaRPr lang="en-US" sz="3000" dirty="0"/>
          </a:p>
        </p:txBody>
      </p:sp>
      <p:sp>
        <p:nvSpPr>
          <p:cNvPr id="3" name="advantages"/>
          <p:cNvSpPr/>
          <p:nvPr/>
        </p:nvSpPr>
        <p:spPr>
          <a:xfrm>
            <a:off x="457200" y="1188720"/>
            <a:ext cx="4023360" cy="3383280"/>
          </a:xfrm>
          <a:prstGeom prst="rect">
            <a:avLst/>
          </a:prstGeom>
          <a:solidFill>
            <a:srgbClr val="E6F4EA"/>
          </a:solidFill>
          <a:ln w="9525">
            <a:solidFill>
              <a:srgbClr val="B8C4D6"/>
            </a:solidFill>
            <a:prstDash val="solid"/>
          </a:ln>
        </p:spPr>
      </p:sp>
      <p:sp>
        <p:nvSpPr>
          <p:cNvPr id="4" name="limitations"/>
          <p:cNvSpPr/>
          <p:nvPr/>
        </p:nvSpPr>
        <p:spPr>
          <a:xfrm>
            <a:off x="4663440" y="1188720"/>
            <a:ext cx="4023360" cy="3383280"/>
          </a:xfrm>
          <a:prstGeom prst="rect">
            <a:avLst/>
          </a:prstGeom>
          <a:solidFill>
            <a:srgbClr val="FDECEA"/>
          </a:solidFill>
          <a:ln w="9525">
            <a:solidFill>
              <a:srgbClr val="B8C4D6"/>
            </a:solidFill>
            <a:prstDash val="solid"/>
          </a:ln>
        </p:spPr>
      </p:sp>
      <p:pic>
        <p:nvPicPr>
          <p:cNvPr id="5" name="icon" descr="preencoded.png">    </p:cNvPr>
          <p:cNvPicPr>
            <a:picLocks noChangeAspect="1"/>
          </p:cNvPicPr>
          <p:nvPr/>
        </p:nvPicPr>
        <p:blipFill>
          <a:blip r:embed="rId1"/>
          <a:stretch>
            <a:fillRect/>
          </a:stretch>
        </p:blipFill>
        <p:spPr>
          <a:xfrm>
            <a:off x="731520" y="1417320"/>
            <a:ext cx="342900" cy="342900"/>
          </a:xfrm>
          <a:prstGeom prst="rect">
            <a:avLst/>
          </a:prstGeom>
        </p:spPr>
      </p:pic>
      <p:pic>
        <p:nvPicPr>
          <p:cNvPr id="6" name="icon" descr="preencoded.png">    </p:cNvPr>
          <p:cNvPicPr>
            <a:picLocks noChangeAspect="1"/>
          </p:cNvPicPr>
          <p:nvPr/>
        </p:nvPicPr>
        <p:blipFill>
          <a:blip r:embed="rId2"/>
          <a:stretch>
            <a:fillRect/>
          </a:stretch>
        </p:blipFill>
        <p:spPr>
          <a:xfrm>
            <a:off x="4937760" y="1417320"/>
            <a:ext cx="342900" cy="342900"/>
          </a:xfrm>
          <a:prstGeom prst="rect">
            <a:avLst/>
          </a:prstGeom>
        </p:spPr>
      </p:pic>
      <p:sp>
        <p:nvSpPr>
          <p:cNvPr id="7" name="Text 3"/>
          <p:cNvSpPr txBox="1"/>
          <p:nvPr/>
        </p:nvSpPr>
        <p:spPr>
          <a:xfrm>
            <a:off x="128016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Advantages</a:t>
            </a:r>
            <a:endParaRPr lang="en-US" sz="1800" dirty="0"/>
          </a:p>
        </p:txBody>
      </p:sp>
      <p:sp>
        <p:nvSpPr>
          <p:cNvPr id="8" name="Text 4"/>
          <p:cNvSpPr txBox="1"/>
          <p:nvPr/>
        </p:nvSpPr>
        <p:spPr>
          <a:xfrm>
            <a:off x="548640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Limitations</a:t>
            </a:r>
            <a:endParaRPr lang="en-US" sz="1800" dirty="0"/>
          </a:p>
        </p:txBody>
      </p:sp>
      <p:sp>
        <p:nvSpPr>
          <p:cNvPr id="9" name="Text 5"/>
          <p:cNvSpPr txBox="1"/>
          <p:nvPr/>
        </p:nvSpPr>
        <p:spPr>
          <a:xfrm>
            <a:off x="685800" y="2011680"/>
            <a:ext cx="361188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Warns before contact; distance shown by beep rate</a:t>
            </a:r>
            <a:endParaRPr lang="en-US" sz="1400" dirty="0"/>
          </a:p>
          <a:p>
            <a:pPr marL="342900" indent="-342900">
              <a:spcAft>
                <a:spcPts val="800"/>
              </a:spcAft>
              <a:buSzPct val="100000"/>
              <a:buChar char="•"/>
            </a:pPr>
            <a:r>
              <a:rPr lang="en-US" sz="1400" dirty="0">
                <a:solidFill>
                  <a:schemeClr val="tx1"/>
                </a:solidFill>
              </a:rPr>
              <a:t>Detects water and wet mud, unlike most basic smart canes</a:t>
            </a:r>
            <a:endParaRPr lang="en-US" sz="1400" dirty="0"/>
          </a:p>
          <a:p>
            <a:pPr marL="342900" indent="-342900">
              <a:spcAft>
                <a:spcPts val="800"/>
              </a:spcAft>
              <a:buSzPct val="100000"/>
              <a:buChar char="•"/>
            </a:pPr>
            <a:r>
              <a:rPr lang="en-US" sz="1400" dirty="0">
                <a:solidFill>
                  <a:schemeClr val="tx1"/>
                </a:solidFill>
              </a:rPr>
              <a:t>Low cost, local parts, easy to repair</a:t>
            </a:r>
            <a:endParaRPr lang="en-US" sz="1400" dirty="0"/>
          </a:p>
          <a:p>
            <a:pPr marL="342900" indent="-342900">
              <a:spcAft>
                <a:spcPts val="800"/>
              </a:spcAft>
              <a:buSzPct val="100000"/>
              <a:buChar char="•"/>
            </a:pPr>
            <a:r>
              <a:rPr lang="en-US" sz="1400" dirty="0">
                <a:solidFill>
                  <a:schemeClr val="tx1"/>
                </a:solidFill>
              </a:rPr>
              <a:t>Rechargeable battery, simple on/off use</a:t>
            </a:r>
            <a:endParaRPr lang="en-US" sz="1400" dirty="0"/>
          </a:p>
        </p:txBody>
      </p:sp>
      <p:sp>
        <p:nvSpPr>
          <p:cNvPr id="10" name="Text 6"/>
          <p:cNvSpPr txBox="1"/>
          <p:nvPr/>
        </p:nvSpPr>
        <p:spPr>
          <a:xfrm>
            <a:off x="4892040" y="201168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Narrow ~15° beam misses head-level and thin obstacles</a:t>
            </a:r>
            <a:endParaRPr lang="en-US" sz="1400" dirty="0"/>
          </a:p>
          <a:p>
            <a:pPr marL="342900" indent="-342900">
              <a:spcAft>
                <a:spcPts val="600"/>
              </a:spcAft>
              <a:buSzPct val="100000"/>
              <a:buChar char="•"/>
            </a:pPr>
            <a:r>
              <a:rPr lang="en-US" sz="1400" dirty="0">
                <a:solidFill>
                  <a:schemeClr val="tx1"/>
                </a:solidFill>
              </a:rPr>
              <a:t>Water detected only when the tip touches it</a:t>
            </a:r>
            <a:endParaRPr lang="en-US" sz="1400" dirty="0"/>
          </a:p>
          <a:p>
            <a:pPr marL="342900" indent="-342900">
              <a:spcAft>
                <a:spcPts val="600"/>
              </a:spcAft>
              <a:buSzPct val="100000"/>
              <a:buChar char="•"/>
            </a:pPr>
            <a:r>
              <a:rPr lang="en-US" sz="1400" dirty="0">
                <a:solidFill>
                  <a:schemeClr val="tx1"/>
                </a:solidFill>
              </a:rPr>
              <a:t>Resistive probe corrodes over time</a:t>
            </a:r>
            <a:endParaRPr lang="en-US" sz="1400" dirty="0"/>
          </a:p>
          <a:p>
            <a:pPr marL="342900" indent="-342900">
              <a:spcAft>
                <a:spcPts val="600"/>
              </a:spcAft>
              <a:buSzPct val="100000"/>
              <a:buChar char="•"/>
            </a:pPr>
            <a:r>
              <a:rPr lang="en-US" sz="1400" dirty="0">
                <a:solidFill>
                  <a:schemeClr val="tx1"/>
                </a:solidFill>
              </a:rPr>
              <a:t>Unregulated 3.7 V supply, no low-battery warning</a:t>
            </a:r>
            <a:endParaRPr lang="en-US" sz="1400" dirty="0"/>
          </a:p>
          <a:p>
            <a:pPr marL="342900" indent="-342900">
              <a:spcAft>
                <a:spcPts val="600"/>
              </a:spcAft>
              <a:buSzPct val="100000"/>
              <a:buChar char="•"/>
            </a:pPr>
            <a:r>
              <a:rPr lang="en-US" sz="1400" dirty="0">
                <a:solidFill>
                  <a:schemeClr val="tx1"/>
                </a:solidFill>
              </a:rPr>
              <a:t>Buzzer hard to hear in heavy traffic</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Future scope</a:t>
            </a:r>
            <a:endParaRPr lang="en-US" sz="3000" dirty="0"/>
          </a:p>
        </p:txBody>
      </p:sp>
      <p:sp>
        <p:nvSpPr>
          <p:cNvPr id="3" name="future card"/>
          <p:cNvSpPr/>
          <p:nvPr/>
        </p:nvSpPr>
        <p:spPr>
          <a:xfrm>
            <a:off x="457200" y="1188720"/>
            <a:ext cx="2606040" cy="146304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128016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Vibration motor</a:t>
            </a:r>
            <a:endParaRPr lang="en-US" sz="1500" dirty="0"/>
          </a:p>
        </p:txBody>
      </p:sp>
      <p:sp>
        <p:nvSpPr>
          <p:cNvPr id="6" name="Text 3"/>
          <p:cNvSpPr txBox="1"/>
          <p:nvPr/>
        </p:nvSpPr>
        <p:spPr>
          <a:xfrm>
            <a:off x="64008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Silent haptic alerts via the IRLZ44N MOSFET</a:t>
            </a:r>
            <a:endParaRPr lang="en-US" sz="1300" dirty="0"/>
          </a:p>
        </p:txBody>
      </p:sp>
      <p:sp>
        <p:nvSpPr>
          <p:cNvPr id="7" name="future card"/>
          <p:cNvSpPr/>
          <p:nvPr/>
        </p:nvSpPr>
        <p:spPr>
          <a:xfrm>
            <a:off x="3246120" y="1188720"/>
            <a:ext cx="2606040" cy="146304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3479292" y="1421892"/>
            <a:ext cx="377190" cy="377190"/>
          </a:xfrm>
          <a:prstGeom prst="rect">
            <a:avLst/>
          </a:prstGeom>
        </p:spPr>
      </p:pic>
      <p:sp>
        <p:nvSpPr>
          <p:cNvPr id="9" name="Text 5"/>
          <p:cNvSpPr txBox="1"/>
          <p:nvPr/>
        </p:nvSpPr>
        <p:spPr>
          <a:xfrm>
            <a:off x="406908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Regulated power</a:t>
            </a:r>
            <a:endParaRPr lang="en-US" sz="1500" dirty="0"/>
          </a:p>
        </p:txBody>
      </p:sp>
      <p:sp>
        <p:nvSpPr>
          <p:cNvPr id="10" name="Text 6"/>
          <p:cNvSpPr txBox="1"/>
          <p:nvPr/>
        </p:nvSpPr>
        <p:spPr>
          <a:xfrm>
            <a:off x="342900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5 V boost converter, TP4056 charger, 1 A fuse</a:t>
            </a:r>
            <a:endParaRPr lang="en-US" sz="1300" dirty="0"/>
          </a:p>
        </p:txBody>
      </p:sp>
      <p:sp>
        <p:nvSpPr>
          <p:cNvPr id="11" name="future card"/>
          <p:cNvSpPr/>
          <p:nvPr/>
        </p:nvSpPr>
        <p:spPr>
          <a:xfrm>
            <a:off x="6035040" y="1188720"/>
            <a:ext cx="2606040" cy="146304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6268212" y="1421892"/>
            <a:ext cx="377190" cy="377190"/>
          </a:xfrm>
          <a:prstGeom prst="rect">
            <a:avLst/>
          </a:prstGeom>
        </p:spPr>
      </p:pic>
      <p:sp>
        <p:nvSpPr>
          <p:cNvPr id="13" name="Text 8"/>
          <p:cNvSpPr txBox="1"/>
          <p:nvPr/>
        </p:nvSpPr>
        <p:spPr>
          <a:xfrm>
            <a:off x="685800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More sensors</a:t>
            </a:r>
            <a:endParaRPr lang="en-US" sz="1500" dirty="0"/>
          </a:p>
        </p:txBody>
      </p:sp>
      <p:sp>
        <p:nvSpPr>
          <p:cNvPr id="14" name="Text 9"/>
          <p:cNvSpPr txBox="1"/>
          <p:nvPr/>
        </p:nvSpPr>
        <p:spPr>
          <a:xfrm>
            <a:off x="621792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Angled up for heads, down for steps and potholes</a:t>
            </a:r>
            <a:endParaRPr lang="en-US" sz="1300" dirty="0"/>
          </a:p>
        </p:txBody>
      </p:sp>
      <p:sp>
        <p:nvSpPr>
          <p:cNvPr id="15" name="future card"/>
          <p:cNvSpPr/>
          <p:nvPr/>
        </p:nvSpPr>
        <p:spPr>
          <a:xfrm>
            <a:off x="457200" y="2880360"/>
            <a:ext cx="2606040" cy="146304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0372" y="3113532"/>
            <a:ext cx="377190" cy="377190"/>
          </a:xfrm>
          <a:prstGeom prst="rect">
            <a:avLst/>
          </a:prstGeom>
        </p:spPr>
      </p:pic>
      <p:sp>
        <p:nvSpPr>
          <p:cNvPr id="17" name="Text 11"/>
          <p:cNvSpPr txBox="1"/>
          <p:nvPr/>
        </p:nvSpPr>
        <p:spPr>
          <a:xfrm>
            <a:off x="128016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Capacitive probe</a:t>
            </a:r>
            <a:endParaRPr lang="en-US" sz="1500" dirty="0"/>
          </a:p>
        </p:txBody>
      </p:sp>
      <p:sp>
        <p:nvSpPr>
          <p:cNvPr id="18" name="Text 12"/>
          <p:cNvSpPr txBox="1"/>
          <p:nvPr/>
        </p:nvSpPr>
        <p:spPr>
          <a:xfrm>
            <a:off x="64008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No exposed metal, so no corrosion</a:t>
            </a:r>
            <a:endParaRPr lang="en-US" sz="1300" dirty="0"/>
          </a:p>
        </p:txBody>
      </p:sp>
      <p:sp>
        <p:nvSpPr>
          <p:cNvPr id="19" name="future card"/>
          <p:cNvSpPr/>
          <p:nvPr/>
        </p:nvSpPr>
        <p:spPr>
          <a:xfrm>
            <a:off x="3246120" y="2880360"/>
            <a:ext cx="2606040" cy="146304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3479292" y="3113532"/>
            <a:ext cx="377190" cy="377190"/>
          </a:xfrm>
          <a:prstGeom prst="rect">
            <a:avLst/>
          </a:prstGeom>
        </p:spPr>
      </p:pic>
      <p:sp>
        <p:nvSpPr>
          <p:cNvPr id="21" name="Text 14"/>
          <p:cNvSpPr txBox="1"/>
          <p:nvPr/>
        </p:nvSpPr>
        <p:spPr>
          <a:xfrm>
            <a:off x="406908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GPS + SOS</a:t>
            </a:r>
            <a:endParaRPr lang="en-US" sz="1500" dirty="0"/>
          </a:p>
        </p:txBody>
      </p:sp>
      <p:sp>
        <p:nvSpPr>
          <p:cNvPr id="22" name="Text 15"/>
          <p:cNvSpPr txBox="1"/>
          <p:nvPr/>
        </p:nvSpPr>
        <p:spPr>
          <a:xfrm>
            <a:off x="342900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Send location to family via GSM or Bluetooth</a:t>
            </a:r>
            <a:endParaRPr lang="en-US" sz="1300" dirty="0"/>
          </a:p>
        </p:txBody>
      </p:sp>
      <p:sp>
        <p:nvSpPr>
          <p:cNvPr id="23" name="future card"/>
          <p:cNvSpPr/>
          <p:nvPr/>
        </p:nvSpPr>
        <p:spPr>
          <a:xfrm>
            <a:off x="6035040" y="2880360"/>
            <a:ext cx="2606040" cy="146304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6268212" y="3113532"/>
            <a:ext cx="377190" cy="377190"/>
          </a:xfrm>
          <a:prstGeom prst="rect">
            <a:avLst/>
          </a:prstGeom>
        </p:spPr>
      </p:pic>
      <p:sp>
        <p:nvSpPr>
          <p:cNvPr id="25" name="Text 17"/>
          <p:cNvSpPr txBox="1"/>
          <p:nvPr/>
        </p:nvSpPr>
        <p:spPr>
          <a:xfrm>
            <a:off x="685800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PCB + enclosure</a:t>
            </a:r>
            <a:endParaRPr lang="en-US" sz="1500" dirty="0"/>
          </a:p>
        </p:txBody>
      </p:sp>
      <p:sp>
        <p:nvSpPr>
          <p:cNvPr id="26" name="Text 18"/>
          <p:cNvSpPr txBox="1"/>
          <p:nvPr/>
        </p:nvSpPr>
        <p:spPr>
          <a:xfrm>
            <a:off x="621792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Waterproof, robust, ready for field trials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[1] Elecfreaks, “Ultrasonic Ranging Module HC-SR04,” datasheet, 2011.</a:t>
            </a:r>
            <a:endParaRPr lang="en-US" sz="1500" dirty="0"/>
          </a:p>
          <a:p>
            <a:pPr indent="0" marL="0">
              <a:spcAft>
                <a:spcPts val="1200"/>
              </a:spcAft>
              <a:buNone/>
            </a:pPr>
            <a:r>
              <a:rPr lang="en-US" sz="1500" dirty="0">
                <a:solidFill>
                  <a:schemeClr val="tx1"/>
                </a:solidFill>
              </a:rPr>
              <a:t>[2] Microchip Technology, “ATmega328P megaAVR Data Sheet,” DS40002061, 2020.</a:t>
            </a:r>
            <a:endParaRPr lang="en-US" sz="1500" dirty="0"/>
          </a:p>
          <a:p>
            <a:pPr indent="0" marL="0">
              <a:spcAft>
                <a:spcPts val="1200"/>
              </a:spcAft>
              <a:buNone/>
            </a:pPr>
            <a:r>
              <a:rPr lang="en-US" sz="1500" dirty="0">
                <a:solidFill>
                  <a:schemeClr val="tx1"/>
                </a:solidFill>
              </a:rPr>
              <a:t>[3] Arduino, “Arduino Nano,” docs.arduino.cc/hardware/nano</a:t>
            </a:r>
            <a:endParaRPr lang="en-US" sz="1500" dirty="0"/>
          </a:p>
          <a:p>
            <a:pPr indent="0" marL="0">
              <a:spcAft>
                <a:spcPts val="1200"/>
              </a:spcAft>
              <a:buNone/>
            </a:pPr>
            <a:r>
              <a:rPr lang="en-US" sz="1500" dirty="0">
                <a:solidFill>
                  <a:schemeClr val="tx1"/>
                </a:solidFill>
              </a:rPr>
              <a:t>[4] Arduino, “Language Reference: pulseIn(), analogRead(), map(),” arduino.cc/reference</a:t>
            </a:r>
            <a:endParaRPr lang="en-US" sz="1500" dirty="0"/>
          </a:p>
          <a:p>
            <a:pPr indent="0" marL="0">
              <a:spcAft>
                <a:spcPts val="1200"/>
              </a:spcAft>
              <a:buNone/>
            </a:pPr>
            <a:r>
              <a:rPr lang="en-US" sz="1500" dirty="0">
                <a:solidFill>
                  <a:schemeClr val="tx1"/>
                </a:solidFill>
              </a:rPr>
              <a:t>[5] Texas Instruments, “LM393 Dual Comparator,” datasheet, ti.com/product/LM393</a:t>
            </a:r>
            <a:endParaRPr lang="en-US" sz="1500" dirty="0"/>
          </a:p>
          <a:p>
            <a:pPr indent="0" marL="0">
              <a:spcAft>
                <a:spcPts val="1200"/>
              </a:spcAft>
              <a:buNone/>
            </a:pPr>
            <a:r>
              <a:rPr lang="en-US" sz="1500" dirty="0">
                <a:solidFill>
                  <a:schemeClr val="tx1"/>
                </a:solidFill>
              </a:rPr>
              <a:t>[6] World Health Organization, “World Report on Vision,” Geneva, 2019.</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Questions?</a:t>
            </a:r>
            <a:endParaRPr lang="en-US" sz="1800" dirty="0"/>
          </a:p>
        </p:txBody>
      </p:sp>
      <p:sp>
        <p:nvSpPr>
          <p:cNvPr id="4" name="conclusion card"/>
          <p:cNvSpPr/>
          <p:nvPr/>
        </p:nvSpPr>
        <p:spPr>
          <a:xfrm>
            <a:off x="5120640" y="822960"/>
            <a:ext cx="3566160" cy="3566160"/>
          </a:xfrm>
          <a:prstGeom prst="rect">
            <a:avLst/>
          </a:prstGeom>
          <a:solidFill>
            <a:srgbClr val="1F2E52"/>
          </a:solidFill>
          <a:ln w="9525">
            <a:solidFill>
              <a:srgbClr val="B8C4D6"/>
            </a:solidFill>
            <a:prstDash val="solid"/>
          </a:ln>
        </p:spPr>
      </p:sp>
      <p:sp>
        <p:nvSpPr>
          <p:cNvPr id="5" name="Text 3"/>
          <p:cNvSpPr txBox="1"/>
          <p:nvPr/>
        </p:nvSpPr>
        <p:spPr>
          <a:xfrm>
            <a:off x="5349240" y="100584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Conclusion</a:t>
            </a:r>
            <a:endParaRPr lang="en-US" sz="1800" dirty="0"/>
          </a:p>
        </p:txBody>
      </p:sp>
      <p:sp>
        <p:nvSpPr>
          <p:cNvPr id="6" name="Text 4"/>
          <p:cNvSpPr txBox="1"/>
          <p:nvPr/>
        </p:nvSpPr>
        <p:spPr>
          <a:xfrm>
            <a:off x="5349240" y="1508760"/>
            <a:ext cx="31546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A plain cane becomes a low-cost electronic travel aid</a:t>
            </a:r>
            <a:endParaRPr lang="en-US" sz="1400" dirty="0"/>
          </a:p>
          <a:p>
            <a:pPr marL="342900" indent="-342900">
              <a:spcAft>
                <a:spcPts val="800"/>
              </a:spcAft>
              <a:buSzPct val="100000"/>
              <a:buChar char="•"/>
            </a:pPr>
            <a:r>
              <a:rPr lang="en-US" sz="1400" dirty="0">
                <a:solidFill>
                  <a:schemeClr val="bg1"/>
                </a:solidFill>
              </a:rPr>
              <a:t>Warns about obstacles before contact, with distance in the beep rate</a:t>
            </a:r>
            <a:endParaRPr lang="en-US" sz="1400" dirty="0"/>
          </a:p>
          <a:p>
            <a:pPr marL="342900" indent="-342900">
              <a:spcAft>
                <a:spcPts val="800"/>
              </a:spcAft>
              <a:buSzPct val="100000"/>
              <a:buChar char="•"/>
            </a:pPr>
            <a:r>
              <a:rPr lang="en-US" sz="1400" dirty="0">
                <a:solidFill>
                  <a:schemeClr val="bg1"/>
                </a:solidFill>
              </a:rPr>
              <a:t>Gives priority warnings for water underfoot</a:t>
            </a:r>
            <a:endParaRPr lang="en-US" sz="1400" dirty="0"/>
          </a:p>
          <a:p>
            <a:pPr marL="342900" indent="-342900">
              <a:spcAft>
                <a:spcPts val="800"/>
              </a:spcAft>
              <a:buSzPct val="100000"/>
              <a:buChar char="•"/>
            </a:pPr>
            <a:r>
              <a:rPr lang="en-US" sz="1400" dirty="0">
                <a:solidFill>
                  <a:schemeClr val="bg1"/>
                </a:solidFill>
              </a:rPr>
              <a:t>Runs from one rechargeable cell for about ₹876</a:t>
            </a:r>
            <a:endParaRPr lang="en-US" sz="1400" dirty="0"/>
          </a:p>
        </p:txBody>
      </p:sp>
    </p:spTree>
  </p:cSld>
  <p:clrMapOvr>
    <a:masterClrMapping/>
  </p:clrMapOvr>
</p:sld>
</file>

<file path=ppt/theme/theme1.xml><?xml version="1.0" encoding="utf-8"?>
<a:theme xmlns:a="http://schemas.openxmlformats.org/drawingml/2006/main" name="VisionGuard">
  <a:themeElements>
    <a:clrScheme name="VisionGuard">
      <a:dk1>
        <a:srgbClr val="1B1B1F"/>
      </a:dk1>
      <a:lt1>
        <a:srgbClr val="FFFFFF"/>
      </a:lt1>
      <a:dk2>
        <a:srgbClr val="14213D"/>
      </a:dk2>
      <a:lt2>
        <a:srgbClr val="EEF2F7"/>
      </a:lt2>
      <a:accent1>
        <a:srgbClr val="FCA311"/>
      </a:accent1>
      <a:accent2>
        <a:srgbClr val="1F7A8C"/>
      </a:accent2>
      <a:accent3>
        <a:srgbClr val="D62828"/>
      </a:accent3>
      <a:accent4>
        <a:srgbClr val="2A9D8F"/>
      </a:accent4>
      <a:accent5>
        <a:srgbClr val="5C677D"/>
      </a:accent5>
      <a:accent6>
        <a:srgbClr val="8DA9C4"/>
      </a:accent6>
      <a:hlink>
        <a:srgbClr val="1F7A8C"/>
      </a:hlink>
      <a:folHlink>
        <a:srgbClr val="5C677D"/>
      </a:folHlink>
    </a:clrScheme>
    <a:fontScheme name="VisionGuard">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VisionGuard Smart Cane</dc:title>
  <dc:subject>PptxGenJS Presentation</dc:subject>
  <dc:creator>S Darshan, Tanay Agarwal</dc:creator>
  <cp:lastModifiedBy>S Darshan, Tanay Agarwal</cp:lastModifiedBy>
  <cp:revision>1</cp:revision>
  <dcterms:created xsi:type="dcterms:W3CDTF">2026-10-27T10:13:02Z</dcterms:created>
  <dcterms:modified xsi:type="dcterms:W3CDTF">2026-10-27T10:13:02Z</dcterms:modified>
</cp:coreProperties>
</file>