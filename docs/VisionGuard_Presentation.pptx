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f73a0e-cec2-fd0d-7eda-e898d9d38289}">
          <p14:sldIdLst>
            <p14:sldId id="256"/>
            <p14:sldId id="257"/>
            <p14:sldId id="258"/>
            <p14:sldId id="259"/>
            <p14:sldId id="260"/>
            <p14:sldId id="261"/>
          </p14:sldIdLst>
        </p14:section>
        <p14:section name="System Design" id="{a18c0c64-70f8-6f53-b6e0-3e9f02f802cf}">
          <p14:sldIdLst>
            <p14:sldId id="262"/>
            <p14:sldId id="263"/>
            <p14:sldId id="264"/>
            <p14:sldId id="265"/>
            <p14:sldId id="266"/>
            <p14:sldId id="267"/>
            <p14:sldId id="268"/>
            <p14:sldId id="269"/>
          </p14:sldIdLst>
        </p14:section>
        <p14:section name="Software" id="{536a0b95-1fdb-c1f6-7abf-2463157e4095}">
          <p14:sldIdLst>
            <p14:sldId id="270"/>
            <p14:sldId id="271"/>
            <p14:sldId id="272"/>
            <p14:sldId id="273"/>
          </p14:sldIdLst>
        </p14:section>
        <p14:section name="Results and Conclusion" id="{e9ffb556-7219-93ac-3bde-f9797a1b3dda}">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Stand on either side of the screen. Darshan holds the cane.
DARSHAN: Good morning, sir. I'm S Darshan, registration number 25BCE2883.
TANAY: And I'm Tanay Agarwal, 25BCE2475.
DARSHAN: Our project is VisionGuard, a smart cane for visually impaired people. It warns the user about obstacles in front of them and about water at the tip of the 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(~20 s)
DARSHAN: First I'll explain the problem, our objectives, the system design and the sensors. Then Tanay will cover the power, circuit, software, results, cost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the 2.2 billion figure, then the three points.
DARSHAN: According to the WHO, about 2.2 billion people around the world have some kind of vision impairment. Most blind people use a white cane, but it has three problems. First, it finds an obstacle only when it actually hits it. Second, it can't warn about water, puddles or open drains. Third, it doesn't tell the user how far away the obstacle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Move left to right across the three boxes.
DARSHAN: We looked at what already exists. A white cane is cheap and simple, but it works only on contact. A guide dog is very helpful, but it's expensive, needs long training and isn't easily available. There are commercial smart canes, but they're costly, mostly imported and hard to repair here. So the gap we saw is a low-cost cane that warns early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each number as you say it.
DARSHAN: We set four objectives. One: detect obstacles within 50 centimetres. Two: show the distance through the beep speed. The gap between beeps goes from 50 milliseconds when the obstacle is very close to 400 milliseconds at 50 centimetres. Three: detect water when the moisture reading drops below 500 out of 1023, and give that the highest priority. Four: keep it cheap and portable. The cane parts cost about 876 rupees, and it runs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Hold up the cane next to the photo.
DARSHAN: Our solution has three main parts on a PVC pipe: an ultrasonic sensor that works like the cane's eyes, a moisture probe at the tip, and a buzzer that gives alerts by priority. The idea actually started as a smart shoe. We moved it to a cane because the cane tip reaches water before the foot does, and a sensor on the shaft stays steadier than one on a moving shoe.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Trace the diagram left, middle, right, then top.
DARSHAN: This is our block diagram. On the left are the inputs: the ultrasonic sensor connected to pins D5 and D6, and the moisture probe connected through the LM393 module to pin A0. In the middle is the Arduino Nano, which makes all the decisions. On the right is the output, the buzzer on pin D2. At the top, the battery powers everything through the on/off switch. The dashed box is a vibration motor, which we plan to add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Go across the top row, then the bottom row.
DARSHAN: These are the eight parts we used. The Arduino Nano is the controller. The HC-SR04 measures distance. The moisture probe and the LM393 module detect water. The active buzzer gives the alerts. The 18650 battery, the rocker switch and a 220 microfarad capacitor make up the power side. The capacitor smooths the supply so the Nano doesn't reset when the buzzer switches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(~30 s)
DARSHAN: We chose the Arduino Nano because it's small, only 18 by 45 millimetres, so it fits on a cane. It costs about 250 rupees. It uses 5-volt logic like our sensors, and it has a built-in 10-bit ADC to read the moisture sensor. It's also easy to program over USB. A Raspberry Pi would be too expensive and power-hungry for a simple job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steps 1, 2, 3, then the formula box.
DARSHAN: This is how the ultrasonic sensor works. Step one: the Nano sends a 10-microsecond pulse to the Trig pin. Step two: the sensor sends out eight sound pulses at 40 kilohertz, which is too high for us to hear. Step three: the Echo pin stays HIGH until the echo comes back. So distance equals speed of sound times time, divided by two. We divide by two because the sound goes to the object and comes back. The speed of sound is about 0.034 centimetres per microsecond, so if the echo takes 1000 microseconds, the distance is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the probe on the real cane. End by turning towards Tanay.
DARSHAN: This is the moisture probe at the tip. It has two copper strips. Dry air doesn't conduct electricity, but water does, so when the tip touches water, the resistance between the strips drops. The LM393 module turns this into a voltage, and the Nano reads it on A0. When it's dry the reading is about 1023, and when it's wet it goes below 500. We use the analog output instead of the digital D0 pin, so we can set the threshold in the code.
DARSHAN: Now Tanay will explain the power system and the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Point at battery → switch → 5V pin, then the warning.
TANAY: Thank you. The cane runs on one 18650 lithium-ion battery: 3.7 volts, 1200 milliamp-hours. It goes through the rocker switch to the Nano's 5V pin, which also powers both sensors. We didn't use the VIN pin, because VIN needs about 7 volts. The whole cane draws around 40 milliamps, so in theory the battery can last about 30 hours. One safety point: we always switch the cane off before connecting USB, because the battery is connected directly to the 5V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red 5V line and black GND line first.
TANAY: This is the full circuit. The red line is 5 volts and the black line is ground. Every module shares them. Trig goes to D5, Echo to D6, the moisture signal to A0 and the buzzer to D2. In the final cane we didn't use a breadboard. We soldered male header pins onto the Nano, and since the sensors also have header pins, the signal wires are female jumper wires plugged onto both ends. The power wires, the buzzer and the 220 microfarad capacitor are soldered for a strong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(~20 s)
TANAY: This table lists every connection. The main pins to remember are D5 for Trig, D6 for Echo, A0 for moisture and D2 for the buzzer. The LM393's D0 pin isn't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(~45 s)
ACTION: Point at boxes 1 to 6 in order.
TANAY: This is our algorithm. First the Nano sets up the pins. Then, in a loop, it measures the distance and reads the moisture. Then it decides. If the moisture is below 500, that's water, so the buzzer stays on continuously. If not, and an obstacle is closer than 50 centimetres, it beeps for 50 milliseconds and then waits a gap between 50 and 400 milliseconds depending on the distance. Otherwise the path is clear and the buzzer stays off. Then it waits 30 milliseconds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Trace the top path, then the bottom path, then the priority box.
TANAY: The data flow graph shows how the data is processed. The echo time t is multiplied by 0.034 and divided by 2 to get the distance d. The distance is used in two places: to check whether the obstacle is near, and to work out the beep gap g. The moisture value m is compared with 500 to decide whether it's wet. Finally, the priority block uses wet, near and g to control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Follow the arrows from OFF to SENSE, then the three states.
TANAY: This is the state diagram. When the switch is turned on, the cane sets up once and goes to SENSE. From SENSE it goes into exactly one state: water alert, obstacle alert or clear. After 30 milliseconds it comes back to SENSE. Turning the switch off takes it back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top half of the code, then the bottom half. End by turning towards Darshan.
TANAY: This is the main part of our code. The readDistanceCm function sends the trigger pulse and uses pulseIn with a 30-millisecond timeout. Without the timeout, it would wait up to one second when there's no echo and freeze the cane. Below that is the if-else chain. Water is checked first, so it always has priority. The map function converts the distance into the beep gap.
TANAY: Now Darshan will show you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(~75 s)
ACTION: Point at the photos, then at the real cane. DEMO: switch on → hand from far to near → dip tip in water.
DARSHAN: This is our prototype and how we put it together. We soldered male header pins onto the Nano and connected the sensors with female jumper wires: Trig to D5, Echo to D6 and the moisture output to A0. The power wires, the buzzer and the capacitor are soldered. All the parts are hot-glued to the PVC pipe, the ultrasonic sensor sits on a foam spacer, and the battery holder is cable-tied. From the bottom: the probe, the LM393 module, the ultrasonic sensor, the Nano with the buzzer, then the switch and battery near the handle.
DARSHAN: Let me show you. I'm switching it on. It's silent now because the path is clear. Now I'll move my hand closer. It starts beeping at 50 centimetres and gets faster as I get closer. Now I'll dip the tip in water. It gives a continuous beep, which means water is detected.
DARSHAN: Tanay will now show our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Point at the Result column.
TANAY: These are our tests. Running on battery and the obstacle alert are both verified. The water alert is in the code, and we're calibrating the exact threshold using the dry and wet readings on the Serial Monitor. We'll update this table once that's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(~25 s)
ACTION: Point at ₹876.
TANAY: The parts on the cane cost about 876 rupees. Our total spending was 1,805 rupees, but that includes tools like the soldering iron and extra parts for the next version, like the MOSFET and the fuse. That's much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Left box first, then right box.
TANAY: The advantages: it warns before the user hits an obstacle, it shows the distance through the beep speed, it detects water, and it's cheap and easy to repair. The limitations, to be honest: the sensor's beam is narrow, so it can miss head-level objects. Water is detected only when the tip touches it. The probe will corrode over time. The battery isn't regulated. And the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TANAY: To fix these, we plan to add a vibration motor using the MOSFET, so the user can feel the alerts. We also plan proper power with a boost converter, a charger and a fuse; extra sensors pointing up and down for head-level objects and steps; a capacitive moisture sensor that won't corrode; GPS with an SOS message; and finally a PCB inside a waterproof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(~10 s)
TANAY: These are the datasheets and documents we referred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Both face the faculty.
DARSHAN: To conclude, VisionGuard turns a normal cane into a low-cost electronic aid. It warns about obstacles early, shows the distance through the beep speed, and gives a priority warning for water, all for under 900 rupees.
TANAY: Thank you, sir. We're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ect">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clean_full.jpg">    </p:cNvPr>
          <p:cNvPicPr>
            <a:picLocks noChangeAspect="1"/>
          </p:cNvPicPr>
          <p:nvPr/>
        </p:nvPicPr>
        <p:blipFill>
          <a:blip r:embed="rId1"/>
          <a:stretch>
            <a:fillRect/>
          </a:stretch>
        </p:blipFill>
        <p:spPr>
          <a:xfrm>
            <a:off x="5532120" y="54864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ect">
            <a:avLst/>
          </a:prstGeom>
          <a:solidFill>
            <a:schemeClr val="bg2"/>
          </a:solidFill>
          <a:ln w="9525">
            <a:solidFill>
              <a:srgbClr val="B8C4D6"/>
            </a:solidFill>
            <a:prstDash val="solid"/>
          </a:ln>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ect">
            <a:avLst/>
          </a:prstGeom>
          <a:solidFill>
            <a:schemeClr val="bg2"/>
          </a:solidFill>
          <a:ln w="9525">
            <a:solidFill>
              <a:srgbClr val="B8C4D6"/>
            </a:solidFill>
            <a:prstDash val="solid"/>
          </a:ln>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ect">
            <a:avLst/>
          </a:prstGeom>
          <a:solidFill>
            <a:schemeClr val="bg2"/>
          </a:solidFill>
          <a:ln w="9525">
            <a:solidFill>
              <a:srgbClr val="B8C4D6"/>
            </a:solidFill>
            <a:prstDash val="solid"/>
          </a:ln>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ect">
            <a:avLst/>
          </a:prstGeom>
          <a:solidFill>
            <a:schemeClr val="bg2"/>
          </a:solidFill>
          <a:ln w="9525">
            <a:solidFill>
              <a:srgbClr val="B8C4D6"/>
            </a:solidFill>
            <a:prstDash val="solid"/>
          </a:ln>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ect">
            <a:avLst/>
          </a:prstGeom>
          <a:solidFill>
            <a:schemeClr val="bg2"/>
          </a:solidFill>
          <a:ln w="9525">
            <a:solidFill>
              <a:srgbClr val="B8C4D6"/>
            </a:solidFill>
            <a:prstDash val="solid"/>
          </a:ln>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ect">
            <a:avLst/>
          </a:prstGeom>
          <a:solidFill>
            <a:schemeClr val="bg2"/>
          </a:solidFill>
          <a:ln w="9525">
            <a:solidFill>
              <a:srgbClr val="B8C4D6"/>
            </a:solidFill>
            <a:prstDash val="solid"/>
          </a:ln>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ect">
            <a:avLst/>
          </a:prstGeom>
          <a:solidFill>
            <a:schemeClr val="tx2"/>
          </a:solidFill>
          <a:ln w="9525">
            <a:solidFill>
              <a:srgbClr val="B8C4D6"/>
            </a:solidFill>
            <a:prstDash val="solid"/>
          </a:ln>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pic>
        <p:nvPicPr>
          <p:cNvPr id="7" name="icon" descr="preencoded.png">    </p:cNvPr>
          <p:cNvPicPr>
            <a:picLocks noChangeAspect="1"/>
          </p:cNvPicPr>
          <p:nvPr/>
        </p:nvPicPr>
        <p:blipFill>
          <a:blip r:embed="rId1"/>
          <a:stretch>
            <a:fillRect/>
          </a:stretch>
        </p:blipFill>
        <p:spPr>
          <a:xfrm>
            <a:off x="4133088" y="1298448"/>
            <a:ext cx="480060" cy="480060"/>
          </a:xfrm>
          <a:prstGeom prst="rect">
            <a:avLst/>
          </a:prstGeom>
        </p:spPr>
      </p:pic>
      <p:sp>
        <p:nvSpPr>
          <p:cNvPr id="8" name="Text 5"/>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9" name="Text 6"/>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pic>
        <p:nvPicPr>
          <p:cNvPr id="10" name="icon" descr="preencoded.png">    </p:cNvPr>
          <p:cNvPicPr>
            <a:picLocks noChangeAspect="1"/>
          </p:cNvPicPr>
          <p:nvPr/>
        </p:nvPicPr>
        <p:blipFill>
          <a:blip r:embed="rId2"/>
          <a:stretch>
            <a:fillRect/>
          </a:stretch>
        </p:blipFill>
        <p:spPr>
          <a:xfrm>
            <a:off x="4133088" y="2395728"/>
            <a:ext cx="480060" cy="480060"/>
          </a:xfrm>
          <a:prstGeom prst="rect">
            <a:avLst/>
          </a:prstGeom>
        </p:spPr>
      </p:pic>
      <p:sp>
        <p:nvSpPr>
          <p:cNvPr id="11" name="Text 7"/>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2" name="Text 8"/>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pic>
        <p:nvPicPr>
          <p:cNvPr id="13" name="icon" descr="preencoded.png">    </p:cNvPr>
          <p:cNvPicPr>
            <a:picLocks noChangeAspect="1"/>
          </p:cNvPicPr>
          <p:nvPr/>
        </p:nvPicPr>
        <p:blipFill>
          <a:blip r:embed="rId3"/>
          <a:stretch>
            <a:fillRect/>
          </a:stretch>
        </p:blipFill>
        <p:spPr>
          <a:xfrm>
            <a:off x="4133088" y="3493008"/>
            <a:ext cx="480060" cy="480060"/>
          </a:xfrm>
          <a:prstGeom prst="rect">
            <a:avLst/>
          </a:prstGeom>
        </p:spPr>
      </p:pic>
      <p:sp>
        <p:nvSpPr>
          <p:cNvPr id="14" name="Text 9"/>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5" name="Text 10"/>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740664" y="1426464"/>
            <a:ext cx="411480" cy="411480"/>
          </a:xfrm>
          <a:prstGeom prst="rect">
            <a:avLst/>
          </a:prstGeom>
        </p:spPr>
      </p:pic>
      <p:sp>
        <p:nvSpPr>
          <p:cNvPr id="5" name="Text 2"/>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6" name="Text 3"/>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7" name="Text 4"/>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8" name="solution card"/>
          <p:cNvSpPr/>
          <p:nvPr/>
        </p:nvSpPr>
        <p:spPr>
          <a:xfrm>
            <a:off x="3246120" y="1188720"/>
            <a:ext cx="2606040" cy="25146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529584" y="1426464"/>
            <a:ext cx="411480" cy="411480"/>
          </a:xfrm>
          <a:prstGeom prst="rect">
            <a:avLst/>
          </a:prstGeom>
        </p:spPr>
      </p:pic>
      <p:sp>
        <p:nvSpPr>
          <p:cNvPr id="10" name="Text 6"/>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1" name="Text 7"/>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2" name="Text 8"/>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3" name="solution card"/>
          <p:cNvSpPr/>
          <p:nvPr/>
        </p:nvSpPr>
        <p:spPr>
          <a:xfrm>
            <a:off x="6035040" y="1188720"/>
            <a:ext cx="2606040" cy="25146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6318504" y="1426464"/>
            <a:ext cx="411480" cy="411480"/>
          </a:xfrm>
          <a:prstGeom prst="rect">
            <a:avLst/>
          </a:prstGeom>
        </p:spPr>
      </p:pic>
      <p:sp>
        <p:nvSpPr>
          <p:cNvPr id="15" name="Text 10"/>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canes</a:t>
            </a:r>
            <a:endParaRPr lang="en-US" sz="1700" dirty="0"/>
          </a:p>
        </p:txBody>
      </p:sp>
      <p:sp>
        <p:nvSpPr>
          <p:cNvPr id="16" name="Text 11"/>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17" name="Text 12"/>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18" name="gap banner"/>
          <p:cNvSpPr/>
          <p:nvPr/>
        </p:nvSpPr>
        <p:spPr>
          <a:xfrm>
            <a:off x="457200" y="3931920"/>
            <a:ext cx="8229600" cy="640080"/>
          </a:xfrm>
          <a:prstGeom prst="rect">
            <a:avLst/>
          </a:prstGeom>
          <a:solidFill>
            <a:schemeClr val="accent1"/>
          </a:solidFill>
          <a:ln w="9525">
            <a:solidFill>
              <a:srgbClr val="B8C4D6"/>
            </a:solidFill>
            <a:prstDash val="solid"/>
          </a:ln>
        </p:spPr>
      </p:sp>
      <p:sp>
        <p:nvSpPr>
          <p:cNvPr id="19" name="Text 14"/>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ect">
            <a:avLst/>
          </a:prstGeom>
          <a:solidFill>
            <a:schemeClr val="bg2"/>
          </a:solidFill>
          <a:ln w="9525">
            <a:solidFill>
              <a:srgbClr val="B8C4D6"/>
            </a:solidFill>
            <a:prstDash val="solid"/>
          </a:ln>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ect">
            <a:avLst/>
          </a:prstGeom>
          <a:solidFill>
            <a:schemeClr val="bg2"/>
          </a:solidFill>
          <a:ln w="9525">
            <a:solidFill>
              <a:srgbClr val="B8C4D6"/>
            </a:solidFill>
            <a:prstDash val="solid"/>
          </a:ln>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ect">
            <a:avLst/>
          </a:prstGeom>
          <a:solidFill>
            <a:schemeClr val="bg2"/>
          </a:solidFill>
          <a:ln w="9525">
            <a:solidFill>
              <a:srgbClr val="B8C4D6"/>
            </a:solidFill>
            <a:prstDash val="solid"/>
          </a:ln>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ect">
            <a:avLst/>
          </a:prstGeom>
          <a:solidFill>
            <a:schemeClr val="bg2"/>
          </a:solidFill>
          <a:ln w="9525">
            <a:solidFill>
              <a:srgbClr val="B8C4D6"/>
            </a:solidFill>
            <a:prstDash val="solid"/>
          </a:ln>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cane in use photo" descr="img/clean_inuse.jpg">    </p:cNvPr>
          <p:cNvPicPr>
            <a:picLocks noChangeAspect="1"/>
          </p:cNvPicPr>
          <p:nvPr/>
        </p:nvPicPr>
        <p:blipFill>
          <a:blip r:embed="rId1"/>
          <a:stretch>
            <a:fillRect/>
          </a:stretch>
        </p:blipFill>
        <p:spPr>
          <a:xfrm>
            <a:off x="1165860" y="1143000"/>
            <a:ext cx="2606040" cy="3474720"/>
          </a:xfrm>
          <a:prstGeom prst="rect">
            <a:avLst/>
          </a:prstGeom>
        </p:spPr>
      </p:pic>
      <p:pic>
        <p:nvPicPr>
          <p:cNvPr id="4" name="icon" descr="preencoded.png">    </p:cNvPr>
          <p:cNvPicPr>
            <a:picLocks noChangeAspect="1"/>
          </p:cNvPicPr>
          <p:nvPr/>
        </p:nvPicPr>
        <p:blipFill>
          <a:blip r:embed="rId2"/>
          <a:stretch>
            <a:fillRect/>
          </a:stretch>
        </p:blipFill>
        <p:spPr>
          <a:xfrm>
            <a:off x="4818888" y="1298448"/>
            <a:ext cx="480060" cy="480060"/>
          </a:xfrm>
          <a:prstGeom prst="rect">
            <a:avLst/>
          </a:prstGeom>
        </p:spPr>
      </p:pic>
      <p:sp>
        <p:nvSpPr>
          <p:cNvPr id="5" name="Text 1"/>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6" name="Text 2"/>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pic>
        <p:nvPicPr>
          <p:cNvPr id="7" name="icon" descr="preencoded.png">    </p:cNvPr>
          <p:cNvPicPr>
            <a:picLocks noChangeAspect="1"/>
          </p:cNvPicPr>
          <p:nvPr/>
        </p:nvPicPr>
        <p:blipFill>
          <a:blip r:embed="rId3"/>
          <a:stretch>
            <a:fillRect/>
          </a:stretch>
        </p:blipFill>
        <p:spPr>
          <a:xfrm>
            <a:off x="4818888" y="2395728"/>
            <a:ext cx="480060" cy="480060"/>
          </a:xfrm>
          <a:prstGeom prst="rect">
            <a:avLst/>
          </a:prstGeom>
        </p:spPr>
      </p:pic>
      <p:sp>
        <p:nvSpPr>
          <p:cNvPr id="8" name="Text 3"/>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9" name="Text 4"/>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pic>
        <p:nvPicPr>
          <p:cNvPr id="10" name="icon" descr="preencoded.png">    </p:cNvPr>
          <p:cNvPicPr>
            <a:picLocks noChangeAspect="1"/>
          </p:cNvPicPr>
          <p:nvPr/>
        </p:nvPicPr>
        <p:blipFill>
          <a:blip r:embed="rId4"/>
          <a:stretch>
            <a:fillRect/>
          </a:stretch>
        </p:blipFill>
        <p:spPr>
          <a:xfrm>
            <a:off x="4818888" y="3493008"/>
            <a:ext cx="480060" cy="480060"/>
          </a:xfrm>
          <a:prstGeom prst="rect">
            <a:avLst/>
          </a:prstGeom>
        </p:spPr>
      </p:pic>
      <p:sp>
        <p:nvSpPr>
          <p:cNvPr id="11" name="Text 5"/>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2" name="Text 6"/>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6" name="Text 3"/>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7" name="component card"/>
          <p:cNvSpPr/>
          <p:nvPr/>
        </p:nvSpPr>
        <p:spPr>
          <a:xfrm>
            <a:off x="2560320" y="1188720"/>
            <a:ext cx="1920240" cy="150876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2793492" y="1421892"/>
            <a:ext cx="377190" cy="377190"/>
          </a:xfrm>
          <a:prstGeom prst="rect">
            <a:avLst/>
          </a:prstGeom>
        </p:spPr>
      </p:pic>
      <p:sp>
        <p:nvSpPr>
          <p:cNvPr id="9" name="Text 5"/>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0" name="Text 6"/>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1" name="component card"/>
          <p:cNvSpPr/>
          <p:nvPr/>
        </p:nvSpPr>
        <p:spPr>
          <a:xfrm>
            <a:off x="4663440" y="1188720"/>
            <a:ext cx="1920240" cy="150876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4896612" y="1421892"/>
            <a:ext cx="377190" cy="377190"/>
          </a:xfrm>
          <a:prstGeom prst="rect">
            <a:avLst/>
          </a:prstGeom>
        </p:spPr>
      </p:pic>
      <p:sp>
        <p:nvSpPr>
          <p:cNvPr id="13" name="Text 8"/>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4" name="Text 9"/>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5" name="component card"/>
          <p:cNvSpPr/>
          <p:nvPr/>
        </p:nvSpPr>
        <p:spPr>
          <a:xfrm>
            <a:off x="6766560" y="1188720"/>
            <a:ext cx="1920240" cy="150876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99732" y="1421892"/>
            <a:ext cx="377190" cy="377190"/>
          </a:xfrm>
          <a:prstGeom prst="rect">
            <a:avLst/>
          </a:prstGeom>
        </p:spPr>
      </p:pic>
      <p:sp>
        <p:nvSpPr>
          <p:cNvPr id="17" name="Text 11"/>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18" name="Text 12"/>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19" name="component card"/>
          <p:cNvSpPr/>
          <p:nvPr/>
        </p:nvSpPr>
        <p:spPr>
          <a:xfrm>
            <a:off x="457200" y="2880360"/>
            <a:ext cx="1920240" cy="150876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690372" y="3113532"/>
            <a:ext cx="377190" cy="377190"/>
          </a:xfrm>
          <a:prstGeom prst="rect">
            <a:avLst/>
          </a:prstGeom>
        </p:spPr>
      </p:pic>
      <p:sp>
        <p:nvSpPr>
          <p:cNvPr id="21" name="Text 14"/>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2" name="Text 15"/>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3" name="component card"/>
          <p:cNvSpPr/>
          <p:nvPr/>
        </p:nvSpPr>
        <p:spPr>
          <a:xfrm>
            <a:off x="2560320" y="2880360"/>
            <a:ext cx="1920240" cy="150876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2793492" y="3113532"/>
            <a:ext cx="377190" cy="377190"/>
          </a:xfrm>
          <a:prstGeom prst="rect">
            <a:avLst/>
          </a:prstGeom>
        </p:spPr>
      </p:pic>
      <p:sp>
        <p:nvSpPr>
          <p:cNvPr id="25" name="Text 17"/>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26" name="Text 18"/>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27" name="component card"/>
          <p:cNvSpPr/>
          <p:nvPr/>
        </p:nvSpPr>
        <p:spPr>
          <a:xfrm>
            <a:off x="4663440" y="2880360"/>
            <a:ext cx="1920240" cy="1508760"/>
          </a:xfrm>
          <a:prstGeom prst="rect">
            <a:avLst/>
          </a:prstGeom>
          <a:solidFill>
            <a:schemeClr val="bg2"/>
          </a:solidFill>
          <a:ln w="9525">
            <a:solidFill>
              <a:srgbClr val="B8C4D6"/>
            </a:solidFill>
            <a:prstDash val="solid"/>
          </a:ln>
        </p:spPr>
      </p:sp>
      <p:pic>
        <p:nvPicPr>
          <p:cNvPr id="28" name="icon" descr="preencoded.png">    </p:cNvPr>
          <p:cNvPicPr>
            <a:picLocks noChangeAspect="1"/>
          </p:cNvPicPr>
          <p:nvPr/>
        </p:nvPicPr>
        <p:blipFill>
          <a:blip r:embed="rId7"/>
          <a:stretch>
            <a:fillRect/>
          </a:stretch>
        </p:blipFill>
        <p:spPr>
          <a:xfrm>
            <a:off x="4896612" y="3113532"/>
            <a:ext cx="377190" cy="377190"/>
          </a:xfrm>
          <a:prstGeom prst="rect">
            <a:avLst/>
          </a:prstGeom>
        </p:spPr>
      </p:pic>
      <p:sp>
        <p:nvSpPr>
          <p:cNvPr id="29" name="Text 20"/>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0" name="Text 21"/>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1" name="component card"/>
          <p:cNvSpPr/>
          <p:nvPr/>
        </p:nvSpPr>
        <p:spPr>
          <a:xfrm>
            <a:off x="6766560" y="2880360"/>
            <a:ext cx="1920240" cy="1508760"/>
          </a:xfrm>
          <a:prstGeom prst="rect">
            <a:avLst/>
          </a:prstGeom>
          <a:solidFill>
            <a:schemeClr val="bg2"/>
          </a:solidFill>
          <a:ln w="9525">
            <a:solidFill>
              <a:srgbClr val="B8C4D6"/>
            </a:solidFill>
            <a:prstDash val="solid"/>
          </a:ln>
        </p:spPr>
      </p:sp>
      <p:pic>
        <p:nvPicPr>
          <p:cNvPr id="32" name="icon" descr="preencoded.png">    </p:cNvPr>
          <p:cNvPicPr>
            <a:picLocks noChangeAspect="1"/>
          </p:cNvPicPr>
          <p:nvPr/>
        </p:nvPicPr>
        <p:blipFill>
          <a:blip r:embed="rId8"/>
          <a:stretch>
            <a:fillRect/>
          </a:stretch>
        </p:blipFill>
        <p:spPr>
          <a:xfrm>
            <a:off x="6999732" y="3113532"/>
            <a:ext cx="377190" cy="377190"/>
          </a:xfrm>
          <a:prstGeom prst="rect">
            <a:avLst/>
          </a:prstGeom>
        </p:spPr>
      </p:pic>
      <p:sp>
        <p:nvSpPr>
          <p:cNvPr id="33" name="Text 23"/>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34" name="Text 24"/>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 µF, 50 V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ect">
            <a:avLst/>
          </a:prstGeom>
          <a:solidFill>
            <a:schemeClr val="tx2"/>
          </a:solidFill>
          <a:ln w="9525">
            <a:solidFill>
              <a:srgbClr val="B8C4D6"/>
            </a:solidFill>
            <a:prstDash val="solid"/>
          </a:ln>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ect">
            <a:avLst/>
          </a:prstGeom>
          <a:solidFill>
            <a:schemeClr val="tx2"/>
          </a:solidFill>
          <a:ln w="9525">
            <a:solidFill>
              <a:srgbClr val="B8C4D6"/>
            </a:solidFill>
            <a:prstDash val="solid"/>
          </a:ln>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ect">
            <a:avLst/>
          </a:prstGeom>
          <a:solidFill>
            <a:schemeClr val="tx2"/>
          </a:solidFill>
          <a:ln w="9525">
            <a:solidFill>
              <a:srgbClr val="B8C4D6"/>
            </a:solidFill>
            <a:prstDash val="solid"/>
          </a:ln>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ect">
            <a:avLst/>
          </a:prstGeom>
          <a:solidFill>
            <a:schemeClr val="tx2"/>
          </a:solidFill>
          <a:ln w="9525">
            <a:solidFill>
              <a:srgbClr val="B8C4D6"/>
            </a:solidFill>
            <a:prstDash val="solid"/>
          </a:ln>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ect">
            <a:avLst/>
          </a:prstGeom>
          <a:solidFill>
            <a:schemeClr val="tx2"/>
          </a:solidFill>
          <a:ln w="9525">
            <a:solidFill>
              <a:srgbClr val="B8C4D6"/>
            </a:solidFill>
            <a:prstDash val="solid"/>
          </a:ln>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clean_probe.jpg">    </p:cNvPr>
          <p:cNvPicPr>
            <a:picLocks noChangeAspect="1"/>
          </p:cNvPicPr>
          <p:nvPr/>
        </p:nvPicPr>
        <p:blipFill>
          <a:blip r:embed="rId1"/>
          <a:stretch>
            <a:fillRect/>
          </a:stretch>
        </p:blipFill>
        <p:spPr>
          <a:xfrm>
            <a:off x="1223010" y="1143000"/>
            <a:ext cx="2125980" cy="283464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at the cane tip: two exposed copper tracks</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ect">
            <a:avLst/>
          </a:prstGeom>
          <a:solidFill>
            <a:schemeClr val="bg2"/>
          </a:solidFill>
          <a:ln w="9525">
            <a:solidFill>
              <a:srgbClr val="B8C4D6"/>
            </a:solidFill>
            <a:prstDash val="solid"/>
          </a:ln>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V_A0 = Vcc × Rp / (Rp + Rf)</a:t>
            </a:r>
            <a:endParaRPr lang="en-US" sz="1800" dirty="0"/>
          </a:p>
        </p:txBody>
      </p:sp>
      <p:sp>
        <p:nvSpPr>
          <p:cNvPr id="8" name="reading card"/>
          <p:cNvSpPr/>
          <p:nvPr/>
        </p:nvSpPr>
        <p:spPr>
          <a:xfrm>
            <a:off x="4480560" y="2834640"/>
            <a:ext cx="2057400" cy="1051560"/>
          </a:xfrm>
          <a:prstGeom prst="rect">
            <a:avLst/>
          </a:prstGeom>
          <a:solidFill>
            <a:schemeClr val="bg2"/>
          </a:solidFill>
          <a:ln w="9525">
            <a:solidFill>
              <a:srgbClr val="B8C4D6"/>
            </a:solidFill>
            <a:prstDash val="solid"/>
          </a:ln>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Times New Roman" pitchFamily="34" charset="0"/>
                <a:ea typeface="Times New Roman" pitchFamily="34" charset="-122"/>
                <a:cs typeface="Times New Roman"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ect">
            <a:avLst/>
          </a:prstGeom>
          <a:solidFill>
            <a:schemeClr val="bg2"/>
          </a:solidFill>
          <a:ln w="9525">
            <a:solidFill>
              <a:srgbClr val="B8C4D6"/>
            </a:solidFill>
            <a:prstDash val="solid"/>
          </a:ln>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1078992" y="1380744"/>
            <a:ext cx="411480" cy="411480"/>
          </a:xfrm>
          <a:prstGeom prst="rect">
            <a:avLst/>
          </a:prstGeom>
        </p:spPr>
      </p:pic>
      <p:sp>
        <p:nvSpPr>
          <p:cNvPr id="5" name="Text 2"/>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6" name="Text 3"/>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7"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8" name="power block"/>
          <p:cNvSpPr/>
          <p:nvPr/>
        </p:nvSpPr>
        <p:spPr>
          <a:xfrm>
            <a:off x="2423160" y="1188720"/>
            <a:ext cx="1691640" cy="16002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044952" y="1380744"/>
            <a:ext cx="411480" cy="411480"/>
          </a:xfrm>
          <a:prstGeom prst="rect">
            <a:avLst/>
          </a:prstGeom>
        </p:spPr>
      </p:pic>
      <p:sp>
        <p:nvSpPr>
          <p:cNvPr id="10" name="Text 6"/>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1" name="Text 7"/>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2"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3" name="power block"/>
          <p:cNvSpPr/>
          <p:nvPr/>
        </p:nvSpPr>
        <p:spPr>
          <a:xfrm>
            <a:off x="4389120" y="1188720"/>
            <a:ext cx="1691640" cy="16002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5010912" y="1380744"/>
            <a:ext cx="411480" cy="411480"/>
          </a:xfrm>
          <a:prstGeom prst="rect">
            <a:avLst/>
          </a:prstGeom>
        </p:spPr>
      </p:pic>
      <p:sp>
        <p:nvSpPr>
          <p:cNvPr id="15" name="Text 10"/>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6" name="Text 11"/>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17" name="Text 12"/>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~40 mA</a:t>
            </a:r>
            <a:endParaRPr lang="en-US" sz="3000" dirty="0"/>
          </a:p>
        </p:txBody>
      </p:sp>
      <p:sp>
        <p:nvSpPr>
          <p:cNvPr id="18" name="Text 13"/>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19" name="Text 14"/>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 30 h</a:t>
            </a:r>
            <a:endParaRPr lang="en-US" sz="3000" dirty="0"/>
          </a:p>
        </p:txBody>
      </p:sp>
      <p:sp>
        <p:nvSpPr>
          <p:cNvPr id="20" name="Text 15"/>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1" name="warning"/>
          <p:cNvSpPr/>
          <p:nvPr/>
        </p:nvSpPr>
        <p:spPr>
          <a:xfrm>
            <a:off x="457200" y="3977640"/>
            <a:ext cx="5669280" cy="594360"/>
          </a:xfrm>
          <a:prstGeom prst="rect">
            <a:avLst/>
          </a:prstGeom>
          <a:solidFill>
            <a:srgbClr val="FDECEA"/>
          </a:solidFill>
          <a:ln w="9525">
            <a:solidFill>
              <a:srgbClr val="B8C4D6"/>
            </a:solidFill>
            <a:prstDash val="solid"/>
          </a:ln>
        </p:spPr>
      </p:sp>
      <p:sp>
        <p:nvSpPr>
          <p:cNvPr id="22" name="Text 17"/>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3" name="battery and switch photo" descr="img/new_power.jpg">    </p:cNvPr>
          <p:cNvPicPr>
            <a:picLocks noChangeAspect="1"/>
          </p:cNvPicPr>
          <p:nvPr/>
        </p:nvPicPr>
        <p:blipFill>
          <a:blip r:embed="rId4"/>
          <a:stretch>
            <a:fillRect/>
          </a:stretch>
        </p:blipFill>
        <p:spPr>
          <a:xfrm>
            <a:off x="6400800" y="1362144"/>
            <a:ext cx="2286000" cy="303643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220 µF 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ect">
            <a:avLst/>
          </a:prstGeom>
          <a:solidFill>
            <a:srgbClr val="EEF2F7"/>
          </a:solidFill>
          <a:ln w="9525">
            <a:solidFill>
              <a:srgbClr val="B8C4D6"/>
            </a:solidFill>
            <a:prstDash val="solid"/>
          </a:ln>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ect">
            <a:avLst/>
          </a:prstGeom>
          <a:solidFill>
            <a:srgbClr val="EEF2F7"/>
          </a:solidFill>
          <a:ln w="9525">
            <a:solidFill>
              <a:srgbClr val="B8C4D6"/>
            </a:solidFill>
            <a:prstDash val="solid"/>
          </a:ln>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ect">
            <a:avLst/>
          </a:prstGeom>
          <a:solidFill>
            <a:srgbClr val="EEF2F7"/>
          </a:solidFill>
          <a:ln w="9525">
            <a:solidFill>
              <a:srgbClr val="B8C4D6"/>
            </a:solidFill>
            <a:prstDash val="solid"/>
          </a:ln>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ect">
            <a:avLst/>
          </a:prstGeom>
          <a:solidFill>
            <a:srgbClr val="FDECEA"/>
          </a:solidFill>
          <a:ln w="9525">
            <a:solidFill>
              <a:srgbClr val="B8C4D6"/>
            </a:solidFill>
            <a:prstDash val="solid"/>
          </a:ln>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ect">
            <a:avLst/>
          </a:prstGeom>
          <a:solidFill>
            <a:srgbClr val="FFF3E0"/>
          </a:solidFill>
          <a:ln w="9525">
            <a:solidFill>
              <a:srgbClr val="B8C4D6"/>
            </a:solidFill>
            <a:prstDash val="solid"/>
          </a:ln>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ect">
            <a:avLst/>
          </a:prstGeom>
          <a:solidFill>
            <a:srgbClr val="E6F4EA"/>
          </a:solidFill>
          <a:ln w="9525">
            <a:solidFill>
              <a:srgbClr val="B8C4D6"/>
            </a:solidFill>
            <a:prstDash val="solid"/>
          </a:ln>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ect">
            <a:avLst/>
          </a:prstGeom>
          <a:solidFill>
            <a:schemeClr val="tx2"/>
          </a:solidFill>
          <a:ln w="9525">
            <a:solidFill>
              <a:srgbClr val="B8C4D6"/>
            </a:solidFill>
            <a:prstDash val="solid"/>
          </a:ln>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ect">
            <a:avLst/>
          </a:prstGeom>
          <a:solidFill>
            <a:schemeClr val="bg2"/>
          </a:solidFill>
          <a:ln w="9525">
            <a:solidFill>
              <a:srgbClr val="B8C4D6"/>
            </a:solidFill>
            <a:prstDash val="solid"/>
          </a:ln>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ect">
            <a:avLst/>
          </a:prstGeom>
          <a:solidFill>
            <a:schemeClr val="bg2"/>
          </a:solidFill>
          <a:ln w="9525">
            <a:solidFill>
              <a:srgbClr val="B8C4D6"/>
            </a:solidFill>
            <a:prstDash val="solid"/>
          </a:ln>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ect">
            <a:avLst/>
          </a:prstGeom>
          <a:solidFill>
            <a:schemeClr val="bg2"/>
          </a:solidFill>
          <a:ln w="9525">
            <a:solidFill>
              <a:srgbClr val="B8C4D6"/>
            </a:solidFill>
            <a:prstDash val="solid"/>
          </a:ln>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Prototype and assembly</a:t>
            </a:r>
            <a:endParaRPr lang="en-US" sz="3000" dirty="0"/>
          </a:p>
        </p:txBody>
      </p:sp>
      <p:pic>
        <p:nvPicPr>
          <p:cNvPr id="3" name="prototype photo" descr="img/clean_full.jpg">    </p:cNvPr>
          <p:cNvPicPr>
            <a:picLocks noChangeAspect="1"/>
          </p:cNvPicPr>
          <p:nvPr/>
        </p:nvPicPr>
        <p:blipFill>
          <a:blip r:embed="rId1"/>
          <a:stretch>
            <a:fillRect/>
          </a:stretch>
        </p:blipFill>
        <p:spPr>
          <a:xfrm>
            <a:off x="457200" y="1098804"/>
            <a:ext cx="2377440" cy="3169920"/>
          </a:xfrm>
          <a:prstGeom prst="rect">
            <a:avLst/>
          </a:prstGeom>
        </p:spPr>
      </p:pic>
      <p:sp>
        <p:nvSpPr>
          <p:cNvPr id="4" name="Text 1"/>
          <p:cNvSpPr txBox="1"/>
          <p:nvPr/>
        </p:nvSpPr>
        <p:spPr>
          <a:xfrm>
            <a:off x="457200" y="4323588"/>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Complete cane, tip at the top</a:t>
            </a:r>
            <a:endParaRPr lang="en-US" sz="1000" dirty="0"/>
          </a:p>
        </p:txBody>
      </p:sp>
      <p:pic>
        <p:nvPicPr>
          <p:cNvPr id="5" name="prototype photo" descr="img/clean_modules.jpg">    </p:cNvPr>
          <p:cNvPicPr>
            <a:picLocks noChangeAspect="1"/>
          </p:cNvPicPr>
          <p:nvPr/>
        </p:nvPicPr>
        <p:blipFill>
          <a:blip r:embed="rId2"/>
          <a:stretch>
            <a:fillRect/>
          </a:stretch>
        </p:blipFill>
        <p:spPr>
          <a:xfrm>
            <a:off x="2971800" y="1098804"/>
            <a:ext cx="2377440" cy="3169920"/>
          </a:xfrm>
          <a:prstGeom prst="rect">
            <a:avLst/>
          </a:prstGeom>
        </p:spPr>
      </p:pic>
      <p:sp>
        <p:nvSpPr>
          <p:cNvPr id="6" name="Text 2"/>
          <p:cNvSpPr txBox="1"/>
          <p:nvPr/>
        </p:nvSpPr>
        <p:spPr>
          <a:xfrm>
            <a:off x="2971800" y="4323588"/>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LM393 and HC-SR04 on female jumpers</a:t>
            </a:r>
            <a:endParaRPr lang="en-US" sz="1000" dirty="0"/>
          </a:p>
        </p:txBody>
      </p:sp>
      <p:sp>
        <p:nvSpPr>
          <p:cNvPr id="7" name="Text 3"/>
          <p:cNvSpPr txBox="1"/>
          <p:nvPr/>
        </p:nvSpPr>
        <p:spPr>
          <a:xfrm>
            <a:off x="5532120" y="1143000"/>
            <a:ext cx="315468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Male header pins soldered onto the Nano</a:t>
            </a:r>
            <a:endParaRPr lang="en-US" sz="1400" dirty="0"/>
          </a:p>
          <a:p>
            <a:pPr marL="342900" indent="-342900">
              <a:spcAft>
                <a:spcPts val="800"/>
              </a:spcAft>
              <a:buSzPct val="100000"/>
              <a:buChar char="•"/>
            </a:pPr>
            <a:r>
              <a:rPr lang="en-US" sz="1400" dirty="0">
                <a:solidFill>
                  <a:schemeClr val="tx1"/>
                </a:solidFill>
              </a:rPr>
              <a:t>Sensors joined with female jumper wires: Trig D5, Echo D6, moisture A0</a:t>
            </a:r>
            <a:endParaRPr lang="en-US" sz="1400" dirty="0"/>
          </a:p>
          <a:p>
            <a:pPr marL="342900" indent="-342900">
              <a:spcAft>
                <a:spcPts val="800"/>
              </a:spcAft>
              <a:buSzPct val="100000"/>
              <a:buChar char="•"/>
            </a:pPr>
            <a:r>
              <a:rPr lang="en-US" sz="1400" dirty="0">
                <a:solidFill>
                  <a:schemeClr val="tx1"/>
                </a:solidFill>
              </a:rPr>
              <a:t>Power wires, buzzer and 220 µF capacitor soldered</a:t>
            </a:r>
            <a:endParaRPr lang="en-US" sz="1400" dirty="0"/>
          </a:p>
          <a:p>
            <a:pPr marL="342900" indent="-342900">
              <a:spcAft>
                <a:spcPts val="800"/>
              </a:spcAft>
              <a:buSzPct val="100000"/>
              <a:buChar char="•"/>
            </a:pPr>
            <a:r>
              <a:rPr lang="en-US" sz="1400" dirty="0">
                <a:solidFill>
                  <a:schemeClr val="tx1"/>
                </a:solidFill>
              </a:rPr>
              <a:t>Parts hot-glued to the PVC pipe; HC-SR04 on a foam spacer; battery cable-tied</a:t>
            </a:r>
            <a:endParaRPr lang="en-US" sz="1400" dirty="0"/>
          </a:p>
          <a:p>
            <a:pPr marL="342900" indent="-342900">
              <a:spcAft>
                <a:spcPts val="800"/>
              </a:spcAft>
              <a:buSzPct val="100000"/>
              <a:buChar char="•"/>
            </a:pPr>
            <a:r>
              <a:rPr lang="en-US" sz="1400" dirty="0">
                <a:solidFill>
                  <a:schemeClr val="tx1"/>
                </a:solidFill>
              </a:rPr>
              <a:t>No breadboard in the final build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ect">
            <a:avLst/>
          </a:prstGeom>
          <a:solidFill>
            <a:schemeClr val="tx2"/>
          </a:solidFill>
          <a:ln w="9525">
            <a:solidFill>
              <a:srgbClr val="B8C4D6"/>
            </a:solidFill>
            <a:prstDash val="solid"/>
          </a:ln>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ect">
            <a:avLst/>
          </a:prstGeom>
          <a:solidFill>
            <a:srgbClr val="E6F4EA"/>
          </a:solidFill>
          <a:ln w="9525">
            <a:solidFill>
              <a:srgbClr val="B8C4D6"/>
            </a:solidFill>
            <a:prstDash val="solid"/>
          </a:ln>
        </p:spPr>
      </p:sp>
      <p:sp>
        <p:nvSpPr>
          <p:cNvPr id="4" name="limitations"/>
          <p:cNvSpPr/>
          <p:nvPr/>
        </p:nvSpPr>
        <p:spPr>
          <a:xfrm>
            <a:off x="4663440" y="1188720"/>
            <a:ext cx="4023360" cy="3383280"/>
          </a:xfrm>
          <a:prstGeom prst="rect">
            <a:avLst/>
          </a:prstGeom>
          <a:solidFill>
            <a:srgbClr val="FDECEA"/>
          </a:solidFill>
          <a:ln w="9525">
            <a:solidFill>
              <a:srgbClr val="B8C4D6"/>
            </a:solidFill>
            <a:prstDash val="solid"/>
          </a:ln>
        </p:spPr>
      </p:sp>
      <p:pic>
        <p:nvPicPr>
          <p:cNvPr id="5" name="icon" descr="preencoded.png">    </p:cNvPr>
          <p:cNvPicPr>
            <a:picLocks noChangeAspect="1"/>
          </p:cNvPicPr>
          <p:nvPr/>
        </p:nvPicPr>
        <p:blipFill>
          <a:blip r:embed="rId1"/>
          <a:stretch>
            <a:fillRect/>
          </a:stretch>
        </p:blipFill>
        <p:spPr>
          <a:xfrm>
            <a:off x="731520" y="1417320"/>
            <a:ext cx="342900" cy="342900"/>
          </a:xfrm>
          <a:prstGeom prst="rect">
            <a:avLst/>
          </a:prstGeom>
        </p:spPr>
      </p:pic>
      <p:pic>
        <p:nvPicPr>
          <p:cNvPr id="6" name="icon" descr="preencoded.png">    </p:cNvPr>
          <p:cNvPicPr>
            <a:picLocks noChangeAspect="1"/>
          </p:cNvPicPr>
          <p:nvPr/>
        </p:nvPicPr>
        <p:blipFill>
          <a:blip r:embed="rId2"/>
          <a:stretch>
            <a:fillRect/>
          </a:stretch>
        </p:blipFill>
        <p:spPr>
          <a:xfrm>
            <a:off x="4937760" y="1417320"/>
            <a:ext cx="342900" cy="342900"/>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8" name="Text 4"/>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9" name="Text 5"/>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0" name="Text 6"/>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6" name="Text 3"/>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7" name="future card"/>
          <p:cNvSpPr/>
          <p:nvPr/>
        </p:nvSpPr>
        <p:spPr>
          <a:xfrm>
            <a:off x="3246120" y="1188720"/>
            <a:ext cx="2606040" cy="146304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3479292" y="1421892"/>
            <a:ext cx="377190" cy="377190"/>
          </a:xfrm>
          <a:prstGeom prst="rect">
            <a:avLst/>
          </a:prstGeom>
        </p:spPr>
      </p:pic>
      <p:sp>
        <p:nvSpPr>
          <p:cNvPr id="9" name="Text 5"/>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0" name="Text 6"/>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1" name="future card"/>
          <p:cNvSpPr/>
          <p:nvPr/>
        </p:nvSpPr>
        <p:spPr>
          <a:xfrm>
            <a:off x="6035040" y="1188720"/>
            <a:ext cx="2606040" cy="146304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6268212" y="1421892"/>
            <a:ext cx="377190" cy="377190"/>
          </a:xfrm>
          <a:prstGeom prst="rect">
            <a:avLst/>
          </a:prstGeom>
        </p:spPr>
      </p:pic>
      <p:sp>
        <p:nvSpPr>
          <p:cNvPr id="13" name="Text 8"/>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4" name="Text 9"/>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5" name="future card"/>
          <p:cNvSpPr/>
          <p:nvPr/>
        </p:nvSpPr>
        <p:spPr>
          <a:xfrm>
            <a:off x="457200" y="2880360"/>
            <a:ext cx="2606040" cy="146304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0372" y="3113532"/>
            <a:ext cx="377190" cy="377190"/>
          </a:xfrm>
          <a:prstGeom prst="rect">
            <a:avLst/>
          </a:prstGeom>
        </p:spPr>
      </p:pic>
      <p:sp>
        <p:nvSpPr>
          <p:cNvPr id="17" name="Text 11"/>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18" name="Text 12"/>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19" name="future card"/>
          <p:cNvSpPr/>
          <p:nvPr/>
        </p:nvSpPr>
        <p:spPr>
          <a:xfrm>
            <a:off x="3246120" y="2880360"/>
            <a:ext cx="2606040" cy="146304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3479292" y="3113532"/>
            <a:ext cx="377190" cy="377190"/>
          </a:xfrm>
          <a:prstGeom prst="rect">
            <a:avLst/>
          </a:prstGeom>
        </p:spPr>
      </p:pic>
      <p:sp>
        <p:nvSpPr>
          <p:cNvPr id="21" name="Text 14"/>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2" name="Text 15"/>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3" name="future card"/>
          <p:cNvSpPr/>
          <p:nvPr/>
        </p:nvSpPr>
        <p:spPr>
          <a:xfrm>
            <a:off x="6035040" y="2880360"/>
            <a:ext cx="2606040" cy="146304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6268212" y="3113532"/>
            <a:ext cx="377190" cy="377190"/>
          </a:xfrm>
          <a:prstGeom prst="rect">
            <a:avLst/>
          </a:prstGeom>
        </p:spPr>
      </p:pic>
      <p:sp>
        <p:nvSpPr>
          <p:cNvPr id="25" name="Text 17"/>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26" name="Text 18"/>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ect">
            <a:avLst/>
          </a:prstGeom>
          <a:solidFill>
            <a:srgbClr val="1F2E52"/>
          </a:solidFill>
          <a:ln w="9525">
            <a:solidFill>
              <a:srgbClr val="B8C4D6"/>
            </a:solidFill>
            <a:prstDash val="solid"/>
          </a:ln>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2026-10-27T10:25:04Z</dcterms:created>
  <dcterms:modified xsi:type="dcterms:W3CDTF">2026-10-27T10:25:04Z</dcterms:modified>
</cp:coreProperties>
</file>