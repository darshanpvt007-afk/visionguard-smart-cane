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1.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d2f3c01-0559-1672-fb04-b7c99fc5b1aa}">
          <p14:sldIdLst>
            <p14:sldId id="256"/>
            <p14:sldId id="257"/>
            <p14:sldId id="258"/>
            <p14:sldId id="259"/>
            <p14:sldId id="260"/>
            <p14:sldId id="261"/>
          </p14:sldIdLst>
        </p14:section>
        <p14:section name="System Design" id="{87ea2201-aea8-60a5-c3c0-84c026a3779a}">
          <p14:sldIdLst>
            <p14:sldId id="262"/>
            <p14:sldId id="263"/>
            <p14:sldId id="264"/>
            <p14:sldId id="265"/>
            <p14:sldId id="266"/>
            <p14:sldId id="267"/>
            <p14:sldId id="268"/>
            <p14:sldId id="269"/>
          </p14:sldIdLst>
        </p14:section>
        <p14:section name="Software" id="{efd32022-2bcb-82e6-b62f-8e83e6fade06}">
          <p14:sldIdLst>
            <p14:sldId id="270"/>
            <p14:sldId id="271"/>
            <p14:sldId id="272"/>
            <p14:sldId id="273"/>
          </p14:sldIdLst>
        </p14:section>
        <p14:section name="Results and Conclusion" id="{b0c34f4d-8af3-28d1-9bcc-866040cfb42f}">
          <p14:sldIdLst>
            <p14:sldId id="274"/>
            <p14:sldId id="275"/>
            <p14:sldId id="276"/>
            <p14:sldId id="277"/>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mn-lt"/>
              </a:defRPr>
            </a:pPr>
            <a:r>
              <a:rPr sz="1400" b="0" i="0" u="none" strike="noStrike">
                <a:solidFill>
                  <a:srgbClr val="14213D"/>
                </a:solidFill>
                <a:latin typeface="+mn-lt"/>
              </a:rPr>
              <a:t>Cost breakdown (₹, incl. GST)</a:t>
            </a:r>
          </a:p>
        </c:rich>
      </c:tx>
      <c:layout/>
      <c:overlay val="0"/>
    </c:title>
    <c:autoTitleDeleted val="0"/>
    <c:plotArea>
      <c:layout/>
      <c:barChart>
        <c:barDir val="bar"/>
        <c:grouping val="clustered"/>
        <c:varyColors val="0"/>
        <c:ser>
          <c:idx val="0"/>
          <c:order val="0"/>
          <c:tx>
            <c:strRef>
              <c:f>Sheet1!$B$1</c:f>
              <c:strCache>
                <c:ptCount val="1"/>
                <c:pt idx="0">
                  <c:v>Cost (₹)</c:v>
                </c:pt>
              </c:strCache>
            </c:strRef>
          </c:tx>
          <c:spPr>
            <a:solidFill>
              <a:srgbClr val="1F7A8C"/>
            </a:solidFill>
            <a:effectLst/>
          </c:spPr>
          <c:invertIfNegative val="0"/>
          <c:dLbls>
            <c:numFmt formatCode="#,##0" sourceLinked="0"/>
            <c:txPr>
              <a:bodyPr/>
              <a:lstStyle/>
              <a:p>
                <a:pPr>
                  <a:defRPr b="0" i="0" strike="noStrike" sz="1200" u="none">
                    <a:solidFill>
                      <a:srgbClr val="1B1B1F"/>
                    </a:solidFill>
                    <a:latin typeface="+mn-lt"/>
                  </a:defRPr>
                </a:pPr>
              </a:p>
            </c:txPr>
            <c:showLegendKey val="0"/>
            <c:showVal val="1"/>
            <c:showCatName val="0"/>
            <c:showSerName val="0"/>
            <c:showPercent val="0"/>
            <c:showBubbleSize val="0"/>
            <c:showLeaderLines val="0"/>
          </c:dLbls>
          <c:cat>
            <c:multiLvlStrRef>
              <c:f>Sheet1!$A$2:$A$6</c:f>
              <c:multiLvlStrCache>
                <c:ptCount val="5"/>
                <c:lvl>
                  <c:pt idx="0">
                    <c:v>Controller</c:v>
                  </c:pt>
                  <c:pt idx="1">
                    <c:v>Power</c:v>
                  </c:pt>
                  <c:pt idx="2">
                    <c:v>Wiring &amp; passives</c:v>
                  </c:pt>
                  <c:pt idx="3">
                    <c:v>Sensors</c:v>
                  </c:pt>
                  <c:pt idx="4">
                    <c:v>Cable, buzzer, body</c:v>
                  </c:pt>
                </c:lvl>
              </c:multiLvlStrCache>
            </c:multiLvlStrRef>
          </c:cat>
          <c:val>
            <c:numRef>
              <c:f>Sheet1!$B$2:$B$6</c:f>
              <c:numCache>
                <c:formatCode>General</c:formatCode>
                <c:ptCount val="5"/>
                <c:pt idx="0">
                  <c:v>250</c:v>
                </c:pt>
                <c:pt idx="1">
                  <c:v>175</c:v>
                </c:pt>
                <c:pt idx="2">
                  <c:v>191</c:v>
                </c:pt>
                <c:pt idx="3">
                  <c:v>150</c:v>
                </c:pt>
                <c:pt idx="4">
                  <c:v>110</c:v>
                </c:pt>
              </c:numCache>
            </c:numRef>
          </c:val>
        </c:ser>
        <c:dLbls>
          <c:numFmt formatCode="#,##0" sourceLinked="0"/>
          <c:txPr>
            <a:bodyPr/>
            <a:lstStyle/>
            <a:p>
              <a:pPr>
                <a:defRPr b="0" i="0" strike="noStrike" sz="1200" u="none">
                  <a:solidFill>
                    <a:srgbClr val="1B1B1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C677D"/>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Our project is VisionGuard, a smart cane for visually impaired people. It warns the user about obstacles in front and about water or wet ground at the tip, using an Arduino Nano, an ultrasonic sensor and a moisture probe.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flow of the talk: the problem, our objectives, the system design, the software, the results, and finally the limitations and future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Millions of people depend on the white cane. Its limits: it detects an obstacle only on contact, it cannot warn about water or open drains, and it gives no idea of distance.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white cane is cheap but contact-only. Guide dogs are excellent but expensive and scarce. Commercial smart canes are costly and imported. Our project targets the gap: a low-cost cane that warns about both obstacles and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measurable objectives: detect obstacles within 50 cm; show distance through the beep gap, from 50 ms when very close to 400 ms at 50 cm; detect water when the moisture reading drops below 500 out of 1023, with priority; and keep the cane cheap and portable, about 876 rupees of hardware on one battery.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adds three things to a PVC cane: an ultrasonic sensor as its eyes, a moisture probe at the tip, and a buzzer that gives prioritised alerts. An Arduino Nano runs it all from a single 18650 battery.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Inputs on the left: the ultrasonic sensor on D5 and D6, and the moisture probe through the LM393 module on A0. The Nano in the middle decides. The output is the buzzer on D2. Power comes from the battery through the switch to the 5V pin. The dashed vibration motor is planned, not built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eight electronic parts. The Nano is the brain, the HC-SR04 measures distance, the probe and LM393 module sense water, the buzzer alerts, and the battery, switch and capacitor make up the power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chose the Arduino Nano because it is small enough for a cane, cheap, uses 5 volt logic like our sensors, has a built-in 10-bit ADC for the moisture probe, and is easy to program over USB. A Raspberry Pi would be overkill in cost, power and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Nano sends a 10 microsecond pulse on Trig. The sensor emits eight 40 kHz pulses and holds Echo high until the echo returns. Distance equals speed of sound times time, divided by two because the sound goes there and back. For example, 1000 microseconds gives 17 centimetres.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probe has two copper tracks. Dry air does not conduct, so the reading is near 1023. Water conducts, the resistance drops, and the voltage on A0 falls. Below 500 we treat it as water. Because the ADC reference and the divider use the same supply, the reading does not depend on the battery voltage.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18650 lithium-ion cell powers everything through a rocker switch connected to the Nano's 5V pin. Total draw is about 40 mA, so the 1200 mAh cell lasts roughly 30 hours in theory. A capacitor smooths the supply. Important: switch off before connecting USB, because the battery is wired directly to the 5V 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modules share the 5 volt and ground rails. Trig goes to D5, Echo to D6, the moisture output to A0 and the buzzer to D2. D3 is reserved for a vibration motor in the next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shows every connection. Note that the moisture module's digital output D0 is not used; we read the analog value so we can set the threshold in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loop: initialise once, then measure distance, read moisture, and decide. Water has first priority with a continuous tone. Otherwise, if an obstacle is within 50 cm, it beeps with a gap from 50 to 400 ms depending on distance. Otherwise it is silent. Then it waits 30 ms and repeats.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flow graph shows the computation: the echo time is multiplied by 0.034 and divided by 2 to get distance. Distance goes to a comparison for 'near' and to constrain and map to get the beep gap. The moisture value is compared with 500 to get 'wet'. The priority select combines them to drive the buzzer.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switch-on, the system initialises and then senses. From SENSE it goes into exactly one state: water alert, obstacle alert or clear. Each returns to SENSE after 30 milliseconds. Switching off returns it to OFF from any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code, simplified. readDistanceCm sends the trigger pulse and measures the echo with a 30 ms timeout. Then the if-else chain implements the priority: water first, then obstacle with map() giving the beep gap, otherwise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built prototype. From the tip: the moisture probe, the LM393 module, the ultrasonic sensor facing forward, then the Nano with the buzzer, the switch and the battery near the handle, which keeps it easy to swing.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so far: the cane runs on battery and the obstacle alert works, with beeps getting faster as the obstacle approaches. The water alert is implemented and we are calibrating the threshold from the dry and wet readings on the Serial Monitor.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cane hardware costs about 876 rupees. The full project spend was 1,805 rupees, but that includes the soldering iron and other tools, and parts kept for the next version such as the MOSFET and fuse. That is far cheaper than commercial smart canes.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Advantages: early warning with distance information, water detection, low cost and easy repair. Limitations: the narrow beam misses head-level obstacles, water is detected only on contact, the probe corrodes, the supply is unregulated, and a buzzer can be hard to hear in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final version we plan a vibration motor for silent alerts, regulated power with charging and a fuse, extra sensors for head-level obstacles and steps, a capacitive moisture sensor, GPS with an SOS message, and a PCB in a waterproof enclosure.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datasheets and documentation we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VisionGuard turns a plain cane into a low-cost electronic travel aid that warns about obstacles before contact, shows distance through the beep rate, and gives priority warnings for water, all for under 900 rupees.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4572000" cy="10972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2423160"/>
            <a:ext cx="4572000" cy="1188720"/>
          </a:xfrm>
          <a:prstGeom prst="rect">
            <a:avLst/>
          </a:prstGeom>
          <a:noFill/>
          <a:ln/>
        </p:spPr>
        <p:txBody>
          <a:bodyPr wrap="square" rtlCol="0"/>
          <a:lstStyle>
            <a:lvl1pPr algn="l" indent="0" marL="0">
              <a:buNone/>
              <a:defRPr lang="en-US" sz="1800" dirty="0">
                <a:solidFill>
                  <a:schemeClr val="accent6"/>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nvSpPr>
        <p:spPr>
          <a:xfrm>
            <a:off x="457200" y="4773168"/>
            <a:ext cx="6858000" cy="274320"/>
          </a:xfrm>
          <a:prstGeom prst="rect">
            <a:avLst/>
          </a:prstGeom>
          <a:noFill/>
          <a:ln/>
        </p:spPr>
        <p:txBody>
          <a:bodyPr wrap="square" lIns="0" tIns="0" rIns="0" bIns="0" rtlCol="0" anchor="ctr"/>
          <a:lstStyle/>
          <a:p>
            <a:pPr indent="0" marL="0">
              <a:buNone/>
            </a:pPr>
            <a:r>
              <a:rPr lang="en-US" sz="1000" dirty="0">
                <a:solidFill>
                  <a:schemeClr val="accent5"/>
                </a:solidFill>
              </a:rPr>
              <a:t>VisionGuard Smart Cane  |  BACSE324 Embedded Systems Architecture</a:t>
            </a:r>
            <a:endParaRPr lang="en-US" sz="10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3.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jp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9-2.jpg"/><Relationship Id="rId3" Type="http://schemas.openxmlformats.org/officeDocument/2006/relationships/image" Target="../media/image-19-3.jpg"/><Relationship Id="rId4" Type="http://schemas.openxmlformats.org/officeDocument/2006/relationships/image" Target="../media/image-19-4.jpg"/><Relationship Id="rId5" Type="http://schemas.openxmlformats.org/officeDocument/2006/relationships/image" Target="../media/image-19-5.jpg"/><Relationship Id="rId6" Type="http://schemas.openxmlformats.org/officeDocument/2006/relationships/slideLayout" Target="../slideLayouts/slideLayout3.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3.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3.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4572000" cy="1097280"/>
          </a:xfrm>
          <a:prstGeom prst="rect">
            <a:avLst/>
          </a:prstGeom>
          <a:noFill/>
          <a:ln/>
        </p:spPr>
        <p:txBody>
          <a:bodyPr wrap="square" lIns="0" tIns="0" rIns="0" bIns="0" rtlCol="0" anchor="b"/>
          <a:lstStyle/>
          <a:p>
            <a:pPr algn="l" indent="0" marL="0">
              <a:buNone/>
            </a:pPr>
            <a:r>
              <a:rPr lang="en-US" sz="4400" b="1" dirty="0">
                <a:solidFill>
                  <a:schemeClr val="bg1"/>
                </a:solidFill>
              </a:rPr>
              <a:t>VisionGuard</a:t>
            </a:r>
            <a:endParaRPr lang="en-US" sz="4400" dirty="0"/>
          </a:p>
        </p:txBody>
      </p:sp>
      <p:sp>
        <p:nvSpPr>
          <p:cNvPr id="3" name="Text 0"/>
          <p:cNvSpPr/>
          <p:nvPr>
            <p:ph idx="101" type="body" hasCustomPrompt="1"/>
          </p:nvPr>
        </p:nvSpPr>
        <p:spPr>
          <a:xfrm>
            <a:off x="548640" y="2423160"/>
            <a:ext cx="4572000" cy="1188720"/>
          </a:xfrm>
          <a:prstGeom prst="rect">
            <a:avLst/>
          </a:prstGeom>
          <a:noFill/>
          <a:ln/>
        </p:spPr>
        <p:txBody>
          <a:bodyPr wrap="square" lIns="0" tIns="0" rIns="0" bIns="0" rtlCol="0" anchor="t"/>
          <a:lstStyle/>
          <a:p>
            <a:pPr algn="l" indent="0" marL="0">
              <a:buNone/>
            </a:pPr>
            <a:r>
              <a:rPr lang="en-US" sz="1800" dirty="0">
                <a:solidFill>
                  <a:schemeClr val="accent6"/>
                </a:solidFill>
              </a:rPr>
              <a:t>Smart cane for visually impaired people: obstacle and wet-surface warning with an Arduino Nano</a:t>
            </a:r>
            <a:endParaRPr lang="en-US" sz="1800" dirty="0"/>
          </a:p>
        </p:txBody>
      </p:sp>
      <p:sp>
        <p:nvSpPr>
          <p:cNvPr id="4" name="Text 2"/>
          <p:cNvSpPr txBox="1"/>
          <p:nvPr/>
        </p:nvSpPr>
        <p:spPr>
          <a:xfrm>
            <a:off x="548640" y="3886200"/>
            <a:ext cx="4572000" cy="548640"/>
          </a:xfrm>
          <a:prstGeom prst="rect">
            <a:avLst/>
          </a:prstGeom>
          <a:noFill/>
          <a:ln/>
        </p:spPr>
        <p:txBody>
          <a:bodyPr wrap="square" lIns="0" tIns="0" rIns="0" bIns="0" rtlCol="0" anchor="t"/>
          <a:lstStyle/>
          <a:p>
            <a:pPr indent="0" marL="0">
              <a:buNone/>
            </a:pPr>
            <a:r>
              <a:rPr lang="en-US" sz="1300" b="1" dirty="0">
                <a:solidFill>
                  <a:schemeClr val="bg1"/>
                </a:solidFill>
              </a:rPr>
              <a:t>Darshan S</a:t>
            </a:r>
            <a:endParaRPr lang="en-US" sz="1300" dirty="0"/>
          </a:p>
          <a:p>
            <a:pPr indent="0" marL="0">
              <a:buNone/>
            </a:pPr>
            <a:r>
              <a:rPr lang="en-US" sz="1300" dirty="0">
                <a:solidFill>
                  <a:schemeClr val="bg1"/>
                </a:solidFill>
              </a:rPr>
              <a:t>BACSE324 Embedded Systems Architecture  |  Course Project</a:t>
            </a:r>
            <a:endParaRPr lang="en-US" sz="1300" dirty="0"/>
          </a:p>
        </p:txBody>
      </p:sp>
      <p:sp>
        <p:nvSpPr>
          <p:cNvPr id="5" name="tag"/>
          <p:cNvSpPr/>
          <p:nvPr/>
        </p:nvSpPr>
        <p:spPr>
          <a:xfrm>
            <a:off x="548640" y="548640"/>
            <a:ext cx="1463040" cy="329184"/>
          </a:xfrm>
          <a:prstGeom prst="roundRect">
            <a:avLst>
              <a:gd name="adj" fmla="val 50000"/>
            </a:avLst>
          </a:prstGeom>
          <a:solidFill>
            <a:schemeClr val="accent1"/>
          </a:solidFill>
          <a:ln w="12700">
            <a:solidFill>
              <a:schemeClr val="accent1"/>
            </a:solidFill>
            <a:prstDash val="solid"/>
          </a:ln>
        </p:spPr>
      </p:sp>
      <p:sp>
        <p:nvSpPr>
          <p:cNvPr id="6" name="Text 4"/>
          <p:cNvSpPr txBox="1"/>
          <p:nvPr/>
        </p:nvSpPr>
        <p:spPr>
          <a:xfrm>
            <a:off x="548640" y="548640"/>
            <a:ext cx="1463040" cy="329184"/>
          </a:xfrm>
          <a:prstGeom prst="rect">
            <a:avLst/>
          </a:prstGeom>
          <a:noFill/>
          <a:ln/>
        </p:spPr>
        <p:txBody>
          <a:bodyPr wrap="square" lIns="0" tIns="0" rIns="0" bIns="0" rtlCol="0" anchor="ctr"/>
          <a:lstStyle/>
          <a:p>
            <a:pPr algn="ctr" indent="0" marL="0">
              <a:buNone/>
            </a:pPr>
            <a:r>
              <a:rPr lang="en-US" sz="1100" b="1" dirty="0">
                <a:solidFill>
                  <a:schemeClr val="tx2"/>
                </a:solidFill>
              </a:rPr>
              <a:t>COURSE PROJECT</a:t>
            </a:r>
            <a:endParaRPr lang="en-US" sz="1100" dirty="0"/>
          </a:p>
        </p:txBody>
      </p:sp>
      <p:pic>
        <p:nvPicPr>
          <p:cNvPr id="7" name="prototype photo" descr="img/overview.jpg">    </p:cNvPr>
          <p:cNvPicPr>
            <a:picLocks noChangeAspect="1"/>
          </p:cNvPicPr>
          <p:nvPr/>
        </p:nvPicPr>
        <p:blipFill>
          <a:blip r:embed="rId1"/>
          <a:stretch>
            <a:fillRect/>
          </a:stretch>
        </p:blipFill>
        <p:spPr>
          <a:xfrm>
            <a:off x="5394960" y="1320394"/>
            <a:ext cx="3291840" cy="247985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What this presentation covers</a:t>
            </a:r>
            <a:endParaRPr lang="en-US" sz="3000" dirty="0"/>
          </a:p>
        </p:txBody>
      </p:sp>
      <p:sp>
        <p:nvSpPr>
          <p:cNvPr id="3" name="agenda card"/>
          <p:cNvSpPr/>
          <p:nvPr/>
        </p:nvSpPr>
        <p:spPr>
          <a:xfrm>
            <a:off x="457200" y="1234440"/>
            <a:ext cx="2606040" cy="1463040"/>
          </a:xfrm>
          <a:prstGeom prst="roundRect">
            <a:avLst>
              <a:gd name="adj" fmla="val 7500"/>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4" name="Text 2"/>
          <p:cNvSpPr txBox="1"/>
          <p:nvPr/>
        </p:nvSpPr>
        <p:spPr>
          <a:xfrm>
            <a:off x="685800" y="1417320"/>
            <a:ext cx="9144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01</a:t>
            </a:r>
            <a:endParaRPr lang="en-US" sz="2600" dirty="0"/>
          </a:p>
        </p:txBody>
      </p:sp>
      <p:sp>
        <p:nvSpPr>
          <p:cNvPr id="5" name="Text 3"/>
          <p:cNvSpPr txBox="1"/>
          <p:nvPr/>
        </p:nvSpPr>
        <p:spPr>
          <a:xfrm>
            <a:off x="685800" y="1892808"/>
            <a:ext cx="2194560" cy="320040"/>
          </a:xfrm>
          <a:prstGeom prst="rect">
            <a:avLst/>
          </a:prstGeom>
          <a:noFill/>
          <a:ln/>
        </p:spPr>
        <p:txBody>
          <a:bodyPr wrap="square" lIns="0" tIns="0" rIns="0" bIns="0" rtlCol="0" anchor="t"/>
          <a:lstStyle/>
          <a:p>
            <a:pPr indent="0" marL="0">
              <a:buNone/>
            </a:pPr>
            <a:r>
              <a:rPr lang="en-US" sz="1700" b="1" dirty="0">
                <a:solidFill>
                  <a:schemeClr val="tx2"/>
                </a:solidFill>
              </a:rPr>
              <a:t>Problem</a:t>
            </a:r>
            <a:endParaRPr lang="en-US" sz="1700" dirty="0"/>
          </a:p>
        </p:txBody>
      </p:sp>
      <p:sp>
        <p:nvSpPr>
          <p:cNvPr id="6" name="Text 4"/>
          <p:cNvSpPr txBox="1"/>
          <p:nvPr/>
        </p:nvSpPr>
        <p:spPr>
          <a:xfrm>
            <a:off x="685800" y="2212848"/>
            <a:ext cx="2240280" cy="365760"/>
          </a:xfrm>
          <a:prstGeom prst="rect">
            <a:avLst/>
          </a:prstGeom>
          <a:noFill/>
          <a:ln/>
        </p:spPr>
        <p:txBody>
          <a:bodyPr wrap="square" lIns="0" tIns="0" rIns="0" bIns="0" rtlCol="0" anchor="t"/>
          <a:lstStyle/>
          <a:p>
            <a:pPr indent="0" marL="0">
              <a:buNone/>
            </a:pPr>
            <a:r>
              <a:rPr lang="en-US" sz="1300" dirty="0">
                <a:solidFill>
                  <a:schemeClr val="accent5"/>
                </a:solidFill>
              </a:rPr>
              <a:t>Why a normal cane is not enough</a:t>
            </a:r>
            <a:endParaRPr lang="en-US" sz="1300" dirty="0"/>
          </a:p>
        </p:txBody>
      </p:sp>
      <p:sp>
        <p:nvSpPr>
          <p:cNvPr id="7" name="agenda card"/>
          <p:cNvSpPr/>
          <p:nvPr/>
        </p:nvSpPr>
        <p:spPr>
          <a:xfrm>
            <a:off x="3246120" y="1234440"/>
            <a:ext cx="2606040" cy="1463040"/>
          </a:xfrm>
          <a:prstGeom prst="roundRect">
            <a:avLst>
              <a:gd name="adj" fmla="val 7500"/>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8" name="Text 6"/>
          <p:cNvSpPr txBox="1"/>
          <p:nvPr/>
        </p:nvSpPr>
        <p:spPr>
          <a:xfrm>
            <a:off x="3474720" y="1417320"/>
            <a:ext cx="9144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02</a:t>
            </a:r>
            <a:endParaRPr lang="en-US" sz="2600" dirty="0"/>
          </a:p>
        </p:txBody>
      </p:sp>
      <p:sp>
        <p:nvSpPr>
          <p:cNvPr id="9" name="Text 7"/>
          <p:cNvSpPr txBox="1"/>
          <p:nvPr/>
        </p:nvSpPr>
        <p:spPr>
          <a:xfrm>
            <a:off x="3474720" y="1892808"/>
            <a:ext cx="2194560" cy="320040"/>
          </a:xfrm>
          <a:prstGeom prst="rect">
            <a:avLst/>
          </a:prstGeom>
          <a:noFill/>
          <a:ln/>
        </p:spPr>
        <p:txBody>
          <a:bodyPr wrap="square" lIns="0" tIns="0" rIns="0" bIns="0" rtlCol="0" anchor="t"/>
          <a:lstStyle/>
          <a:p>
            <a:pPr indent="0" marL="0">
              <a:buNone/>
            </a:pPr>
            <a:r>
              <a:rPr lang="en-US" sz="1700" b="1" dirty="0">
                <a:solidFill>
                  <a:schemeClr val="tx2"/>
                </a:solidFill>
              </a:rPr>
              <a:t>Objectives</a:t>
            </a:r>
            <a:endParaRPr lang="en-US" sz="1700" dirty="0"/>
          </a:p>
        </p:txBody>
      </p:sp>
      <p:sp>
        <p:nvSpPr>
          <p:cNvPr id="10" name="Text 8"/>
          <p:cNvSpPr txBox="1"/>
          <p:nvPr/>
        </p:nvSpPr>
        <p:spPr>
          <a:xfrm>
            <a:off x="3474720" y="2212848"/>
            <a:ext cx="2240280" cy="365760"/>
          </a:xfrm>
          <a:prstGeom prst="rect">
            <a:avLst/>
          </a:prstGeom>
          <a:noFill/>
          <a:ln/>
        </p:spPr>
        <p:txBody>
          <a:bodyPr wrap="square" lIns="0" tIns="0" rIns="0" bIns="0" rtlCol="0" anchor="t"/>
          <a:lstStyle/>
          <a:p>
            <a:pPr indent="0" marL="0">
              <a:buNone/>
            </a:pPr>
            <a:r>
              <a:rPr lang="en-US" sz="1300" dirty="0">
                <a:solidFill>
                  <a:schemeClr val="accent5"/>
                </a:solidFill>
              </a:rPr>
              <a:t>What the cane must achieve</a:t>
            </a:r>
            <a:endParaRPr lang="en-US" sz="1300" dirty="0"/>
          </a:p>
        </p:txBody>
      </p:sp>
      <p:sp>
        <p:nvSpPr>
          <p:cNvPr id="11" name="agenda card"/>
          <p:cNvSpPr/>
          <p:nvPr/>
        </p:nvSpPr>
        <p:spPr>
          <a:xfrm>
            <a:off x="6035040" y="1234440"/>
            <a:ext cx="2606040" cy="1463040"/>
          </a:xfrm>
          <a:prstGeom prst="roundRect">
            <a:avLst>
              <a:gd name="adj" fmla="val 7500"/>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2" name="Text 10"/>
          <p:cNvSpPr txBox="1"/>
          <p:nvPr/>
        </p:nvSpPr>
        <p:spPr>
          <a:xfrm>
            <a:off x="6263640" y="1417320"/>
            <a:ext cx="9144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03</a:t>
            </a:r>
            <a:endParaRPr lang="en-US" sz="2600" dirty="0"/>
          </a:p>
        </p:txBody>
      </p:sp>
      <p:sp>
        <p:nvSpPr>
          <p:cNvPr id="13" name="Text 11"/>
          <p:cNvSpPr txBox="1"/>
          <p:nvPr/>
        </p:nvSpPr>
        <p:spPr>
          <a:xfrm>
            <a:off x="6263640" y="1892808"/>
            <a:ext cx="2194560" cy="320040"/>
          </a:xfrm>
          <a:prstGeom prst="rect">
            <a:avLst/>
          </a:prstGeom>
          <a:noFill/>
          <a:ln/>
        </p:spPr>
        <p:txBody>
          <a:bodyPr wrap="square" lIns="0" tIns="0" rIns="0" bIns="0" rtlCol="0" anchor="t"/>
          <a:lstStyle/>
          <a:p>
            <a:pPr indent="0" marL="0">
              <a:buNone/>
            </a:pPr>
            <a:r>
              <a:rPr lang="en-US" sz="1700" b="1" dirty="0">
                <a:solidFill>
                  <a:schemeClr val="tx2"/>
                </a:solidFill>
              </a:rPr>
              <a:t>System design</a:t>
            </a:r>
            <a:endParaRPr lang="en-US" sz="1700" dirty="0"/>
          </a:p>
        </p:txBody>
      </p:sp>
      <p:sp>
        <p:nvSpPr>
          <p:cNvPr id="14" name="Text 12"/>
          <p:cNvSpPr txBox="1"/>
          <p:nvPr/>
        </p:nvSpPr>
        <p:spPr>
          <a:xfrm>
            <a:off x="6263640" y="2212848"/>
            <a:ext cx="2240280" cy="365760"/>
          </a:xfrm>
          <a:prstGeom prst="rect">
            <a:avLst/>
          </a:prstGeom>
          <a:noFill/>
          <a:ln/>
        </p:spPr>
        <p:txBody>
          <a:bodyPr wrap="square" lIns="0" tIns="0" rIns="0" bIns="0" rtlCol="0" anchor="t"/>
          <a:lstStyle/>
          <a:p>
            <a:pPr indent="0" marL="0">
              <a:buNone/>
            </a:pPr>
            <a:r>
              <a:rPr lang="en-US" sz="1300" dirty="0">
                <a:solidFill>
                  <a:schemeClr val="accent5"/>
                </a:solidFill>
              </a:rPr>
              <a:t>Block diagram, hardware, circuit</a:t>
            </a:r>
            <a:endParaRPr lang="en-US" sz="1300" dirty="0"/>
          </a:p>
        </p:txBody>
      </p:sp>
      <p:sp>
        <p:nvSpPr>
          <p:cNvPr id="15" name="agenda card"/>
          <p:cNvSpPr/>
          <p:nvPr/>
        </p:nvSpPr>
        <p:spPr>
          <a:xfrm>
            <a:off x="457200" y="2926080"/>
            <a:ext cx="2606040" cy="1463040"/>
          </a:xfrm>
          <a:prstGeom prst="roundRect">
            <a:avLst>
              <a:gd name="adj" fmla="val 7500"/>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6" name="Text 14"/>
          <p:cNvSpPr txBox="1"/>
          <p:nvPr/>
        </p:nvSpPr>
        <p:spPr>
          <a:xfrm>
            <a:off x="685800" y="3108960"/>
            <a:ext cx="9144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04</a:t>
            </a:r>
            <a:endParaRPr lang="en-US" sz="2600" dirty="0"/>
          </a:p>
        </p:txBody>
      </p:sp>
      <p:sp>
        <p:nvSpPr>
          <p:cNvPr id="17" name="Text 15"/>
          <p:cNvSpPr txBox="1"/>
          <p:nvPr/>
        </p:nvSpPr>
        <p:spPr>
          <a:xfrm>
            <a:off x="685800" y="3584448"/>
            <a:ext cx="2194560" cy="320040"/>
          </a:xfrm>
          <a:prstGeom prst="rect">
            <a:avLst/>
          </a:prstGeom>
          <a:noFill/>
          <a:ln/>
        </p:spPr>
        <p:txBody>
          <a:bodyPr wrap="square" lIns="0" tIns="0" rIns="0" bIns="0" rtlCol="0" anchor="t"/>
          <a:lstStyle/>
          <a:p>
            <a:pPr indent="0" marL="0">
              <a:buNone/>
            </a:pPr>
            <a:r>
              <a:rPr lang="en-US" sz="1700" b="1" dirty="0">
                <a:solidFill>
                  <a:schemeClr val="tx2"/>
                </a:solidFill>
              </a:rPr>
              <a:t>Software</a:t>
            </a:r>
            <a:endParaRPr lang="en-US" sz="1700" dirty="0"/>
          </a:p>
        </p:txBody>
      </p:sp>
      <p:sp>
        <p:nvSpPr>
          <p:cNvPr id="18" name="Text 16"/>
          <p:cNvSpPr txBox="1"/>
          <p:nvPr/>
        </p:nvSpPr>
        <p:spPr>
          <a:xfrm>
            <a:off x="685800" y="3904488"/>
            <a:ext cx="2240280" cy="365760"/>
          </a:xfrm>
          <a:prstGeom prst="rect">
            <a:avLst/>
          </a:prstGeom>
          <a:noFill/>
          <a:ln/>
        </p:spPr>
        <p:txBody>
          <a:bodyPr wrap="square" lIns="0" tIns="0" rIns="0" bIns="0" rtlCol="0" anchor="t"/>
          <a:lstStyle/>
          <a:p>
            <a:pPr indent="0" marL="0">
              <a:buNone/>
            </a:pPr>
            <a:r>
              <a:rPr lang="en-US" sz="1300" dirty="0">
                <a:solidFill>
                  <a:schemeClr val="accent5"/>
                </a:solidFill>
              </a:rPr>
              <a:t>Algorithm, DFG, state diagram, code</a:t>
            </a:r>
            <a:endParaRPr lang="en-US" sz="1300" dirty="0"/>
          </a:p>
        </p:txBody>
      </p:sp>
      <p:sp>
        <p:nvSpPr>
          <p:cNvPr id="19" name="agenda card"/>
          <p:cNvSpPr/>
          <p:nvPr/>
        </p:nvSpPr>
        <p:spPr>
          <a:xfrm>
            <a:off x="3246120" y="2926080"/>
            <a:ext cx="2606040" cy="1463040"/>
          </a:xfrm>
          <a:prstGeom prst="roundRect">
            <a:avLst>
              <a:gd name="adj" fmla="val 7500"/>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20" name="Text 18"/>
          <p:cNvSpPr txBox="1"/>
          <p:nvPr/>
        </p:nvSpPr>
        <p:spPr>
          <a:xfrm>
            <a:off x="3474720" y="3108960"/>
            <a:ext cx="9144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05</a:t>
            </a:r>
            <a:endParaRPr lang="en-US" sz="2600" dirty="0"/>
          </a:p>
        </p:txBody>
      </p:sp>
      <p:sp>
        <p:nvSpPr>
          <p:cNvPr id="21" name="Text 19"/>
          <p:cNvSpPr txBox="1"/>
          <p:nvPr/>
        </p:nvSpPr>
        <p:spPr>
          <a:xfrm>
            <a:off x="3474720" y="3584448"/>
            <a:ext cx="2194560" cy="320040"/>
          </a:xfrm>
          <a:prstGeom prst="rect">
            <a:avLst/>
          </a:prstGeom>
          <a:noFill/>
          <a:ln/>
        </p:spPr>
        <p:txBody>
          <a:bodyPr wrap="square" lIns="0" tIns="0" rIns="0" bIns="0" rtlCol="0" anchor="t"/>
          <a:lstStyle/>
          <a:p>
            <a:pPr indent="0" marL="0">
              <a:buNone/>
            </a:pPr>
            <a:r>
              <a:rPr lang="en-US" sz="1700" b="1" dirty="0">
                <a:solidFill>
                  <a:schemeClr val="tx2"/>
                </a:solidFill>
              </a:rPr>
              <a:t>Results</a:t>
            </a:r>
            <a:endParaRPr lang="en-US" sz="1700" dirty="0"/>
          </a:p>
        </p:txBody>
      </p:sp>
      <p:sp>
        <p:nvSpPr>
          <p:cNvPr id="22" name="Text 20"/>
          <p:cNvSpPr txBox="1"/>
          <p:nvPr/>
        </p:nvSpPr>
        <p:spPr>
          <a:xfrm>
            <a:off x="3474720" y="3904488"/>
            <a:ext cx="2240280" cy="365760"/>
          </a:xfrm>
          <a:prstGeom prst="rect">
            <a:avLst/>
          </a:prstGeom>
          <a:noFill/>
          <a:ln/>
        </p:spPr>
        <p:txBody>
          <a:bodyPr wrap="square" lIns="0" tIns="0" rIns="0" bIns="0" rtlCol="0" anchor="t"/>
          <a:lstStyle/>
          <a:p>
            <a:pPr indent="0" marL="0">
              <a:buNone/>
            </a:pPr>
            <a:r>
              <a:rPr lang="en-US" sz="1300" dirty="0">
                <a:solidFill>
                  <a:schemeClr val="accent5"/>
                </a:solidFill>
              </a:rPr>
              <a:t>Prototype, tests and cost</a:t>
            </a:r>
            <a:endParaRPr lang="en-US" sz="1300" dirty="0"/>
          </a:p>
        </p:txBody>
      </p:sp>
      <p:sp>
        <p:nvSpPr>
          <p:cNvPr id="23" name="agenda card"/>
          <p:cNvSpPr/>
          <p:nvPr/>
        </p:nvSpPr>
        <p:spPr>
          <a:xfrm>
            <a:off x="6035040" y="2926080"/>
            <a:ext cx="2606040" cy="1463040"/>
          </a:xfrm>
          <a:prstGeom prst="roundRect">
            <a:avLst>
              <a:gd name="adj" fmla="val 7500"/>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24" name="Text 22"/>
          <p:cNvSpPr txBox="1"/>
          <p:nvPr/>
        </p:nvSpPr>
        <p:spPr>
          <a:xfrm>
            <a:off x="6263640" y="3108960"/>
            <a:ext cx="9144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06</a:t>
            </a:r>
            <a:endParaRPr lang="en-US" sz="2600" dirty="0"/>
          </a:p>
        </p:txBody>
      </p:sp>
      <p:sp>
        <p:nvSpPr>
          <p:cNvPr id="25" name="Text 23"/>
          <p:cNvSpPr txBox="1"/>
          <p:nvPr/>
        </p:nvSpPr>
        <p:spPr>
          <a:xfrm>
            <a:off x="6263640" y="3584448"/>
            <a:ext cx="2194560" cy="320040"/>
          </a:xfrm>
          <a:prstGeom prst="rect">
            <a:avLst/>
          </a:prstGeom>
          <a:noFill/>
          <a:ln/>
        </p:spPr>
        <p:txBody>
          <a:bodyPr wrap="square" lIns="0" tIns="0" rIns="0" bIns="0" rtlCol="0" anchor="t"/>
          <a:lstStyle/>
          <a:p>
            <a:pPr indent="0" marL="0">
              <a:buNone/>
            </a:pPr>
            <a:r>
              <a:rPr lang="en-US" sz="1700" b="1" dirty="0">
                <a:solidFill>
                  <a:schemeClr val="tx2"/>
                </a:solidFill>
              </a:rPr>
              <a:t>Way forward</a:t>
            </a:r>
            <a:endParaRPr lang="en-US" sz="1700" dirty="0"/>
          </a:p>
        </p:txBody>
      </p:sp>
      <p:sp>
        <p:nvSpPr>
          <p:cNvPr id="26" name="Text 24"/>
          <p:cNvSpPr txBox="1"/>
          <p:nvPr/>
        </p:nvSpPr>
        <p:spPr>
          <a:xfrm>
            <a:off x="6263640" y="3904488"/>
            <a:ext cx="2240280" cy="365760"/>
          </a:xfrm>
          <a:prstGeom prst="rect">
            <a:avLst/>
          </a:prstGeom>
          <a:noFill/>
          <a:ln/>
        </p:spPr>
        <p:txBody>
          <a:bodyPr wrap="square" lIns="0" tIns="0" rIns="0" bIns="0" rtlCol="0" anchor="t"/>
          <a:lstStyle/>
          <a:p>
            <a:pPr indent="0" marL="0">
              <a:buNone/>
            </a:pPr>
            <a:r>
              <a:rPr lang="en-US" sz="1300" dirty="0">
                <a:solidFill>
                  <a:schemeClr val="accent5"/>
                </a:solidFill>
              </a:rPr>
              <a:t>Limitations and future scope</a:t>
            </a:r>
            <a:endParaRPr lang="en-US" sz="13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The problem with a white cane</a:t>
            </a:r>
            <a:endParaRPr lang="en-US" sz="3000" dirty="0"/>
          </a:p>
        </p:txBody>
      </p:sp>
      <p:sp>
        <p:nvSpPr>
          <p:cNvPr id="3" name="stat card"/>
          <p:cNvSpPr/>
          <p:nvPr/>
        </p:nvSpPr>
        <p:spPr>
          <a:xfrm>
            <a:off x="457200" y="1188720"/>
            <a:ext cx="3200400" cy="3291840"/>
          </a:xfrm>
          <a:prstGeom prst="roundRect">
            <a:avLst>
              <a:gd name="adj" fmla="val 3429"/>
            </a:avLst>
          </a:prstGeom>
          <a:solidFill>
            <a:schemeClr val="tx2"/>
          </a:solidFill>
          <a:ln w="12700">
            <a:solidFill>
              <a:schemeClr val="tx2"/>
            </a:solidFill>
            <a:prstDash val="solid"/>
          </a:ln>
          <a:effectLst>
            <a:outerShdw sx="100000" sy="100000" kx="0" ky="0" algn="bl" rotWithShape="0" blurRad="76200" dist="25400" dir="5400000">
              <a:srgbClr val="000000">
                <a:alpha val="15000"/>
              </a:srgbClr>
            </a:outerShdw>
          </a:effectLst>
        </p:spPr>
      </p:sp>
      <p:sp>
        <p:nvSpPr>
          <p:cNvPr id="4" name="Text 2"/>
          <p:cNvSpPr txBox="1"/>
          <p:nvPr/>
        </p:nvSpPr>
        <p:spPr>
          <a:xfrm>
            <a:off x="685800" y="1600200"/>
            <a:ext cx="2834640" cy="82296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2.2 billion</a:t>
            </a:r>
            <a:endParaRPr lang="en-US" sz="4000" dirty="0"/>
          </a:p>
        </p:txBody>
      </p:sp>
      <p:sp>
        <p:nvSpPr>
          <p:cNvPr id="5" name="Text 3"/>
          <p:cNvSpPr txBox="1"/>
          <p:nvPr/>
        </p:nvSpPr>
        <p:spPr>
          <a:xfrm>
            <a:off x="685800" y="2468880"/>
            <a:ext cx="2743200" cy="914400"/>
          </a:xfrm>
          <a:prstGeom prst="rect">
            <a:avLst/>
          </a:prstGeom>
          <a:noFill/>
          <a:ln/>
        </p:spPr>
        <p:txBody>
          <a:bodyPr wrap="square" lIns="0" tIns="0" rIns="0" bIns="0" rtlCol="0" anchor="t"/>
          <a:lstStyle/>
          <a:p>
            <a:pPr indent="0" marL="0">
              <a:buNone/>
            </a:pPr>
            <a:r>
              <a:rPr lang="en-US" sz="1600" dirty="0">
                <a:solidFill>
                  <a:schemeClr val="bg1"/>
                </a:solidFill>
              </a:rPr>
              <a:t>people worldwide live with a near or distance vision impairment</a:t>
            </a:r>
            <a:endParaRPr lang="en-US" sz="1600" dirty="0"/>
          </a:p>
        </p:txBody>
      </p:sp>
      <p:sp>
        <p:nvSpPr>
          <p:cNvPr id="6" name="Text 4"/>
          <p:cNvSpPr txBox="1"/>
          <p:nvPr/>
        </p:nvSpPr>
        <p:spPr>
          <a:xfrm>
            <a:off x="685800" y="3886200"/>
            <a:ext cx="2743200" cy="365760"/>
          </a:xfrm>
          <a:prstGeom prst="rect">
            <a:avLst/>
          </a:prstGeom>
          <a:noFill/>
          <a:ln/>
        </p:spPr>
        <p:txBody>
          <a:bodyPr wrap="square" lIns="0" tIns="0" rIns="0" bIns="0" rtlCol="0" anchor="t"/>
          <a:lstStyle/>
          <a:p>
            <a:pPr indent="0" marL="0">
              <a:buNone/>
            </a:pPr>
            <a:r>
              <a:rPr lang="en-US" sz="1000" dirty="0">
                <a:solidFill>
                  <a:schemeClr val="accent6"/>
                </a:solidFill>
              </a:rPr>
              <a:t>Source: WHO, World Report on Vision, 2019</a:t>
            </a:r>
            <a:endParaRPr lang="en-US" sz="1000" dirty="0"/>
          </a:p>
        </p:txBody>
      </p:sp>
      <p:sp>
        <p:nvSpPr>
          <p:cNvPr id="7" name="icon circle"/>
          <p:cNvSpPr/>
          <p:nvPr/>
        </p:nvSpPr>
        <p:spPr>
          <a:xfrm>
            <a:off x="4069080" y="1234440"/>
            <a:ext cx="640080" cy="640080"/>
          </a:xfrm>
          <a:prstGeom prst="ellipse">
            <a:avLst/>
          </a:prstGeom>
          <a:solidFill>
            <a:schemeClr val="accent1"/>
          </a:solidFill>
          <a:ln w="12700">
            <a:solidFill>
              <a:schemeClr val="accent1"/>
            </a:solidFill>
            <a:prstDash val="solid"/>
          </a:ln>
        </p:spPr>
      </p:sp>
      <p:pic>
        <p:nvPicPr>
          <p:cNvPr id="8" name="icon" descr="preencoded.png">    </p:cNvPr>
          <p:cNvPicPr>
            <a:picLocks noChangeAspect="1"/>
          </p:cNvPicPr>
          <p:nvPr/>
        </p:nvPicPr>
        <p:blipFill>
          <a:blip r:embed="rId1"/>
          <a:stretch>
            <a:fillRect/>
          </a:stretch>
        </p:blipFill>
        <p:spPr>
          <a:xfrm>
            <a:off x="4209898" y="1375258"/>
            <a:ext cx="358445" cy="358445"/>
          </a:xfrm>
          <a:prstGeom prst="rect">
            <a:avLst/>
          </a:prstGeom>
        </p:spPr>
      </p:pic>
      <p:sp>
        <p:nvSpPr>
          <p:cNvPr id="9" name="Text 6"/>
          <p:cNvSpPr txBox="1"/>
          <p:nvPr/>
        </p:nvSpPr>
        <p:spPr>
          <a:xfrm>
            <a:off x="4892040" y="1234440"/>
            <a:ext cx="3749040" cy="320040"/>
          </a:xfrm>
          <a:prstGeom prst="rect">
            <a:avLst/>
          </a:prstGeom>
          <a:noFill/>
          <a:ln/>
        </p:spPr>
        <p:txBody>
          <a:bodyPr wrap="square" lIns="0" tIns="0" rIns="0" bIns="0" rtlCol="0" anchor="t"/>
          <a:lstStyle/>
          <a:p>
            <a:pPr indent="0" marL="0">
              <a:buNone/>
            </a:pPr>
            <a:r>
              <a:rPr lang="en-US" sz="1700" b="1" dirty="0">
                <a:solidFill>
                  <a:schemeClr val="tx2"/>
                </a:solidFill>
              </a:rPr>
              <a:t>Contact-only detection</a:t>
            </a:r>
            <a:endParaRPr lang="en-US" sz="1700" dirty="0"/>
          </a:p>
        </p:txBody>
      </p:sp>
      <p:sp>
        <p:nvSpPr>
          <p:cNvPr id="10" name="Text 7"/>
          <p:cNvSpPr txBox="1"/>
          <p:nvPr/>
        </p:nvSpPr>
        <p:spPr>
          <a:xfrm>
            <a:off x="4892040" y="1581912"/>
            <a:ext cx="3749040" cy="548640"/>
          </a:xfrm>
          <a:prstGeom prst="rect">
            <a:avLst/>
          </a:prstGeom>
          <a:noFill/>
          <a:ln/>
        </p:spPr>
        <p:txBody>
          <a:bodyPr wrap="square" lIns="0" tIns="0" rIns="0" bIns="0" rtlCol="0" anchor="t"/>
          <a:lstStyle/>
          <a:p>
            <a:pPr indent="0" marL="0">
              <a:buNone/>
            </a:pPr>
            <a:r>
              <a:rPr lang="en-US" sz="1400" dirty="0">
                <a:solidFill>
                  <a:schemeClr val="accent5"/>
                </a:solidFill>
              </a:rPr>
              <a:t>Obstacles are found only when the cane hits them, about 1 m ahead</a:t>
            </a:r>
            <a:endParaRPr lang="en-US" sz="1400" dirty="0"/>
          </a:p>
        </p:txBody>
      </p:sp>
      <p:sp>
        <p:nvSpPr>
          <p:cNvPr id="11" name="icon circle"/>
          <p:cNvSpPr/>
          <p:nvPr/>
        </p:nvSpPr>
        <p:spPr>
          <a:xfrm>
            <a:off x="4069080" y="2331720"/>
            <a:ext cx="640080" cy="640080"/>
          </a:xfrm>
          <a:prstGeom prst="ellipse">
            <a:avLst/>
          </a:prstGeom>
          <a:solidFill>
            <a:schemeClr val="accent1"/>
          </a:solidFill>
          <a:ln w="12700">
            <a:solidFill>
              <a:schemeClr val="accent1"/>
            </a:solidFill>
            <a:prstDash val="solid"/>
          </a:ln>
        </p:spPr>
      </p:sp>
      <p:pic>
        <p:nvPicPr>
          <p:cNvPr id="12" name="icon" descr="preencoded.png">    </p:cNvPr>
          <p:cNvPicPr>
            <a:picLocks noChangeAspect="1"/>
          </p:cNvPicPr>
          <p:nvPr/>
        </p:nvPicPr>
        <p:blipFill>
          <a:blip r:embed="rId2"/>
          <a:stretch>
            <a:fillRect/>
          </a:stretch>
        </p:blipFill>
        <p:spPr>
          <a:xfrm>
            <a:off x="4209898" y="2472538"/>
            <a:ext cx="358445" cy="358445"/>
          </a:xfrm>
          <a:prstGeom prst="rect">
            <a:avLst/>
          </a:prstGeom>
        </p:spPr>
      </p:pic>
      <p:sp>
        <p:nvSpPr>
          <p:cNvPr id="13" name="Text 9"/>
          <p:cNvSpPr txBox="1"/>
          <p:nvPr/>
        </p:nvSpPr>
        <p:spPr>
          <a:xfrm>
            <a:off x="4892040" y="2331720"/>
            <a:ext cx="3749040" cy="320040"/>
          </a:xfrm>
          <a:prstGeom prst="rect">
            <a:avLst/>
          </a:prstGeom>
          <a:noFill/>
          <a:ln/>
        </p:spPr>
        <p:txBody>
          <a:bodyPr wrap="square" lIns="0" tIns="0" rIns="0" bIns="0" rtlCol="0" anchor="t"/>
          <a:lstStyle/>
          <a:p>
            <a:pPr indent="0" marL="0">
              <a:buNone/>
            </a:pPr>
            <a:r>
              <a:rPr lang="en-US" sz="1700" b="1" dirty="0">
                <a:solidFill>
                  <a:schemeClr val="tx2"/>
                </a:solidFill>
              </a:rPr>
              <a:t>No water warning</a:t>
            </a:r>
            <a:endParaRPr lang="en-US" sz="1700" dirty="0"/>
          </a:p>
        </p:txBody>
      </p:sp>
      <p:sp>
        <p:nvSpPr>
          <p:cNvPr id="14" name="Text 10"/>
          <p:cNvSpPr txBox="1"/>
          <p:nvPr/>
        </p:nvSpPr>
        <p:spPr>
          <a:xfrm>
            <a:off x="4892040" y="2679192"/>
            <a:ext cx="3749040" cy="548640"/>
          </a:xfrm>
          <a:prstGeom prst="rect">
            <a:avLst/>
          </a:prstGeom>
          <a:noFill/>
          <a:ln/>
        </p:spPr>
        <p:txBody>
          <a:bodyPr wrap="square" lIns="0" tIns="0" rIns="0" bIns="0" rtlCol="0" anchor="t"/>
          <a:lstStyle/>
          <a:p>
            <a:pPr indent="0" marL="0">
              <a:buNone/>
            </a:pPr>
            <a:r>
              <a:rPr lang="en-US" sz="1400" dirty="0">
                <a:solidFill>
                  <a:schemeClr val="accent5"/>
                </a:solidFill>
              </a:rPr>
              <a:t>Puddles, open drains and wet mud go unnoticed until stepped in</a:t>
            </a:r>
            <a:endParaRPr lang="en-US" sz="1400" dirty="0"/>
          </a:p>
        </p:txBody>
      </p:sp>
      <p:sp>
        <p:nvSpPr>
          <p:cNvPr id="15" name="icon circle"/>
          <p:cNvSpPr/>
          <p:nvPr/>
        </p:nvSpPr>
        <p:spPr>
          <a:xfrm>
            <a:off x="4069080" y="3429000"/>
            <a:ext cx="640080" cy="640080"/>
          </a:xfrm>
          <a:prstGeom prst="ellipse">
            <a:avLst/>
          </a:prstGeom>
          <a:solidFill>
            <a:schemeClr val="accent1"/>
          </a:solidFill>
          <a:ln w="12700">
            <a:solidFill>
              <a:schemeClr val="accent1"/>
            </a:solidFill>
            <a:prstDash val="solid"/>
          </a:ln>
        </p:spPr>
      </p:sp>
      <p:pic>
        <p:nvPicPr>
          <p:cNvPr id="16" name="icon" descr="preencoded.png">    </p:cNvPr>
          <p:cNvPicPr>
            <a:picLocks noChangeAspect="1"/>
          </p:cNvPicPr>
          <p:nvPr/>
        </p:nvPicPr>
        <p:blipFill>
          <a:blip r:embed="rId3"/>
          <a:stretch>
            <a:fillRect/>
          </a:stretch>
        </p:blipFill>
        <p:spPr>
          <a:xfrm>
            <a:off x="4209898" y="3569818"/>
            <a:ext cx="358445" cy="358445"/>
          </a:xfrm>
          <a:prstGeom prst="rect">
            <a:avLst/>
          </a:prstGeom>
        </p:spPr>
      </p:pic>
      <p:sp>
        <p:nvSpPr>
          <p:cNvPr id="17" name="Text 12"/>
          <p:cNvSpPr txBox="1"/>
          <p:nvPr/>
        </p:nvSpPr>
        <p:spPr>
          <a:xfrm>
            <a:off x="4892040" y="3429000"/>
            <a:ext cx="3749040" cy="320040"/>
          </a:xfrm>
          <a:prstGeom prst="rect">
            <a:avLst/>
          </a:prstGeom>
          <a:noFill/>
          <a:ln/>
        </p:spPr>
        <p:txBody>
          <a:bodyPr wrap="square" lIns="0" tIns="0" rIns="0" bIns="0" rtlCol="0" anchor="t"/>
          <a:lstStyle/>
          <a:p>
            <a:pPr indent="0" marL="0">
              <a:buNone/>
            </a:pPr>
            <a:r>
              <a:rPr lang="en-US" sz="1700" b="1" dirty="0">
                <a:solidFill>
                  <a:schemeClr val="tx2"/>
                </a:solidFill>
              </a:rPr>
              <a:t>No distance information</a:t>
            </a:r>
            <a:endParaRPr lang="en-US" sz="1700" dirty="0"/>
          </a:p>
        </p:txBody>
      </p:sp>
      <p:sp>
        <p:nvSpPr>
          <p:cNvPr id="18" name="Text 13"/>
          <p:cNvSpPr txBox="1"/>
          <p:nvPr/>
        </p:nvSpPr>
        <p:spPr>
          <a:xfrm>
            <a:off x="4892040" y="3776472"/>
            <a:ext cx="3749040" cy="548640"/>
          </a:xfrm>
          <a:prstGeom prst="rect">
            <a:avLst/>
          </a:prstGeom>
          <a:noFill/>
          <a:ln/>
        </p:spPr>
        <p:txBody>
          <a:bodyPr wrap="square" lIns="0" tIns="0" rIns="0" bIns="0" rtlCol="0" anchor="t"/>
          <a:lstStyle/>
          <a:p>
            <a:pPr indent="0" marL="0">
              <a:buNone/>
            </a:pPr>
            <a:r>
              <a:rPr lang="en-US" sz="1400" dirty="0">
                <a:solidFill>
                  <a:schemeClr val="accent5"/>
                </a:solidFill>
              </a:rPr>
              <a:t>The user cannot tell how close an obstacle is</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Existing solutions and their limits</a:t>
            </a:r>
            <a:endParaRPr lang="en-US" sz="3000" dirty="0"/>
          </a:p>
        </p:txBody>
      </p:sp>
      <p:sp>
        <p:nvSpPr>
          <p:cNvPr id="3" name="solution card"/>
          <p:cNvSpPr/>
          <p:nvPr/>
        </p:nvSpPr>
        <p:spPr>
          <a:xfrm>
            <a:off x="457200" y="1188720"/>
            <a:ext cx="2606040" cy="2514600"/>
          </a:xfrm>
          <a:prstGeom prst="roundRect">
            <a:avLst>
              <a:gd name="adj" fmla="val 4364"/>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4" name="icon circle"/>
          <p:cNvSpPr/>
          <p:nvPr/>
        </p:nvSpPr>
        <p:spPr>
          <a:xfrm>
            <a:off x="685800" y="1371600"/>
            <a:ext cx="548640" cy="548640"/>
          </a:xfrm>
          <a:prstGeom prst="ellipse">
            <a:avLst/>
          </a:prstGeom>
          <a:solidFill>
            <a:schemeClr val="tx2"/>
          </a:solidFill>
          <a:ln w="12700">
            <a:solidFill>
              <a:schemeClr val="tx2"/>
            </a:solidFill>
            <a:prstDash val="solid"/>
          </a:ln>
        </p:spPr>
      </p:sp>
      <p:pic>
        <p:nvPicPr>
          <p:cNvPr id="5" name="icon" descr="preencoded.png">    </p:cNvPr>
          <p:cNvPicPr>
            <a:picLocks noChangeAspect="1"/>
          </p:cNvPicPr>
          <p:nvPr/>
        </p:nvPicPr>
        <p:blipFill>
          <a:blip r:embed="rId1"/>
          <a:stretch>
            <a:fillRect/>
          </a:stretch>
        </p:blipFill>
        <p:spPr>
          <a:xfrm>
            <a:off x="806501" y="1492301"/>
            <a:ext cx="307238" cy="307238"/>
          </a:xfrm>
          <a:prstGeom prst="rect">
            <a:avLst/>
          </a:prstGeom>
        </p:spPr>
      </p:pic>
      <p:sp>
        <p:nvSpPr>
          <p:cNvPr id="6" name="Text 3"/>
          <p:cNvSpPr txBox="1"/>
          <p:nvPr/>
        </p:nvSpPr>
        <p:spPr>
          <a:xfrm>
            <a:off x="685800" y="2011680"/>
            <a:ext cx="2194560" cy="320040"/>
          </a:xfrm>
          <a:prstGeom prst="rect">
            <a:avLst/>
          </a:prstGeom>
          <a:noFill/>
          <a:ln/>
        </p:spPr>
        <p:txBody>
          <a:bodyPr wrap="square" lIns="0" tIns="0" rIns="0" bIns="0" rtlCol="0" anchor="t"/>
          <a:lstStyle/>
          <a:p>
            <a:pPr indent="0" marL="0">
              <a:buNone/>
            </a:pPr>
            <a:r>
              <a:rPr lang="en-US" sz="1700" b="1" dirty="0">
                <a:solidFill>
                  <a:schemeClr val="tx2"/>
                </a:solidFill>
              </a:rPr>
              <a:t>White cane</a:t>
            </a:r>
            <a:endParaRPr lang="en-US" sz="1700" dirty="0"/>
          </a:p>
        </p:txBody>
      </p:sp>
      <p:sp>
        <p:nvSpPr>
          <p:cNvPr id="7" name="Text 4"/>
          <p:cNvSpPr txBox="1"/>
          <p:nvPr/>
        </p:nvSpPr>
        <p:spPr>
          <a:xfrm>
            <a:off x="685800" y="2423160"/>
            <a:ext cx="2240280" cy="457200"/>
          </a:xfrm>
          <a:prstGeom prst="rect">
            <a:avLst/>
          </a:prstGeom>
          <a:noFill/>
          <a:ln/>
        </p:spPr>
        <p:txBody>
          <a:bodyPr wrap="square" lIns="0" tIns="0" rIns="0" bIns="0" rtlCol="0" anchor="t"/>
          <a:lstStyle/>
          <a:p>
            <a:pPr indent="0" marL="0">
              <a:buNone/>
            </a:pPr>
            <a:r>
              <a:rPr lang="en-US" sz="1400" b="1" dirty="0">
                <a:solidFill>
                  <a:schemeClr val="accent4"/>
                </a:solidFill>
              </a:rPr>
              <a:t>+ </a:t>
            </a:r>
            <a:pPr indent="0" marL="0">
              <a:buNone/>
            </a:pPr>
            <a:r>
              <a:rPr lang="en-US" sz="1400" dirty="0">
                <a:solidFill>
                  <a:schemeClr val="tx1"/>
                </a:solidFill>
              </a:rPr>
              <a:t>Cheap and simple</a:t>
            </a:r>
            <a:endParaRPr lang="en-US" sz="1400" dirty="0"/>
          </a:p>
        </p:txBody>
      </p:sp>
      <p:sp>
        <p:nvSpPr>
          <p:cNvPr id="8" name="Text 5"/>
          <p:cNvSpPr txBox="1"/>
          <p:nvPr/>
        </p:nvSpPr>
        <p:spPr>
          <a:xfrm>
            <a:off x="685800" y="2926080"/>
            <a:ext cx="2240280" cy="685800"/>
          </a:xfrm>
          <a:prstGeom prst="rect">
            <a:avLst/>
          </a:prstGeom>
          <a:noFill/>
          <a:ln/>
        </p:spPr>
        <p:txBody>
          <a:bodyPr wrap="square" lIns="0" tIns="0" rIns="0" bIns="0" rtlCol="0" anchor="t"/>
          <a:lstStyle/>
          <a:p>
            <a:pPr indent="0" marL="0">
              <a:buNone/>
            </a:pPr>
            <a:r>
              <a:rPr lang="en-US" sz="1400" b="1" dirty="0">
                <a:solidFill>
                  <a:schemeClr val="accent3"/>
                </a:solidFill>
              </a:rPr>
              <a:t>− </a:t>
            </a:r>
            <a:pPr indent="0" marL="0">
              <a:buNone/>
            </a:pPr>
            <a:r>
              <a:rPr lang="en-US" sz="1400" dirty="0">
                <a:solidFill>
                  <a:schemeClr val="tx1"/>
                </a:solidFill>
              </a:rPr>
              <a:t>Contact-only, no water or distance warning</a:t>
            </a:r>
            <a:endParaRPr lang="en-US" sz="1400" dirty="0"/>
          </a:p>
        </p:txBody>
      </p:sp>
      <p:sp>
        <p:nvSpPr>
          <p:cNvPr id="9" name="solution card"/>
          <p:cNvSpPr/>
          <p:nvPr/>
        </p:nvSpPr>
        <p:spPr>
          <a:xfrm>
            <a:off x="3246120" y="1188720"/>
            <a:ext cx="2606040" cy="2514600"/>
          </a:xfrm>
          <a:prstGeom prst="roundRect">
            <a:avLst>
              <a:gd name="adj" fmla="val 4364"/>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0" name="icon circle"/>
          <p:cNvSpPr/>
          <p:nvPr/>
        </p:nvSpPr>
        <p:spPr>
          <a:xfrm>
            <a:off x="3474720" y="1371600"/>
            <a:ext cx="548640" cy="548640"/>
          </a:xfrm>
          <a:prstGeom prst="ellipse">
            <a:avLst/>
          </a:prstGeom>
          <a:solidFill>
            <a:schemeClr val="tx2"/>
          </a:solidFill>
          <a:ln w="12700">
            <a:solidFill>
              <a:schemeClr val="tx2"/>
            </a:solidFill>
            <a:prstDash val="solid"/>
          </a:ln>
        </p:spPr>
      </p:sp>
      <p:pic>
        <p:nvPicPr>
          <p:cNvPr id="11" name="icon" descr="preencoded.png">    </p:cNvPr>
          <p:cNvPicPr>
            <a:picLocks noChangeAspect="1"/>
          </p:cNvPicPr>
          <p:nvPr/>
        </p:nvPicPr>
        <p:blipFill>
          <a:blip r:embed="rId2"/>
          <a:stretch>
            <a:fillRect/>
          </a:stretch>
        </p:blipFill>
        <p:spPr>
          <a:xfrm>
            <a:off x="3595421" y="1492301"/>
            <a:ext cx="307238" cy="307238"/>
          </a:xfrm>
          <a:prstGeom prst="rect">
            <a:avLst/>
          </a:prstGeom>
        </p:spPr>
      </p:pic>
      <p:sp>
        <p:nvSpPr>
          <p:cNvPr id="12" name="Text 8"/>
          <p:cNvSpPr txBox="1"/>
          <p:nvPr/>
        </p:nvSpPr>
        <p:spPr>
          <a:xfrm>
            <a:off x="3474720" y="2011680"/>
            <a:ext cx="2194560" cy="320040"/>
          </a:xfrm>
          <a:prstGeom prst="rect">
            <a:avLst/>
          </a:prstGeom>
          <a:noFill/>
          <a:ln/>
        </p:spPr>
        <p:txBody>
          <a:bodyPr wrap="square" lIns="0" tIns="0" rIns="0" bIns="0" rtlCol="0" anchor="t"/>
          <a:lstStyle/>
          <a:p>
            <a:pPr indent="0" marL="0">
              <a:buNone/>
            </a:pPr>
            <a:r>
              <a:rPr lang="en-US" sz="1700" b="1" dirty="0">
                <a:solidFill>
                  <a:schemeClr val="tx2"/>
                </a:solidFill>
              </a:rPr>
              <a:t>Guide dog</a:t>
            </a:r>
            <a:endParaRPr lang="en-US" sz="1700" dirty="0"/>
          </a:p>
        </p:txBody>
      </p:sp>
      <p:sp>
        <p:nvSpPr>
          <p:cNvPr id="13" name="Text 9"/>
          <p:cNvSpPr txBox="1"/>
          <p:nvPr/>
        </p:nvSpPr>
        <p:spPr>
          <a:xfrm>
            <a:off x="3474720" y="2423160"/>
            <a:ext cx="2240280" cy="457200"/>
          </a:xfrm>
          <a:prstGeom prst="rect">
            <a:avLst/>
          </a:prstGeom>
          <a:noFill/>
          <a:ln/>
        </p:spPr>
        <p:txBody>
          <a:bodyPr wrap="square" lIns="0" tIns="0" rIns="0" bIns="0" rtlCol="0" anchor="t"/>
          <a:lstStyle/>
          <a:p>
            <a:pPr indent="0" marL="0">
              <a:buNone/>
            </a:pPr>
            <a:r>
              <a:rPr lang="en-US" sz="1400" b="1" dirty="0">
                <a:solidFill>
                  <a:schemeClr val="accent4"/>
                </a:solidFill>
              </a:rPr>
              <a:t>+ </a:t>
            </a:r>
            <a:pPr indent="0" marL="0">
              <a:buNone/>
            </a:pPr>
            <a:r>
              <a:rPr lang="en-US" sz="1400" dirty="0">
                <a:solidFill>
                  <a:schemeClr val="tx1"/>
                </a:solidFill>
              </a:rPr>
              <a:t>Excellent navigation</a:t>
            </a:r>
            <a:endParaRPr lang="en-US" sz="1400" dirty="0"/>
          </a:p>
        </p:txBody>
      </p:sp>
      <p:sp>
        <p:nvSpPr>
          <p:cNvPr id="14" name="Text 10"/>
          <p:cNvSpPr txBox="1"/>
          <p:nvPr/>
        </p:nvSpPr>
        <p:spPr>
          <a:xfrm>
            <a:off x="3474720" y="2926080"/>
            <a:ext cx="2240280" cy="685800"/>
          </a:xfrm>
          <a:prstGeom prst="rect">
            <a:avLst/>
          </a:prstGeom>
          <a:noFill/>
          <a:ln/>
        </p:spPr>
        <p:txBody>
          <a:bodyPr wrap="square" lIns="0" tIns="0" rIns="0" bIns="0" rtlCol="0" anchor="t"/>
          <a:lstStyle/>
          <a:p>
            <a:pPr indent="0" marL="0">
              <a:buNone/>
            </a:pPr>
            <a:r>
              <a:rPr lang="en-US" sz="1400" b="1" dirty="0">
                <a:solidFill>
                  <a:schemeClr val="accent3"/>
                </a:solidFill>
              </a:rPr>
              <a:t>− </a:t>
            </a:r>
            <a:pPr indent="0" marL="0">
              <a:buNone/>
            </a:pPr>
            <a:r>
              <a:rPr lang="en-US" sz="1400" dirty="0">
                <a:solidFill>
                  <a:schemeClr val="tx1"/>
                </a:solidFill>
              </a:rPr>
              <a:t>Expensive, long training, not widely available</a:t>
            </a:r>
            <a:endParaRPr lang="en-US" sz="1400" dirty="0"/>
          </a:p>
        </p:txBody>
      </p:sp>
      <p:sp>
        <p:nvSpPr>
          <p:cNvPr id="15" name="solution card"/>
          <p:cNvSpPr/>
          <p:nvPr/>
        </p:nvSpPr>
        <p:spPr>
          <a:xfrm>
            <a:off x="6035040" y="1188720"/>
            <a:ext cx="2606040" cy="2514600"/>
          </a:xfrm>
          <a:prstGeom prst="roundRect">
            <a:avLst>
              <a:gd name="adj" fmla="val 4364"/>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6" name="icon circle"/>
          <p:cNvSpPr/>
          <p:nvPr/>
        </p:nvSpPr>
        <p:spPr>
          <a:xfrm>
            <a:off x="6263640" y="1371600"/>
            <a:ext cx="548640" cy="548640"/>
          </a:xfrm>
          <a:prstGeom prst="ellipse">
            <a:avLst/>
          </a:prstGeom>
          <a:solidFill>
            <a:schemeClr val="tx2"/>
          </a:solidFill>
          <a:ln w="12700">
            <a:solidFill>
              <a:schemeClr val="tx2"/>
            </a:solidFill>
            <a:prstDash val="solid"/>
          </a:ln>
        </p:spPr>
      </p:sp>
      <p:pic>
        <p:nvPicPr>
          <p:cNvPr id="17" name="icon" descr="preencoded.png">    </p:cNvPr>
          <p:cNvPicPr>
            <a:picLocks noChangeAspect="1"/>
          </p:cNvPicPr>
          <p:nvPr/>
        </p:nvPicPr>
        <p:blipFill>
          <a:blip r:embed="rId3"/>
          <a:stretch>
            <a:fillRect/>
          </a:stretch>
        </p:blipFill>
        <p:spPr>
          <a:xfrm>
            <a:off x="6384341" y="1492301"/>
            <a:ext cx="307238" cy="307238"/>
          </a:xfrm>
          <a:prstGeom prst="rect">
            <a:avLst/>
          </a:prstGeom>
        </p:spPr>
      </p:pic>
      <p:sp>
        <p:nvSpPr>
          <p:cNvPr id="18" name="Text 13"/>
          <p:cNvSpPr txBox="1"/>
          <p:nvPr/>
        </p:nvSpPr>
        <p:spPr>
          <a:xfrm>
            <a:off x="6263640" y="2011680"/>
            <a:ext cx="2194560" cy="320040"/>
          </a:xfrm>
          <a:prstGeom prst="rect">
            <a:avLst/>
          </a:prstGeom>
          <a:noFill/>
          <a:ln/>
        </p:spPr>
        <p:txBody>
          <a:bodyPr wrap="square" lIns="0" tIns="0" rIns="0" bIns="0" rtlCol="0" anchor="t"/>
          <a:lstStyle/>
          <a:p>
            <a:pPr indent="0" marL="0">
              <a:buNone/>
            </a:pPr>
            <a:r>
              <a:rPr lang="en-US" sz="1700" b="1" dirty="0">
                <a:solidFill>
                  <a:schemeClr val="tx2"/>
                </a:solidFill>
              </a:rPr>
              <a:t>Commercial smart canes</a:t>
            </a:r>
            <a:endParaRPr lang="en-US" sz="1700" dirty="0"/>
          </a:p>
        </p:txBody>
      </p:sp>
      <p:sp>
        <p:nvSpPr>
          <p:cNvPr id="19" name="Text 14"/>
          <p:cNvSpPr txBox="1"/>
          <p:nvPr/>
        </p:nvSpPr>
        <p:spPr>
          <a:xfrm>
            <a:off x="6263640" y="2423160"/>
            <a:ext cx="2240280" cy="457200"/>
          </a:xfrm>
          <a:prstGeom prst="rect">
            <a:avLst/>
          </a:prstGeom>
          <a:noFill/>
          <a:ln/>
        </p:spPr>
        <p:txBody>
          <a:bodyPr wrap="square" lIns="0" tIns="0" rIns="0" bIns="0" rtlCol="0" anchor="t"/>
          <a:lstStyle/>
          <a:p>
            <a:pPr indent="0" marL="0">
              <a:buNone/>
            </a:pPr>
            <a:r>
              <a:rPr lang="en-US" sz="1400" b="1" dirty="0">
                <a:solidFill>
                  <a:schemeClr val="accent4"/>
                </a:solidFill>
              </a:rPr>
              <a:t>+ </a:t>
            </a:r>
            <a:pPr indent="0" marL="0">
              <a:buNone/>
            </a:pPr>
            <a:r>
              <a:rPr lang="en-US" sz="1400" dirty="0">
                <a:solidFill>
                  <a:schemeClr val="tx1"/>
                </a:solidFill>
              </a:rPr>
              <a:t>Electronic early warning</a:t>
            </a:r>
            <a:endParaRPr lang="en-US" sz="1400" dirty="0"/>
          </a:p>
        </p:txBody>
      </p:sp>
      <p:sp>
        <p:nvSpPr>
          <p:cNvPr id="20" name="Text 15"/>
          <p:cNvSpPr txBox="1"/>
          <p:nvPr/>
        </p:nvSpPr>
        <p:spPr>
          <a:xfrm>
            <a:off x="6263640" y="2926080"/>
            <a:ext cx="2240280" cy="685800"/>
          </a:xfrm>
          <a:prstGeom prst="rect">
            <a:avLst/>
          </a:prstGeom>
          <a:noFill/>
          <a:ln/>
        </p:spPr>
        <p:txBody>
          <a:bodyPr wrap="square" lIns="0" tIns="0" rIns="0" bIns="0" rtlCol="0" anchor="t"/>
          <a:lstStyle/>
          <a:p>
            <a:pPr indent="0" marL="0">
              <a:buNone/>
            </a:pPr>
            <a:r>
              <a:rPr lang="en-US" sz="1400" b="1" dirty="0">
                <a:solidFill>
                  <a:schemeClr val="accent3"/>
                </a:solidFill>
              </a:rPr>
              <a:t>− </a:t>
            </a:r>
            <a:pPr indent="0" marL="0">
              <a:buNone/>
            </a:pPr>
            <a:r>
              <a:rPr lang="en-US" sz="1400" dirty="0">
                <a:solidFill>
                  <a:schemeClr val="tx1"/>
                </a:solidFill>
              </a:rPr>
              <a:t>High cost, imported, hard to repair locally</a:t>
            </a:r>
            <a:endParaRPr lang="en-US" sz="1400" dirty="0"/>
          </a:p>
        </p:txBody>
      </p:sp>
      <p:sp>
        <p:nvSpPr>
          <p:cNvPr id="21" name="gap banner"/>
          <p:cNvSpPr/>
          <p:nvPr/>
        </p:nvSpPr>
        <p:spPr>
          <a:xfrm>
            <a:off x="457200" y="3931920"/>
            <a:ext cx="8229600" cy="640080"/>
          </a:xfrm>
          <a:prstGeom prst="roundRect">
            <a:avLst>
              <a:gd name="adj" fmla="val 17143"/>
            </a:avLst>
          </a:prstGeom>
          <a:solidFill>
            <a:schemeClr val="accent1"/>
          </a:solidFill>
          <a:ln w="12700">
            <a:solidFill>
              <a:schemeClr val="accent1"/>
            </a:solidFill>
            <a:prstDash val="solid"/>
          </a:ln>
          <a:effectLst>
            <a:outerShdw sx="100000" sy="100000" kx="0" ky="0" algn="bl" rotWithShape="0" blurRad="76200" dist="25400" dir="5400000">
              <a:srgbClr val="000000">
                <a:alpha val="15000"/>
              </a:srgbClr>
            </a:outerShdw>
          </a:effectLst>
        </p:spPr>
      </p:sp>
      <p:sp>
        <p:nvSpPr>
          <p:cNvPr id="22" name="Text 17"/>
          <p:cNvSpPr txBox="1"/>
          <p:nvPr/>
        </p:nvSpPr>
        <p:spPr>
          <a:xfrm>
            <a:off x="685800" y="3931920"/>
            <a:ext cx="7772400" cy="640080"/>
          </a:xfrm>
          <a:prstGeom prst="rect">
            <a:avLst/>
          </a:prstGeom>
          <a:noFill/>
          <a:ln/>
        </p:spPr>
        <p:txBody>
          <a:bodyPr wrap="square" lIns="0" tIns="0" rIns="0" bIns="0" rtlCol="0" anchor="ctr"/>
          <a:lstStyle/>
          <a:p>
            <a:pPr indent="0" marL="0">
              <a:buNone/>
            </a:pPr>
            <a:r>
              <a:rPr lang="en-US" sz="1600" b="1" dirty="0">
                <a:solidFill>
                  <a:schemeClr val="tx2"/>
                </a:solidFill>
              </a:rPr>
              <a:t>The gap: </a:t>
            </a:r>
            <a:pPr indent="0" marL="0">
              <a:buNone/>
            </a:pPr>
            <a:r>
              <a:rPr lang="en-US" sz="1600" dirty="0">
                <a:solidFill>
                  <a:schemeClr val="tx2"/>
                </a:solidFill>
              </a:rPr>
              <a:t>a low-cost cane that warns early about obstacles and about water underfoot</a:t>
            </a:r>
            <a:endParaRPr lang="en-US" sz="16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Objectives</a:t>
            </a:r>
            <a:endParaRPr lang="en-US" sz="3000" dirty="0"/>
          </a:p>
        </p:txBody>
      </p:sp>
      <p:sp>
        <p:nvSpPr>
          <p:cNvPr id="3" name="objective card"/>
          <p:cNvSpPr/>
          <p:nvPr/>
        </p:nvSpPr>
        <p:spPr>
          <a:xfrm>
            <a:off x="457200" y="1188720"/>
            <a:ext cx="4023360" cy="1508760"/>
          </a:xfrm>
          <a:prstGeom prst="roundRect">
            <a:avLst>
              <a:gd name="adj" fmla="val 7273"/>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4" name="Text 2"/>
          <p:cNvSpPr txBox="1"/>
          <p:nvPr/>
        </p:nvSpPr>
        <p:spPr>
          <a:xfrm>
            <a:off x="731520" y="1371600"/>
            <a:ext cx="3474720" cy="640080"/>
          </a:xfrm>
          <a:prstGeom prst="rect">
            <a:avLst/>
          </a:prstGeom>
          <a:noFill/>
          <a:ln/>
        </p:spPr>
        <p:txBody>
          <a:bodyPr wrap="square" lIns="0" tIns="0" rIns="0" bIns="0" rtlCol="0" anchor="t"/>
          <a:lstStyle/>
          <a:p>
            <a:pPr indent="0" marL="0">
              <a:buNone/>
            </a:pPr>
            <a:r>
              <a:rPr lang="en-US" sz="3200" b="1" dirty="0">
                <a:solidFill>
                  <a:schemeClr val="accent2"/>
                </a:solidFill>
                <a:latin typeface="Cambria" pitchFamily="34" charset="0"/>
                <a:ea typeface="Cambria" pitchFamily="34" charset="-122"/>
                <a:cs typeface="Cambria" pitchFamily="34" charset="-120"/>
              </a:rPr>
              <a:t>50 cm</a:t>
            </a:r>
            <a:endParaRPr lang="en-US" sz="3200" dirty="0"/>
          </a:p>
        </p:txBody>
      </p:sp>
      <p:sp>
        <p:nvSpPr>
          <p:cNvPr id="5" name="Text 3"/>
          <p:cNvSpPr txBox="1"/>
          <p:nvPr/>
        </p:nvSpPr>
        <p:spPr>
          <a:xfrm>
            <a:off x="731520" y="2029968"/>
            <a:ext cx="3520440" cy="594360"/>
          </a:xfrm>
          <a:prstGeom prst="rect">
            <a:avLst/>
          </a:prstGeom>
          <a:noFill/>
          <a:ln/>
        </p:spPr>
        <p:txBody>
          <a:bodyPr wrap="square" lIns="0" tIns="0" rIns="0" bIns="0" rtlCol="0" anchor="t"/>
          <a:lstStyle/>
          <a:p>
            <a:pPr indent="0" marL="0">
              <a:buNone/>
            </a:pPr>
            <a:r>
              <a:rPr lang="en-US" sz="1400" dirty="0">
                <a:solidFill>
                  <a:schemeClr val="tx1"/>
                </a:solidFill>
              </a:rPr>
              <a:t>Detect obstacles ahead with an ultrasonic sensor and warn before contact</a:t>
            </a:r>
            <a:endParaRPr lang="en-US" sz="1400" dirty="0"/>
          </a:p>
        </p:txBody>
      </p:sp>
      <p:sp>
        <p:nvSpPr>
          <p:cNvPr id="6" name="objective card"/>
          <p:cNvSpPr/>
          <p:nvPr/>
        </p:nvSpPr>
        <p:spPr>
          <a:xfrm>
            <a:off x="4663440" y="1188720"/>
            <a:ext cx="4023360" cy="1508760"/>
          </a:xfrm>
          <a:prstGeom prst="roundRect">
            <a:avLst>
              <a:gd name="adj" fmla="val 7273"/>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7" name="Text 5"/>
          <p:cNvSpPr txBox="1"/>
          <p:nvPr/>
        </p:nvSpPr>
        <p:spPr>
          <a:xfrm>
            <a:off x="4937760" y="1371600"/>
            <a:ext cx="3474720" cy="640080"/>
          </a:xfrm>
          <a:prstGeom prst="rect">
            <a:avLst/>
          </a:prstGeom>
          <a:noFill/>
          <a:ln/>
        </p:spPr>
        <p:txBody>
          <a:bodyPr wrap="square" lIns="0" tIns="0" rIns="0" bIns="0" rtlCol="0" anchor="t"/>
          <a:lstStyle/>
          <a:p>
            <a:pPr indent="0" marL="0">
              <a:buNone/>
            </a:pPr>
            <a:r>
              <a:rPr lang="en-US" sz="3200" b="1" dirty="0">
                <a:solidFill>
                  <a:schemeClr val="accent2"/>
                </a:solidFill>
                <a:latin typeface="Cambria" pitchFamily="34" charset="0"/>
                <a:ea typeface="Cambria" pitchFamily="34" charset="-122"/>
                <a:cs typeface="Cambria" pitchFamily="34" charset="-120"/>
              </a:rPr>
              <a:t>50–400 ms</a:t>
            </a:r>
            <a:endParaRPr lang="en-US" sz="3200" dirty="0"/>
          </a:p>
        </p:txBody>
      </p:sp>
      <p:sp>
        <p:nvSpPr>
          <p:cNvPr id="8" name="Text 6"/>
          <p:cNvSpPr txBox="1"/>
          <p:nvPr/>
        </p:nvSpPr>
        <p:spPr>
          <a:xfrm>
            <a:off x="4937760" y="2029968"/>
            <a:ext cx="3520440" cy="594360"/>
          </a:xfrm>
          <a:prstGeom prst="rect">
            <a:avLst/>
          </a:prstGeom>
          <a:noFill/>
          <a:ln/>
        </p:spPr>
        <p:txBody>
          <a:bodyPr wrap="square" lIns="0" tIns="0" rIns="0" bIns="0" rtlCol="0" anchor="t"/>
          <a:lstStyle/>
          <a:p>
            <a:pPr indent="0" marL="0">
              <a:buNone/>
            </a:pPr>
            <a:r>
              <a:rPr lang="en-US" sz="1400" dirty="0">
                <a:solidFill>
                  <a:schemeClr val="tx1"/>
                </a:solidFill>
              </a:rPr>
              <a:t>Encode distance in the beep gap: closer obstacle, faster beeps</a:t>
            </a:r>
            <a:endParaRPr lang="en-US" sz="1400" dirty="0"/>
          </a:p>
        </p:txBody>
      </p:sp>
      <p:sp>
        <p:nvSpPr>
          <p:cNvPr id="9" name="objective card"/>
          <p:cNvSpPr/>
          <p:nvPr/>
        </p:nvSpPr>
        <p:spPr>
          <a:xfrm>
            <a:off x="457200" y="2880360"/>
            <a:ext cx="4023360" cy="1508760"/>
          </a:xfrm>
          <a:prstGeom prst="roundRect">
            <a:avLst>
              <a:gd name="adj" fmla="val 7273"/>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0" name="Text 8"/>
          <p:cNvSpPr txBox="1"/>
          <p:nvPr/>
        </p:nvSpPr>
        <p:spPr>
          <a:xfrm>
            <a:off x="731520" y="3063240"/>
            <a:ext cx="3474720" cy="640080"/>
          </a:xfrm>
          <a:prstGeom prst="rect">
            <a:avLst/>
          </a:prstGeom>
          <a:noFill/>
          <a:ln/>
        </p:spPr>
        <p:txBody>
          <a:bodyPr wrap="square" lIns="0" tIns="0" rIns="0" bIns="0" rtlCol="0" anchor="t"/>
          <a:lstStyle/>
          <a:p>
            <a:pPr indent="0" marL="0">
              <a:buNone/>
            </a:pPr>
            <a:r>
              <a:rPr lang="en-US" sz="3200" b="1" dirty="0">
                <a:solidFill>
                  <a:schemeClr val="accent2"/>
                </a:solidFill>
                <a:latin typeface="Cambria" pitchFamily="34" charset="0"/>
                <a:ea typeface="Cambria" pitchFamily="34" charset="-122"/>
                <a:cs typeface="Cambria" pitchFamily="34" charset="-120"/>
              </a:rPr>
              <a:t>&lt; 500</a:t>
            </a:r>
            <a:endParaRPr lang="en-US" sz="3200" dirty="0"/>
          </a:p>
        </p:txBody>
      </p:sp>
      <p:sp>
        <p:nvSpPr>
          <p:cNvPr id="11" name="Text 9"/>
          <p:cNvSpPr txBox="1"/>
          <p:nvPr/>
        </p:nvSpPr>
        <p:spPr>
          <a:xfrm>
            <a:off x="731520" y="3721608"/>
            <a:ext cx="3520440" cy="594360"/>
          </a:xfrm>
          <a:prstGeom prst="rect">
            <a:avLst/>
          </a:prstGeom>
          <a:noFill/>
          <a:ln/>
        </p:spPr>
        <p:txBody>
          <a:bodyPr wrap="square" lIns="0" tIns="0" rIns="0" bIns="0" rtlCol="0" anchor="t"/>
          <a:lstStyle/>
          <a:p>
            <a:pPr indent="0" marL="0">
              <a:buNone/>
            </a:pPr>
            <a:r>
              <a:rPr lang="en-US" sz="1400" dirty="0">
                <a:solidFill>
                  <a:schemeClr val="tx1"/>
                </a:solidFill>
              </a:rPr>
              <a:t>ADC reading below this means water: continuous tone, top priority</a:t>
            </a:r>
            <a:endParaRPr lang="en-US" sz="1400" dirty="0"/>
          </a:p>
        </p:txBody>
      </p:sp>
      <p:sp>
        <p:nvSpPr>
          <p:cNvPr id="12" name="objective card"/>
          <p:cNvSpPr/>
          <p:nvPr/>
        </p:nvSpPr>
        <p:spPr>
          <a:xfrm>
            <a:off x="4663440" y="2880360"/>
            <a:ext cx="4023360" cy="1508760"/>
          </a:xfrm>
          <a:prstGeom prst="roundRect">
            <a:avLst>
              <a:gd name="adj" fmla="val 7273"/>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3" name="Text 11"/>
          <p:cNvSpPr txBox="1"/>
          <p:nvPr/>
        </p:nvSpPr>
        <p:spPr>
          <a:xfrm>
            <a:off x="4937760" y="3063240"/>
            <a:ext cx="3474720" cy="640080"/>
          </a:xfrm>
          <a:prstGeom prst="rect">
            <a:avLst/>
          </a:prstGeom>
          <a:noFill/>
          <a:ln/>
        </p:spPr>
        <p:txBody>
          <a:bodyPr wrap="square" lIns="0" tIns="0" rIns="0" bIns="0" rtlCol="0" anchor="t"/>
          <a:lstStyle/>
          <a:p>
            <a:pPr indent="0" marL="0">
              <a:buNone/>
            </a:pPr>
            <a:r>
              <a:rPr lang="en-US" sz="3200" b="1" dirty="0">
                <a:solidFill>
                  <a:schemeClr val="accent2"/>
                </a:solidFill>
                <a:latin typeface="Cambria" pitchFamily="34" charset="0"/>
                <a:ea typeface="Cambria" pitchFamily="34" charset="-122"/>
                <a:cs typeface="Cambria" pitchFamily="34" charset="-120"/>
              </a:rPr>
              <a:t>₹876</a:t>
            </a:r>
            <a:endParaRPr lang="en-US" sz="3200" dirty="0"/>
          </a:p>
        </p:txBody>
      </p:sp>
      <p:sp>
        <p:nvSpPr>
          <p:cNvPr id="14" name="Text 12"/>
          <p:cNvSpPr txBox="1"/>
          <p:nvPr/>
        </p:nvSpPr>
        <p:spPr>
          <a:xfrm>
            <a:off x="4937760" y="3721608"/>
            <a:ext cx="3520440" cy="594360"/>
          </a:xfrm>
          <a:prstGeom prst="rect">
            <a:avLst/>
          </a:prstGeom>
          <a:noFill/>
          <a:ln/>
        </p:spPr>
        <p:txBody>
          <a:bodyPr wrap="square" lIns="0" tIns="0" rIns="0" bIns="0" rtlCol="0" anchor="t"/>
          <a:lstStyle/>
          <a:p>
            <a:pPr indent="0" marL="0">
              <a:buNone/>
            </a:pPr>
            <a:r>
              <a:rPr lang="en-US" sz="1400" dirty="0">
                <a:solidFill>
                  <a:schemeClr val="tx1"/>
                </a:solidFill>
              </a:rPr>
              <a:t>Low-cost, portable cane running on one 18650 cell with a switch</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Proposed solution: VisionGuard</a:t>
            </a:r>
            <a:endParaRPr lang="en-US" sz="3000" dirty="0"/>
          </a:p>
        </p:txBody>
      </p:sp>
      <p:pic>
        <p:nvPicPr>
          <p:cNvPr id="3" name="prototype photo" descr="img/overview.jpg">    </p:cNvPr>
          <p:cNvPicPr>
            <a:picLocks noChangeAspect="1"/>
          </p:cNvPicPr>
          <p:nvPr/>
        </p:nvPicPr>
        <p:blipFill>
          <a:blip r:embed="rId1"/>
          <a:stretch>
            <a:fillRect/>
          </a:stretch>
        </p:blipFill>
        <p:spPr>
          <a:xfrm>
            <a:off x="457200" y="1364894"/>
            <a:ext cx="4023360" cy="3030931"/>
          </a:xfrm>
          <a:prstGeom prst="rect">
            <a:avLst/>
          </a:prstGeom>
        </p:spPr>
      </p:pic>
      <p:sp>
        <p:nvSpPr>
          <p:cNvPr id="4" name="icon circle"/>
          <p:cNvSpPr/>
          <p:nvPr/>
        </p:nvSpPr>
        <p:spPr>
          <a:xfrm>
            <a:off x="4754880" y="1234440"/>
            <a:ext cx="640080" cy="640080"/>
          </a:xfrm>
          <a:prstGeom prst="ellipse">
            <a:avLst/>
          </a:prstGeom>
          <a:solidFill>
            <a:schemeClr val="accent1"/>
          </a:solidFill>
          <a:ln w="12700">
            <a:solidFill>
              <a:schemeClr val="accent1"/>
            </a:solidFill>
            <a:prstDash val="solid"/>
          </a:ln>
        </p:spPr>
      </p:sp>
      <p:pic>
        <p:nvPicPr>
          <p:cNvPr id="5" name="icon" descr="preencoded.png">    </p:cNvPr>
          <p:cNvPicPr>
            <a:picLocks noChangeAspect="1"/>
          </p:cNvPicPr>
          <p:nvPr/>
        </p:nvPicPr>
        <p:blipFill>
          <a:blip r:embed="rId2"/>
          <a:stretch>
            <a:fillRect/>
          </a:stretch>
        </p:blipFill>
        <p:spPr>
          <a:xfrm>
            <a:off x="4895698" y="1375258"/>
            <a:ext cx="358445" cy="358445"/>
          </a:xfrm>
          <a:prstGeom prst="rect">
            <a:avLst/>
          </a:prstGeom>
        </p:spPr>
      </p:pic>
      <p:sp>
        <p:nvSpPr>
          <p:cNvPr id="6" name="Text 2"/>
          <p:cNvSpPr txBox="1"/>
          <p:nvPr/>
        </p:nvSpPr>
        <p:spPr>
          <a:xfrm>
            <a:off x="5577840" y="1234440"/>
            <a:ext cx="3108960" cy="320040"/>
          </a:xfrm>
          <a:prstGeom prst="rect">
            <a:avLst/>
          </a:prstGeom>
          <a:noFill/>
          <a:ln/>
        </p:spPr>
        <p:txBody>
          <a:bodyPr wrap="square" lIns="0" tIns="0" rIns="0" bIns="0" rtlCol="0" anchor="t"/>
          <a:lstStyle/>
          <a:p>
            <a:pPr indent="0" marL="0">
              <a:buNone/>
            </a:pPr>
            <a:r>
              <a:rPr lang="en-US" sz="1700" b="1" dirty="0">
                <a:solidFill>
                  <a:schemeClr val="tx2"/>
                </a:solidFill>
              </a:rPr>
              <a:t>Ultrasonic “eyes”</a:t>
            </a:r>
            <a:endParaRPr lang="en-US" sz="1700" dirty="0"/>
          </a:p>
        </p:txBody>
      </p:sp>
      <p:sp>
        <p:nvSpPr>
          <p:cNvPr id="7" name="Text 3"/>
          <p:cNvSpPr txBox="1"/>
          <p:nvPr/>
        </p:nvSpPr>
        <p:spPr>
          <a:xfrm>
            <a:off x="5577840" y="1581912"/>
            <a:ext cx="3108960" cy="594360"/>
          </a:xfrm>
          <a:prstGeom prst="rect">
            <a:avLst/>
          </a:prstGeom>
          <a:noFill/>
          <a:ln/>
        </p:spPr>
        <p:txBody>
          <a:bodyPr wrap="square" lIns="0" tIns="0" rIns="0" bIns="0" rtlCol="0" anchor="t"/>
          <a:lstStyle/>
          <a:p>
            <a:pPr indent="0" marL="0">
              <a:buNone/>
            </a:pPr>
            <a:r>
              <a:rPr lang="en-US" sz="1400" dirty="0">
                <a:solidFill>
                  <a:schemeClr val="accent5"/>
                </a:solidFill>
              </a:rPr>
              <a:t>HC-SR04 measures distance to obstacles ahead</a:t>
            </a:r>
            <a:endParaRPr lang="en-US" sz="1400" dirty="0"/>
          </a:p>
        </p:txBody>
      </p:sp>
      <p:sp>
        <p:nvSpPr>
          <p:cNvPr id="8" name="icon circle"/>
          <p:cNvSpPr/>
          <p:nvPr/>
        </p:nvSpPr>
        <p:spPr>
          <a:xfrm>
            <a:off x="4754880" y="2331720"/>
            <a:ext cx="640080" cy="640080"/>
          </a:xfrm>
          <a:prstGeom prst="ellipse">
            <a:avLst/>
          </a:prstGeom>
          <a:solidFill>
            <a:schemeClr val="accent1"/>
          </a:solidFill>
          <a:ln w="12700">
            <a:solidFill>
              <a:schemeClr val="accent1"/>
            </a:solidFill>
            <a:prstDash val="solid"/>
          </a:ln>
        </p:spPr>
      </p:sp>
      <p:pic>
        <p:nvPicPr>
          <p:cNvPr id="9" name="icon" descr="preencoded.png">    </p:cNvPr>
          <p:cNvPicPr>
            <a:picLocks noChangeAspect="1"/>
          </p:cNvPicPr>
          <p:nvPr/>
        </p:nvPicPr>
        <p:blipFill>
          <a:blip r:embed="rId3"/>
          <a:stretch>
            <a:fillRect/>
          </a:stretch>
        </p:blipFill>
        <p:spPr>
          <a:xfrm>
            <a:off x="4895698" y="2472538"/>
            <a:ext cx="358445" cy="358445"/>
          </a:xfrm>
          <a:prstGeom prst="rect">
            <a:avLst/>
          </a:prstGeom>
        </p:spPr>
      </p:pic>
      <p:sp>
        <p:nvSpPr>
          <p:cNvPr id="10" name="Text 5"/>
          <p:cNvSpPr txBox="1"/>
          <p:nvPr/>
        </p:nvSpPr>
        <p:spPr>
          <a:xfrm>
            <a:off x="5577840" y="2331720"/>
            <a:ext cx="3108960" cy="320040"/>
          </a:xfrm>
          <a:prstGeom prst="rect">
            <a:avLst/>
          </a:prstGeom>
          <a:noFill/>
          <a:ln/>
        </p:spPr>
        <p:txBody>
          <a:bodyPr wrap="square" lIns="0" tIns="0" rIns="0" bIns="0" rtlCol="0" anchor="t"/>
          <a:lstStyle/>
          <a:p>
            <a:pPr indent="0" marL="0">
              <a:buNone/>
            </a:pPr>
            <a:r>
              <a:rPr lang="en-US" sz="1700" b="1" dirty="0">
                <a:solidFill>
                  <a:schemeClr val="tx2"/>
                </a:solidFill>
              </a:rPr>
              <a:t>Moisture-sensing tip</a:t>
            </a:r>
            <a:endParaRPr lang="en-US" sz="1700" dirty="0"/>
          </a:p>
        </p:txBody>
      </p:sp>
      <p:sp>
        <p:nvSpPr>
          <p:cNvPr id="11" name="Text 6"/>
          <p:cNvSpPr txBox="1"/>
          <p:nvPr/>
        </p:nvSpPr>
        <p:spPr>
          <a:xfrm>
            <a:off x="5577840" y="2679192"/>
            <a:ext cx="3108960" cy="594360"/>
          </a:xfrm>
          <a:prstGeom prst="rect">
            <a:avLst/>
          </a:prstGeom>
          <a:noFill/>
          <a:ln/>
        </p:spPr>
        <p:txBody>
          <a:bodyPr wrap="square" lIns="0" tIns="0" rIns="0" bIns="0" rtlCol="0" anchor="t"/>
          <a:lstStyle/>
          <a:p>
            <a:pPr indent="0" marL="0">
              <a:buNone/>
            </a:pPr>
            <a:r>
              <a:rPr lang="en-US" sz="1400" dirty="0">
                <a:solidFill>
                  <a:schemeClr val="accent5"/>
                </a:solidFill>
              </a:rPr>
              <a:t>Probe at the bottom detects water and wet mud</a:t>
            </a:r>
            <a:endParaRPr lang="en-US" sz="1400" dirty="0"/>
          </a:p>
        </p:txBody>
      </p:sp>
      <p:sp>
        <p:nvSpPr>
          <p:cNvPr id="12" name="icon circle"/>
          <p:cNvSpPr/>
          <p:nvPr/>
        </p:nvSpPr>
        <p:spPr>
          <a:xfrm>
            <a:off x="4754880" y="3429000"/>
            <a:ext cx="640080" cy="640080"/>
          </a:xfrm>
          <a:prstGeom prst="ellipse">
            <a:avLst/>
          </a:prstGeom>
          <a:solidFill>
            <a:schemeClr val="accent1"/>
          </a:solidFill>
          <a:ln w="12700">
            <a:solidFill>
              <a:schemeClr val="accent1"/>
            </a:solidFill>
            <a:prstDash val="solid"/>
          </a:ln>
        </p:spPr>
      </p:sp>
      <p:pic>
        <p:nvPicPr>
          <p:cNvPr id="13" name="icon" descr="preencoded.png">    </p:cNvPr>
          <p:cNvPicPr>
            <a:picLocks noChangeAspect="1"/>
          </p:cNvPicPr>
          <p:nvPr/>
        </p:nvPicPr>
        <p:blipFill>
          <a:blip r:embed="rId4"/>
          <a:stretch>
            <a:fillRect/>
          </a:stretch>
        </p:blipFill>
        <p:spPr>
          <a:xfrm>
            <a:off x="4895698" y="3569818"/>
            <a:ext cx="358445" cy="358445"/>
          </a:xfrm>
          <a:prstGeom prst="rect">
            <a:avLst/>
          </a:prstGeom>
        </p:spPr>
      </p:pic>
      <p:sp>
        <p:nvSpPr>
          <p:cNvPr id="14" name="Text 8"/>
          <p:cNvSpPr txBox="1"/>
          <p:nvPr/>
        </p:nvSpPr>
        <p:spPr>
          <a:xfrm>
            <a:off x="5577840" y="3429000"/>
            <a:ext cx="3108960" cy="320040"/>
          </a:xfrm>
          <a:prstGeom prst="rect">
            <a:avLst/>
          </a:prstGeom>
          <a:noFill/>
          <a:ln/>
        </p:spPr>
        <p:txBody>
          <a:bodyPr wrap="square" lIns="0" tIns="0" rIns="0" bIns="0" rtlCol="0" anchor="t"/>
          <a:lstStyle/>
          <a:p>
            <a:pPr indent="0" marL="0">
              <a:buNone/>
            </a:pPr>
            <a:r>
              <a:rPr lang="en-US" sz="1700" b="1" dirty="0">
                <a:solidFill>
                  <a:schemeClr val="tx2"/>
                </a:solidFill>
              </a:rPr>
              <a:t>Prioritised buzzer alerts</a:t>
            </a:r>
            <a:endParaRPr lang="en-US" sz="1700" dirty="0"/>
          </a:p>
        </p:txBody>
      </p:sp>
      <p:sp>
        <p:nvSpPr>
          <p:cNvPr id="15" name="Text 9"/>
          <p:cNvSpPr txBox="1"/>
          <p:nvPr/>
        </p:nvSpPr>
        <p:spPr>
          <a:xfrm>
            <a:off x="5577840" y="3776472"/>
            <a:ext cx="3108960" cy="594360"/>
          </a:xfrm>
          <a:prstGeom prst="rect">
            <a:avLst/>
          </a:prstGeom>
          <a:noFill/>
          <a:ln/>
        </p:spPr>
        <p:txBody>
          <a:bodyPr wrap="square" lIns="0" tIns="0" rIns="0" bIns="0" rtlCol="0" anchor="t"/>
          <a:lstStyle/>
          <a:p>
            <a:pPr indent="0" marL="0">
              <a:buNone/>
            </a:pPr>
            <a:r>
              <a:rPr lang="en-US" sz="1400" dirty="0">
                <a:solidFill>
                  <a:schemeClr val="accent5"/>
                </a:solidFill>
              </a:rPr>
              <a:t>Continuous tone for water; faster beeps as obstacles get closer</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Block diagram</a:t>
            </a:r>
            <a:endParaRPr lang="en-US" sz="3000" dirty="0"/>
          </a:p>
        </p:txBody>
      </p:sp>
      <p:pic>
        <p:nvPicPr>
          <p:cNvPr id="3" name="block diagram" descr="img/block.png">    </p:cNvPr>
          <p:cNvPicPr>
            <a:picLocks noChangeAspect="1"/>
          </p:cNvPicPr>
          <p:nvPr/>
        </p:nvPicPr>
        <p:blipFill>
          <a:blip r:embed="rId1"/>
          <a:stretch>
            <a:fillRect/>
          </a:stretch>
        </p:blipFill>
        <p:spPr>
          <a:xfrm>
            <a:off x="818147" y="1097280"/>
            <a:ext cx="7507705" cy="3566160"/>
          </a:xfrm>
          <a:prstGeom prst="rect">
            <a:avLst/>
          </a:prstGeom>
        </p:spPr>
      </p:pic>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Hardware components</a:t>
            </a:r>
            <a:endParaRPr lang="en-US" sz="3000" dirty="0"/>
          </a:p>
        </p:txBody>
      </p:sp>
      <p:sp>
        <p:nvSpPr>
          <p:cNvPr id="3" name="component card"/>
          <p:cNvSpPr/>
          <p:nvPr/>
        </p:nvSpPr>
        <p:spPr>
          <a:xfrm>
            <a:off x="457200" y="1188720"/>
            <a:ext cx="1920240" cy="1508760"/>
          </a:xfrm>
          <a:prstGeom prst="roundRect">
            <a:avLst>
              <a:gd name="adj" fmla="val 7273"/>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4" name="icon circle"/>
          <p:cNvSpPr/>
          <p:nvPr/>
        </p:nvSpPr>
        <p:spPr>
          <a:xfrm>
            <a:off x="640080" y="1371600"/>
            <a:ext cx="502920" cy="502920"/>
          </a:xfrm>
          <a:prstGeom prst="ellipse">
            <a:avLst/>
          </a:prstGeom>
          <a:solidFill>
            <a:schemeClr val="accent1"/>
          </a:solidFill>
          <a:ln w="12700">
            <a:solidFill>
              <a:schemeClr val="accent1"/>
            </a:solidFill>
            <a:prstDash val="solid"/>
          </a:ln>
        </p:spPr>
      </p:sp>
      <p:pic>
        <p:nvPicPr>
          <p:cNvPr id="5" name="icon" descr="preencoded.png">    </p:cNvPr>
          <p:cNvPicPr>
            <a:picLocks noChangeAspect="1"/>
          </p:cNvPicPr>
          <p:nvPr/>
        </p:nvPicPr>
        <p:blipFill>
          <a:blip r:embed="rId1"/>
          <a:stretch>
            <a:fillRect/>
          </a:stretch>
        </p:blipFill>
        <p:spPr>
          <a:xfrm>
            <a:off x="750722" y="1482242"/>
            <a:ext cx="281635" cy="281635"/>
          </a:xfrm>
          <a:prstGeom prst="rect">
            <a:avLst/>
          </a:prstGeom>
        </p:spPr>
      </p:pic>
      <p:sp>
        <p:nvSpPr>
          <p:cNvPr id="6" name="Text 3"/>
          <p:cNvSpPr txBox="1"/>
          <p:nvPr/>
        </p:nvSpPr>
        <p:spPr>
          <a:xfrm>
            <a:off x="640080" y="1965960"/>
            <a:ext cx="1645920" cy="320040"/>
          </a:xfrm>
          <a:prstGeom prst="rect">
            <a:avLst/>
          </a:prstGeom>
          <a:noFill/>
          <a:ln/>
        </p:spPr>
        <p:txBody>
          <a:bodyPr wrap="square" lIns="0" tIns="0" rIns="0" bIns="0" rtlCol="0" anchor="t"/>
          <a:lstStyle/>
          <a:p>
            <a:pPr indent="0" marL="0">
              <a:buNone/>
            </a:pPr>
            <a:r>
              <a:rPr lang="en-US" sz="1500" b="1" dirty="0">
                <a:solidFill>
                  <a:schemeClr val="tx2"/>
                </a:solidFill>
              </a:rPr>
              <a:t>Arduino Nano</a:t>
            </a:r>
            <a:endParaRPr lang="en-US" sz="1500" dirty="0"/>
          </a:p>
        </p:txBody>
      </p:sp>
      <p:sp>
        <p:nvSpPr>
          <p:cNvPr id="7" name="Text 4"/>
          <p:cNvSpPr txBox="1"/>
          <p:nvPr/>
        </p:nvSpPr>
        <p:spPr>
          <a:xfrm>
            <a:off x="640080" y="2258568"/>
            <a:ext cx="1645920" cy="411480"/>
          </a:xfrm>
          <a:prstGeom prst="rect">
            <a:avLst/>
          </a:prstGeom>
          <a:noFill/>
          <a:ln/>
        </p:spPr>
        <p:txBody>
          <a:bodyPr wrap="square" lIns="0" tIns="0" rIns="0" bIns="0" rtlCol="0" anchor="t"/>
          <a:lstStyle/>
          <a:p>
            <a:pPr indent="0" marL="0">
              <a:buNone/>
            </a:pPr>
            <a:r>
              <a:rPr lang="en-US" sz="1200" dirty="0">
                <a:solidFill>
                  <a:schemeClr val="accent5"/>
                </a:solidFill>
              </a:rPr>
              <a:t>ATmega328P controller</a:t>
            </a:r>
            <a:endParaRPr lang="en-US" sz="1200" dirty="0"/>
          </a:p>
        </p:txBody>
      </p:sp>
      <p:sp>
        <p:nvSpPr>
          <p:cNvPr id="8" name="component card"/>
          <p:cNvSpPr/>
          <p:nvPr/>
        </p:nvSpPr>
        <p:spPr>
          <a:xfrm>
            <a:off x="2560320" y="1188720"/>
            <a:ext cx="1920240" cy="1508760"/>
          </a:xfrm>
          <a:prstGeom prst="roundRect">
            <a:avLst>
              <a:gd name="adj" fmla="val 7273"/>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9" name="icon circle"/>
          <p:cNvSpPr/>
          <p:nvPr/>
        </p:nvSpPr>
        <p:spPr>
          <a:xfrm>
            <a:off x="2743200" y="1371600"/>
            <a:ext cx="502920" cy="502920"/>
          </a:xfrm>
          <a:prstGeom prst="ellipse">
            <a:avLst/>
          </a:prstGeom>
          <a:solidFill>
            <a:schemeClr val="accent1"/>
          </a:solidFill>
          <a:ln w="12700">
            <a:solidFill>
              <a:schemeClr val="accent1"/>
            </a:solidFill>
            <a:prstDash val="solid"/>
          </a:ln>
        </p:spPr>
      </p:sp>
      <p:pic>
        <p:nvPicPr>
          <p:cNvPr id="10" name="icon" descr="preencoded.png">    </p:cNvPr>
          <p:cNvPicPr>
            <a:picLocks noChangeAspect="1"/>
          </p:cNvPicPr>
          <p:nvPr/>
        </p:nvPicPr>
        <p:blipFill>
          <a:blip r:embed="rId2"/>
          <a:stretch>
            <a:fillRect/>
          </a:stretch>
        </p:blipFill>
        <p:spPr>
          <a:xfrm>
            <a:off x="2853842" y="1482242"/>
            <a:ext cx="281635" cy="281635"/>
          </a:xfrm>
          <a:prstGeom prst="rect">
            <a:avLst/>
          </a:prstGeom>
        </p:spPr>
      </p:pic>
      <p:sp>
        <p:nvSpPr>
          <p:cNvPr id="11" name="Text 7"/>
          <p:cNvSpPr txBox="1"/>
          <p:nvPr/>
        </p:nvSpPr>
        <p:spPr>
          <a:xfrm>
            <a:off x="2743200" y="1965960"/>
            <a:ext cx="1645920" cy="320040"/>
          </a:xfrm>
          <a:prstGeom prst="rect">
            <a:avLst/>
          </a:prstGeom>
          <a:noFill/>
          <a:ln/>
        </p:spPr>
        <p:txBody>
          <a:bodyPr wrap="square" lIns="0" tIns="0" rIns="0" bIns="0" rtlCol="0" anchor="t"/>
          <a:lstStyle/>
          <a:p>
            <a:pPr indent="0" marL="0">
              <a:buNone/>
            </a:pPr>
            <a:r>
              <a:rPr lang="en-US" sz="1500" b="1" dirty="0">
                <a:solidFill>
                  <a:schemeClr val="tx2"/>
                </a:solidFill>
              </a:rPr>
              <a:t>HC-SR04</a:t>
            </a:r>
            <a:endParaRPr lang="en-US" sz="1500" dirty="0"/>
          </a:p>
        </p:txBody>
      </p:sp>
      <p:sp>
        <p:nvSpPr>
          <p:cNvPr id="12" name="Text 8"/>
          <p:cNvSpPr txBox="1"/>
          <p:nvPr/>
        </p:nvSpPr>
        <p:spPr>
          <a:xfrm>
            <a:off x="2743200" y="2258568"/>
            <a:ext cx="1645920" cy="411480"/>
          </a:xfrm>
          <a:prstGeom prst="rect">
            <a:avLst/>
          </a:prstGeom>
          <a:noFill/>
          <a:ln/>
        </p:spPr>
        <p:txBody>
          <a:bodyPr wrap="square" lIns="0" tIns="0" rIns="0" bIns="0" rtlCol="0" anchor="t"/>
          <a:lstStyle/>
          <a:p>
            <a:pPr indent="0" marL="0">
              <a:buNone/>
            </a:pPr>
            <a:r>
              <a:rPr lang="en-US" sz="1200" dirty="0">
                <a:solidFill>
                  <a:schemeClr val="accent5"/>
                </a:solidFill>
              </a:rPr>
              <a:t>Ultrasonic distance sensor</a:t>
            </a:r>
            <a:endParaRPr lang="en-US" sz="1200" dirty="0"/>
          </a:p>
        </p:txBody>
      </p:sp>
      <p:sp>
        <p:nvSpPr>
          <p:cNvPr id="13" name="component card"/>
          <p:cNvSpPr/>
          <p:nvPr/>
        </p:nvSpPr>
        <p:spPr>
          <a:xfrm>
            <a:off x="4663440" y="1188720"/>
            <a:ext cx="1920240" cy="1508760"/>
          </a:xfrm>
          <a:prstGeom prst="roundRect">
            <a:avLst>
              <a:gd name="adj" fmla="val 7273"/>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4" name="icon circle"/>
          <p:cNvSpPr/>
          <p:nvPr/>
        </p:nvSpPr>
        <p:spPr>
          <a:xfrm>
            <a:off x="4846320" y="1371600"/>
            <a:ext cx="502920" cy="502920"/>
          </a:xfrm>
          <a:prstGeom prst="ellipse">
            <a:avLst/>
          </a:prstGeom>
          <a:solidFill>
            <a:schemeClr val="accent1"/>
          </a:solidFill>
          <a:ln w="12700">
            <a:solidFill>
              <a:schemeClr val="accent1"/>
            </a:solidFill>
            <a:prstDash val="solid"/>
          </a:ln>
        </p:spPr>
      </p:sp>
      <p:pic>
        <p:nvPicPr>
          <p:cNvPr id="15" name="icon" descr="preencoded.png">    </p:cNvPr>
          <p:cNvPicPr>
            <a:picLocks noChangeAspect="1"/>
          </p:cNvPicPr>
          <p:nvPr/>
        </p:nvPicPr>
        <p:blipFill>
          <a:blip r:embed="rId3"/>
          <a:stretch>
            <a:fillRect/>
          </a:stretch>
        </p:blipFill>
        <p:spPr>
          <a:xfrm>
            <a:off x="4956962" y="1482242"/>
            <a:ext cx="281635" cy="281635"/>
          </a:xfrm>
          <a:prstGeom prst="rect">
            <a:avLst/>
          </a:prstGeom>
        </p:spPr>
      </p:pic>
      <p:sp>
        <p:nvSpPr>
          <p:cNvPr id="16" name="Text 11"/>
          <p:cNvSpPr txBox="1"/>
          <p:nvPr/>
        </p:nvSpPr>
        <p:spPr>
          <a:xfrm>
            <a:off x="4846320" y="1965960"/>
            <a:ext cx="1645920" cy="320040"/>
          </a:xfrm>
          <a:prstGeom prst="rect">
            <a:avLst/>
          </a:prstGeom>
          <a:noFill/>
          <a:ln/>
        </p:spPr>
        <p:txBody>
          <a:bodyPr wrap="square" lIns="0" tIns="0" rIns="0" bIns="0" rtlCol="0" anchor="t"/>
          <a:lstStyle/>
          <a:p>
            <a:pPr indent="0" marL="0">
              <a:buNone/>
            </a:pPr>
            <a:r>
              <a:rPr lang="en-US" sz="1500" b="1" dirty="0">
                <a:solidFill>
                  <a:schemeClr val="tx2"/>
                </a:solidFill>
              </a:rPr>
              <a:t>Moisture probe</a:t>
            </a:r>
            <a:endParaRPr lang="en-US" sz="1500" dirty="0"/>
          </a:p>
        </p:txBody>
      </p:sp>
      <p:sp>
        <p:nvSpPr>
          <p:cNvPr id="17" name="Text 12"/>
          <p:cNvSpPr txBox="1"/>
          <p:nvPr/>
        </p:nvSpPr>
        <p:spPr>
          <a:xfrm>
            <a:off x="4846320" y="2258568"/>
            <a:ext cx="1645920" cy="411480"/>
          </a:xfrm>
          <a:prstGeom prst="rect">
            <a:avLst/>
          </a:prstGeom>
          <a:noFill/>
          <a:ln/>
        </p:spPr>
        <p:txBody>
          <a:bodyPr wrap="square" lIns="0" tIns="0" rIns="0" bIns="0" rtlCol="0" anchor="t"/>
          <a:lstStyle/>
          <a:p>
            <a:pPr indent="0" marL="0">
              <a:buNone/>
            </a:pPr>
            <a:r>
              <a:rPr lang="en-US" sz="1200" dirty="0">
                <a:solidFill>
                  <a:schemeClr val="accent5"/>
                </a:solidFill>
              </a:rPr>
              <a:t>Water sensing at the tip</a:t>
            </a:r>
            <a:endParaRPr lang="en-US" sz="1200" dirty="0"/>
          </a:p>
        </p:txBody>
      </p:sp>
      <p:sp>
        <p:nvSpPr>
          <p:cNvPr id="18" name="component card"/>
          <p:cNvSpPr/>
          <p:nvPr/>
        </p:nvSpPr>
        <p:spPr>
          <a:xfrm>
            <a:off x="6766560" y="1188720"/>
            <a:ext cx="1920240" cy="1508760"/>
          </a:xfrm>
          <a:prstGeom prst="roundRect">
            <a:avLst>
              <a:gd name="adj" fmla="val 7273"/>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9" name="icon circle"/>
          <p:cNvSpPr/>
          <p:nvPr/>
        </p:nvSpPr>
        <p:spPr>
          <a:xfrm>
            <a:off x="6949440" y="1371600"/>
            <a:ext cx="502920" cy="502920"/>
          </a:xfrm>
          <a:prstGeom prst="ellipse">
            <a:avLst/>
          </a:prstGeom>
          <a:solidFill>
            <a:schemeClr val="accent1"/>
          </a:solidFill>
          <a:ln w="12700">
            <a:solidFill>
              <a:schemeClr val="accent1"/>
            </a:solidFill>
            <a:prstDash val="solid"/>
          </a:ln>
        </p:spPr>
      </p:sp>
      <p:pic>
        <p:nvPicPr>
          <p:cNvPr id="20" name="icon" descr="preencoded.png">    </p:cNvPr>
          <p:cNvPicPr>
            <a:picLocks noChangeAspect="1"/>
          </p:cNvPicPr>
          <p:nvPr/>
        </p:nvPicPr>
        <p:blipFill>
          <a:blip r:embed="rId4"/>
          <a:stretch>
            <a:fillRect/>
          </a:stretch>
        </p:blipFill>
        <p:spPr>
          <a:xfrm>
            <a:off x="7060082" y="1482242"/>
            <a:ext cx="281635" cy="281635"/>
          </a:xfrm>
          <a:prstGeom prst="rect">
            <a:avLst/>
          </a:prstGeom>
        </p:spPr>
      </p:pic>
      <p:sp>
        <p:nvSpPr>
          <p:cNvPr id="21" name="Text 15"/>
          <p:cNvSpPr txBox="1"/>
          <p:nvPr/>
        </p:nvSpPr>
        <p:spPr>
          <a:xfrm>
            <a:off x="6949440" y="1965960"/>
            <a:ext cx="1645920" cy="320040"/>
          </a:xfrm>
          <a:prstGeom prst="rect">
            <a:avLst/>
          </a:prstGeom>
          <a:noFill/>
          <a:ln/>
        </p:spPr>
        <p:txBody>
          <a:bodyPr wrap="square" lIns="0" tIns="0" rIns="0" bIns="0" rtlCol="0" anchor="t"/>
          <a:lstStyle/>
          <a:p>
            <a:pPr indent="0" marL="0">
              <a:buNone/>
            </a:pPr>
            <a:r>
              <a:rPr lang="en-US" sz="1500" b="1" dirty="0">
                <a:solidFill>
                  <a:schemeClr val="tx2"/>
                </a:solidFill>
              </a:rPr>
              <a:t>LM393 module</a:t>
            </a:r>
            <a:endParaRPr lang="en-US" sz="1500" dirty="0"/>
          </a:p>
        </p:txBody>
      </p:sp>
      <p:sp>
        <p:nvSpPr>
          <p:cNvPr id="22" name="Text 16"/>
          <p:cNvSpPr txBox="1"/>
          <p:nvPr/>
        </p:nvSpPr>
        <p:spPr>
          <a:xfrm>
            <a:off x="6949440" y="2258568"/>
            <a:ext cx="1645920" cy="411480"/>
          </a:xfrm>
          <a:prstGeom prst="rect">
            <a:avLst/>
          </a:prstGeom>
          <a:noFill/>
          <a:ln/>
        </p:spPr>
        <p:txBody>
          <a:bodyPr wrap="square" lIns="0" tIns="0" rIns="0" bIns="0" rtlCol="0" anchor="t"/>
          <a:lstStyle/>
          <a:p>
            <a:pPr indent="0" marL="0">
              <a:buNone/>
            </a:pPr>
            <a:r>
              <a:rPr lang="en-US" sz="1200" dirty="0">
                <a:solidFill>
                  <a:schemeClr val="accent5"/>
                </a:solidFill>
              </a:rPr>
              <a:t>Probe resistance → voltage</a:t>
            </a:r>
            <a:endParaRPr lang="en-US" sz="1200" dirty="0"/>
          </a:p>
        </p:txBody>
      </p:sp>
      <p:sp>
        <p:nvSpPr>
          <p:cNvPr id="23" name="component card"/>
          <p:cNvSpPr/>
          <p:nvPr/>
        </p:nvSpPr>
        <p:spPr>
          <a:xfrm>
            <a:off x="457200" y="2880360"/>
            <a:ext cx="1920240" cy="1508760"/>
          </a:xfrm>
          <a:prstGeom prst="roundRect">
            <a:avLst>
              <a:gd name="adj" fmla="val 7273"/>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24" name="icon circle"/>
          <p:cNvSpPr/>
          <p:nvPr/>
        </p:nvSpPr>
        <p:spPr>
          <a:xfrm>
            <a:off x="640080" y="3063240"/>
            <a:ext cx="502920" cy="502920"/>
          </a:xfrm>
          <a:prstGeom prst="ellipse">
            <a:avLst/>
          </a:prstGeom>
          <a:solidFill>
            <a:schemeClr val="accent1"/>
          </a:solidFill>
          <a:ln w="12700">
            <a:solidFill>
              <a:schemeClr val="accent1"/>
            </a:solidFill>
            <a:prstDash val="solid"/>
          </a:ln>
        </p:spPr>
      </p:sp>
      <p:pic>
        <p:nvPicPr>
          <p:cNvPr id="25" name="icon" descr="preencoded.png">    </p:cNvPr>
          <p:cNvPicPr>
            <a:picLocks noChangeAspect="1"/>
          </p:cNvPicPr>
          <p:nvPr/>
        </p:nvPicPr>
        <p:blipFill>
          <a:blip r:embed="rId5"/>
          <a:stretch>
            <a:fillRect/>
          </a:stretch>
        </p:blipFill>
        <p:spPr>
          <a:xfrm>
            <a:off x="750722" y="3173882"/>
            <a:ext cx="281635" cy="281635"/>
          </a:xfrm>
          <a:prstGeom prst="rect">
            <a:avLst/>
          </a:prstGeom>
        </p:spPr>
      </p:pic>
      <p:sp>
        <p:nvSpPr>
          <p:cNvPr id="26" name="Text 19"/>
          <p:cNvSpPr txBox="1"/>
          <p:nvPr/>
        </p:nvSpPr>
        <p:spPr>
          <a:xfrm>
            <a:off x="640080" y="3657600"/>
            <a:ext cx="1645920" cy="320040"/>
          </a:xfrm>
          <a:prstGeom prst="rect">
            <a:avLst/>
          </a:prstGeom>
          <a:noFill/>
          <a:ln/>
        </p:spPr>
        <p:txBody>
          <a:bodyPr wrap="square" lIns="0" tIns="0" rIns="0" bIns="0" rtlCol="0" anchor="t"/>
          <a:lstStyle/>
          <a:p>
            <a:pPr indent="0" marL="0">
              <a:buNone/>
            </a:pPr>
            <a:r>
              <a:rPr lang="en-US" sz="1500" b="1" dirty="0">
                <a:solidFill>
                  <a:schemeClr val="tx2"/>
                </a:solidFill>
              </a:rPr>
              <a:t>Active buzzer</a:t>
            </a:r>
            <a:endParaRPr lang="en-US" sz="1500" dirty="0"/>
          </a:p>
        </p:txBody>
      </p:sp>
      <p:sp>
        <p:nvSpPr>
          <p:cNvPr id="27" name="Text 20"/>
          <p:cNvSpPr txBox="1"/>
          <p:nvPr/>
        </p:nvSpPr>
        <p:spPr>
          <a:xfrm>
            <a:off x="640080" y="3950208"/>
            <a:ext cx="1645920" cy="411480"/>
          </a:xfrm>
          <a:prstGeom prst="rect">
            <a:avLst/>
          </a:prstGeom>
          <a:noFill/>
          <a:ln/>
        </p:spPr>
        <p:txBody>
          <a:bodyPr wrap="square" lIns="0" tIns="0" rIns="0" bIns="0" rtlCol="0" anchor="t"/>
          <a:lstStyle/>
          <a:p>
            <a:pPr indent="0" marL="0">
              <a:buNone/>
            </a:pPr>
            <a:r>
              <a:rPr lang="en-US" sz="1200" dirty="0">
                <a:solidFill>
                  <a:schemeClr val="accent5"/>
                </a:solidFill>
              </a:rPr>
              <a:t>Audio alert on D2</a:t>
            </a:r>
            <a:endParaRPr lang="en-US" sz="1200" dirty="0"/>
          </a:p>
        </p:txBody>
      </p:sp>
      <p:sp>
        <p:nvSpPr>
          <p:cNvPr id="28" name="component card"/>
          <p:cNvSpPr/>
          <p:nvPr/>
        </p:nvSpPr>
        <p:spPr>
          <a:xfrm>
            <a:off x="2560320" y="2880360"/>
            <a:ext cx="1920240" cy="1508760"/>
          </a:xfrm>
          <a:prstGeom prst="roundRect">
            <a:avLst>
              <a:gd name="adj" fmla="val 7273"/>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29" name="icon circle"/>
          <p:cNvSpPr/>
          <p:nvPr/>
        </p:nvSpPr>
        <p:spPr>
          <a:xfrm>
            <a:off x="2743200" y="3063240"/>
            <a:ext cx="502920" cy="502920"/>
          </a:xfrm>
          <a:prstGeom prst="ellipse">
            <a:avLst/>
          </a:prstGeom>
          <a:solidFill>
            <a:schemeClr val="accent1"/>
          </a:solidFill>
          <a:ln w="12700">
            <a:solidFill>
              <a:schemeClr val="accent1"/>
            </a:solidFill>
            <a:prstDash val="solid"/>
          </a:ln>
        </p:spPr>
      </p:sp>
      <p:pic>
        <p:nvPicPr>
          <p:cNvPr id="30" name="icon" descr="preencoded.png">    </p:cNvPr>
          <p:cNvPicPr>
            <a:picLocks noChangeAspect="1"/>
          </p:cNvPicPr>
          <p:nvPr/>
        </p:nvPicPr>
        <p:blipFill>
          <a:blip r:embed="rId6"/>
          <a:stretch>
            <a:fillRect/>
          </a:stretch>
        </p:blipFill>
        <p:spPr>
          <a:xfrm>
            <a:off x="2853842" y="3173882"/>
            <a:ext cx="281635" cy="281635"/>
          </a:xfrm>
          <a:prstGeom prst="rect">
            <a:avLst/>
          </a:prstGeom>
        </p:spPr>
      </p:pic>
      <p:sp>
        <p:nvSpPr>
          <p:cNvPr id="31" name="Text 23"/>
          <p:cNvSpPr txBox="1"/>
          <p:nvPr/>
        </p:nvSpPr>
        <p:spPr>
          <a:xfrm>
            <a:off x="2743200" y="3657600"/>
            <a:ext cx="1645920" cy="320040"/>
          </a:xfrm>
          <a:prstGeom prst="rect">
            <a:avLst/>
          </a:prstGeom>
          <a:noFill/>
          <a:ln/>
        </p:spPr>
        <p:txBody>
          <a:bodyPr wrap="square" lIns="0" tIns="0" rIns="0" bIns="0" rtlCol="0" anchor="t"/>
          <a:lstStyle/>
          <a:p>
            <a:pPr indent="0" marL="0">
              <a:buNone/>
            </a:pPr>
            <a:r>
              <a:rPr lang="en-US" sz="1500" b="1" dirty="0">
                <a:solidFill>
                  <a:schemeClr val="tx2"/>
                </a:solidFill>
              </a:rPr>
              <a:t>18650 Li-ion</a:t>
            </a:r>
            <a:endParaRPr lang="en-US" sz="1500" dirty="0"/>
          </a:p>
        </p:txBody>
      </p:sp>
      <p:sp>
        <p:nvSpPr>
          <p:cNvPr id="32" name="Text 24"/>
          <p:cNvSpPr txBox="1"/>
          <p:nvPr/>
        </p:nvSpPr>
        <p:spPr>
          <a:xfrm>
            <a:off x="2743200" y="3950208"/>
            <a:ext cx="1645920" cy="411480"/>
          </a:xfrm>
          <a:prstGeom prst="rect">
            <a:avLst/>
          </a:prstGeom>
          <a:noFill/>
          <a:ln/>
        </p:spPr>
        <p:txBody>
          <a:bodyPr wrap="square" lIns="0" tIns="0" rIns="0" bIns="0" rtlCol="0" anchor="t"/>
          <a:lstStyle/>
          <a:p>
            <a:pPr indent="0" marL="0">
              <a:buNone/>
            </a:pPr>
            <a:r>
              <a:rPr lang="en-US" sz="1200" dirty="0">
                <a:solidFill>
                  <a:schemeClr val="accent5"/>
                </a:solidFill>
              </a:rPr>
              <a:t>3.7 V, 1200 mAh</a:t>
            </a:r>
            <a:endParaRPr lang="en-US" sz="1200" dirty="0"/>
          </a:p>
        </p:txBody>
      </p:sp>
      <p:sp>
        <p:nvSpPr>
          <p:cNvPr id="33" name="component card"/>
          <p:cNvSpPr/>
          <p:nvPr/>
        </p:nvSpPr>
        <p:spPr>
          <a:xfrm>
            <a:off x="4663440" y="2880360"/>
            <a:ext cx="1920240" cy="1508760"/>
          </a:xfrm>
          <a:prstGeom prst="roundRect">
            <a:avLst>
              <a:gd name="adj" fmla="val 7273"/>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34" name="icon circle"/>
          <p:cNvSpPr/>
          <p:nvPr/>
        </p:nvSpPr>
        <p:spPr>
          <a:xfrm>
            <a:off x="4846320" y="3063240"/>
            <a:ext cx="502920" cy="502920"/>
          </a:xfrm>
          <a:prstGeom prst="ellipse">
            <a:avLst/>
          </a:prstGeom>
          <a:solidFill>
            <a:schemeClr val="accent1"/>
          </a:solidFill>
          <a:ln w="12700">
            <a:solidFill>
              <a:schemeClr val="accent1"/>
            </a:solidFill>
            <a:prstDash val="solid"/>
          </a:ln>
        </p:spPr>
      </p:sp>
      <p:pic>
        <p:nvPicPr>
          <p:cNvPr id="35" name="icon" descr="preencoded.png">    </p:cNvPr>
          <p:cNvPicPr>
            <a:picLocks noChangeAspect="1"/>
          </p:cNvPicPr>
          <p:nvPr/>
        </p:nvPicPr>
        <p:blipFill>
          <a:blip r:embed="rId7"/>
          <a:stretch>
            <a:fillRect/>
          </a:stretch>
        </p:blipFill>
        <p:spPr>
          <a:xfrm>
            <a:off x="4956962" y="3173882"/>
            <a:ext cx="281635" cy="281635"/>
          </a:xfrm>
          <a:prstGeom prst="rect">
            <a:avLst/>
          </a:prstGeom>
        </p:spPr>
      </p:pic>
      <p:sp>
        <p:nvSpPr>
          <p:cNvPr id="36" name="Text 27"/>
          <p:cNvSpPr txBox="1"/>
          <p:nvPr/>
        </p:nvSpPr>
        <p:spPr>
          <a:xfrm>
            <a:off x="4846320" y="3657600"/>
            <a:ext cx="1645920" cy="320040"/>
          </a:xfrm>
          <a:prstGeom prst="rect">
            <a:avLst/>
          </a:prstGeom>
          <a:noFill/>
          <a:ln/>
        </p:spPr>
        <p:txBody>
          <a:bodyPr wrap="square" lIns="0" tIns="0" rIns="0" bIns="0" rtlCol="0" anchor="t"/>
          <a:lstStyle/>
          <a:p>
            <a:pPr indent="0" marL="0">
              <a:buNone/>
            </a:pPr>
            <a:r>
              <a:rPr lang="en-US" sz="1500" b="1" dirty="0">
                <a:solidFill>
                  <a:schemeClr val="tx2"/>
                </a:solidFill>
              </a:rPr>
              <a:t>Rocker switch</a:t>
            </a:r>
            <a:endParaRPr lang="en-US" sz="1500" dirty="0"/>
          </a:p>
        </p:txBody>
      </p:sp>
      <p:sp>
        <p:nvSpPr>
          <p:cNvPr id="37" name="Text 28"/>
          <p:cNvSpPr txBox="1"/>
          <p:nvPr/>
        </p:nvSpPr>
        <p:spPr>
          <a:xfrm>
            <a:off x="4846320" y="3950208"/>
            <a:ext cx="1645920" cy="411480"/>
          </a:xfrm>
          <a:prstGeom prst="rect">
            <a:avLst/>
          </a:prstGeom>
          <a:noFill/>
          <a:ln/>
        </p:spPr>
        <p:txBody>
          <a:bodyPr wrap="square" lIns="0" tIns="0" rIns="0" bIns="0" rtlCol="0" anchor="t"/>
          <a:lstStyle/>
          <a:p>
            <a:pPr indent="0" marL="0">
              <a:buNone/>
            </a:pPr>
            <a:r>
              <a:rPr lang="en-US" sz="1200" dirty="0">
                <a:solidFill>
                  <a:schemeClr val="accent5"/>
                </a:solidFill>
              </a:rPr>
              <a:t>Power ON / OFF</a:t>
            </a:r>
            <a:endParaRPr lang="en-US" sz="1200" dirty="0"/>
          </a:p>
        </p:txBody>
      </p:sp>
      <p:sp>
        <p:nvSpPr>
          <p:cNvPr id="38" name="component card"/>
          <p:cNvSpPr/>
          <p:nvPr/>
        </p:nvSpPr>
        <p:spPr>
          <a:xfrm>
            <a:off x="6766560" y="2880360"/>
            <a:ext cx="1920240" cy="1508760"/>
          </a:xfrm>
          <a:prstGeom prst="roundRect">
            <a:avLst>
              <a:gd name="adj" fmla="val 7273"/>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39" name="icon circle"/>
          <p:cNvSpPr/>
          <p:nvPr/>
        </p:nvSpPr>
        <p:spPr>
          <a:xfrm>
            <a:off x="6949440" y="3063240"/>
            <a:ext cx="502920" cy="502920"/>
          </a:xfrm>
          <a:prstGeom prst="ellipse">
            <a:avLst/>
          </a:prstGeom>
          <a:solidFill>
            <a:schemeClr val="accent1"/>
          </a:solidFill>
          <a:ln w="12700">
            <a:solidFill>
              <a:schemeClr val="accent1"/>
            </a:solidFill>
            <a:prstDash val="solid"/>
          </a:ln>
        </p:spPr>
      </p:sp>
      <p:pic>
        <p:nvPicPr>
          <p:cNvPr id="40" name="icon" descr="preencoded.png">    </p:cNvPr>
          <p:cNvPicPr>
            <a:picLocks noChangeAspect="1"/>
          </p:cNvPicPr>
          <p:nvPr/>
        </p:nvPicPr>
        <p:blipFill>
          <a:blip r:embed="rId8"/>
          <a:stretch>
            <a:fillRect/>
          </a:stretch>
        </p:blipFill>
        <p:spPr>
          <a:xfrm>
            <a:off x="7060082" y="3173882"/>
            <a:ext cx="281635" cy="281635"/>
          </a:xfrm>
          <a:prstGeom prst="rect">
            <a:avLst/>
          </a:prstGeom>
        </p:spPr>
      </p:pic>
      <p:sp>
        <p:nvSpPr>
          <p:cNvPr id="41" name="Text 31"/>
          <p:cNvSpPr txBox="1"/>
          <p:nvPr/>
        </p:nvSpPr>
        <p:spPr>
          <a:xfrm>
            <a:off x="6949440" y="3657600"/>
            <a:ext cx="1645920" cy="320040"/>
          </a:xfrm>
          <a:prstGeom prst="rect">
            <a:avLst/>
          </a:prstGeom>
          <a:noFill/>
          <a:ln/>
        </p:spPr>
        <p:txBody>
          <a:bodyPr wrap="square" lIns="0" tIns="0" rIns="0" bIns="0" rtlCol="0" anchor="t"/>
          <a:lstStyle/>
          <a:p>
            <a:pPr indent="0" marL="0">
              <a:buNone/>
            </a:pPr>
            <a:r>
              <a:rPr lang="en-US" sz="1500" b="1" dirty="0">
                <a:solidFill>
                  <a:schemeClr val="tx2"/>
                </a:solidFill>
              </a:rPr>
              <a:t>Capacitor</a:t>
            </a:r>
            <a:endParaRPr lang="en-US" sz="1500" dirty="0"/>
          </a:p>
        </p:txBody>
      </p:sp>
      <p:sp>
        <p:nvSpPr>
          <p:cNvPr id="42" name="Text 32"/>
          <p:cNvSpPr txBox="1"/>
          <p:nvPr/>
        </p:nvSpPr>
        <p:spPr>
          <a:xfrm>
            <a:off x="6949440" y="3950208"/>
            <a:ext cx="1645920" cy="411480"/>
          </a:xfrm>
          <a:prstGeom prst="rect">
            <a:avLst/>
          </a:prstGeom>
          <a:noFill/>
          <a:ln/>
        </p:spPr>
        <p:txBody>
          <a:bodyPr wrap="square" lIns="0" tIns="0" rIns="0" bIns="0" rtlCol="0" anchor="t"/>
          <a:lstStyle/>
          <a:p>
            <a:pPr indent="0" marL="0">
              <a:buNone/>
            </a:pPr>
            <a:r>
              <a:rPr lang="en-US" sz="1200" dirty="0">
                <a:solidFill>
                  <a:schemeClr val="accent5"/>
                </a:solidFill>
              </a:rPr>
              <a:t>220–470 µF supply filter</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Why the Arduino Nano</a:t>
            </a:r>
            <a:endParaRPr lang="en-US" sz="3000" dirty="0"/>
          </a:p>
        </p:txBody>
      </p:sp>
      <p:sp>
        <p:nvSpPr>
          <p:cNvPr id="3" name="spec card"/>
          <p:cNvSpPr/>
          <p:nvPr/>
        </p:nvSpPr>
        <p:spPr>
          <a:xfrm>
            <a:off x="457200" y="1188720"/>
            <a:ext cx="1874520" cy="1508760"/>
          </a:xfrm>
          <a:prstGeom prst="roundRect">
            <a:avLst>
              <a:gd name="adj" fmla="val 7273"/>
            </a:avLst>
          </a:prstGeom>
          <a:solidFill>
            <a:schemeClr val="tx2"/>
          </a:solidFill>
          <a:ln w="12700">
            <a:solidFill>
              <a:schemeClr val="tx2"/>
            </a:solidFill>
            <a:prstDash val="solid"/>
          </a:ln>
          <a:effectLst>
            <a:outerShdw sx="100000" sy="100000" kx="0" ky="0" algn="bl" rotWithShape="0" blurRad="76200" dist="25400" dir="5400000">
              <a:srgbClr val="000000">
                <a:alpha val="15000"/>
              </a:srgbClr>
            </a:outerShdw>
          </a:effectLst>
        </p:spPr>
      </p:sp>
      <p:sp>
        <p:nvSpPr>
          <p:cNvPr id="4" name="Text 2"/>
          <p:cNvSpPr txBox="1"/>
          <p:nvPr/>
        </p:nvSpPr>
        <p:spPr>
          <a:xfrm>
            <a:off x="594360" y="1463040"/>
            <a:ext cx="1645920" cy="54864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16 MHz</a:t>
            </a:r>
            <a:endParaRPr lang="en-US" sz="2200" dirty="0"/>
          </a:p>
        </p:txBody>
      </p:sp>
      <p:sp>
        <p:nvSpPr>
          <p:cNvPr id="5" name="Text 3"/>
          <p:cNvSpPr txBox="1"/>
          <p:nvPr/>
        </p:nvSpPr>
        <p:spPr>
          <a:xfrm>
            <a:off x="640080" y="2057400"/>
            <a:ext cx="1554480" cy="457200"/>
          </a:xfrm>
          <a:prstGeom prst="rect">
            <a:avLst/>
          </a:prstGeom>
          <a:noFill/>
          <a:ln/>
        </p:spPr>
        <p:txBody>
          <a:bodyPr wrap="square" lIns="0" tIns="0" rIns="0" bIns="0" rtlCol="0" anchor="t"/>
          <a:lstStyle/>
          <a:p>
            <a:pPr indent="0" marL="0">
              <a:buNone/>
            </a:pPr>
            <a:r>
              <a:rPr lang="en-US" sz="1300" dirty="0">
                <a:solidFill>
                  <a:schemeClr val="bg1"/>
                </a:solidFill>
              </a:rPr>
              <a:t>ATmega328P clock</a:t>
            </a:r>
            <a:endParaRPr lang="en-US" sz="1300" dirty="0"/>
          </a:p>
        </p:txBody>
      </p:sp>
      <p:sp>
        <p:nvSpPr>
          <p:cNvPr id="6" name="spec card"/>
          <p:cNvSpPr/>
          <p:nvPr/>
        </p:nvSpPr>
        <p:spPr>
          <a:xfrm>
            <a:off x="2514600" y="1188720"/>
            <a:ext cx="1874520" cy="1508760"/>
          </a:xfrm>
          <a:prstGeom prst="roundRect">
            <a:avLst>
              <a:gd name="adj" fmla="val 7273"/>
            </a:avLst>
          </a:prstGeom>
          <a:solidFill>
            <a:schemeClr val="tx2"/>
          </a:solidFill>
          <a:ln w="12700">
            <a:solidFill>
              <a:schemeClr val="tx2"/>
            </a:solidFill>
            <a:prstDash val="solid"/>
          </a:ln>
          <a:effectLst>
            <a:outerShdw sx="100000" sy="100000" kx="0" ky="0" algn="bl" rotWithShape="0" blurRad="76200" dist="25400" dir="5400000">
              <a:srgbClr val="000000">
                <a:alpha val="15000"/>
              </a:srgbClr>
            </a:outerShdw>
          </a:effectLst>
        </p:spPr>
      </p:sp>
      <p:sp>
        <p:nvSpPr>
          <p:cNvPr id="7" name="Text 5"/>
          <p:cNvSpPr txBox="1"/>
          <p:nvPr/>
        </p:nvSpPr>
        <p:spPr>
          <a:xfrm>
            <a:off x="2651760" y="1463040"/>
            <a:ext cx="1645920" cy="54864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32 KB</a:t>
            </a:r>
            <a:endParaRPr lang="en-US" sz="2200" dirty="0"/>
          </a:p>
        </p:txBody>
      </p:sp>
      <p:sp>
        <p:nvSpPr>
          <p:cNvPr id="8" name="Text 6"/>
          <p:cNvSpPr txBox="1"/>
          <p:nvPr/>
        </p:nvSpPr>
        <p:spPr>
          <a:xfrm>
            <a:off x="2697480" y="2057400"/>
            <a:ext cx="1554480" cy="457200"/>
          </a:xfrm>
          <a:prstGeom prst="rect">
            <a:avLst/>
          </a:prstGeom>
          <a:noFill/>
          <a:ln/>
        </p:spPr>
        <p:txBody>
          <a:bodyPr wrap="square" lIns="0" tIns="0" rIns="0" bIns="0" rtlCol="0" anchor="t"/>
          <a:lstStyle/>
          <a:p>
            <a:pPr indent="0" marL="0">
              <a:buNone/>
            </a:pPr>
            <a:r>
              <a:rPr lang="en-US" sz="1300" dirty="0">
                <a:solidFill>
                  <a:schemeClr val="bg1"/>
                </a:solidFill>
              </a:rPr>
              <a:t>Flash memory</a:t>
            </a:r>
            <a:endParaRPr lang="en-US" sz="1300" dirty="0"/>
          </a:p>
        </p:txBody>
      </p:sp>
      <p:sp>
        <p:nvSpPr>
          <p:cNvPr id="9" name="spec card"/>
          <p:cNvSpPr/>
          <p:nvPr/>
        </p:nvSpPr>
        <p:spPr>
          <a:xfrm>
            <a:off x="457200" y="2880360"/>
            <a:ext cx="1874520" cy="1508760"/>
          </a:xfrm>
          <a:prstGeom prst="roundRect">
            <a:avLst>
              <a:gd name="adj" fmla="val 7273"/>
            </a:avLst>
          </a:prstGeom>
          <a:solidFill>
            <a:schemeClr val="tx2"/>
          </a:solidFill>
          <a:ln w="12700">
            <a:solidFill>
              <a:schemeClr val="tx2"/>
            </a:solidFill>
            <a:prstDash val="solid"/>
          </a:ln>
          <a:effectLst>
            <a:outerShdw sx="100000" sy="100000" kx="0" ky="0" algn="bl" rotWithShape="0" blurRad="76200" dist="25400" dir="5400000">
              <a:srgbClr val="000000">
                <a:alpha val="15000"/>
              </a:srgbClr>
            </a:outerShdw>
          </a:effectLst>
        </p:spPr>
      </p:sp>
      <p:sp>
        <p:nvSpPr>
          <p:cNvPr id="10" name="Text 8"/>
          <p:cNvSpPr txBox="1"/>
          <p:nvPr/>
        </p:nvSpPr>
        <p:spPr>
          <a:xfrm>
            <a:off x="594360" y="3154680"/>
            <a:ext cx="1645920" cy="54864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10-bit</a:t>
            </a:r>
            <a:endParaRPr lang="en-US" sz="2200" dirty="0"/>
          </a:p>
        </p:txBody>
      </p:sp>
      <p:sp>
        <p:nvSpPr>
          <p:cNvPr id="11" name="Text 9"/>
          <p:cNvSpPr txBox="1"/>
          <p:nvPr/>
        </p:nvSpPr>
        <p:spPr>
          <a:xfrm>
            <a:off x="640080" y="3749040"/>
            <a:ext cx="1554480" cy="457200"/>
          </a:xfrm>
          <a:prstGeom prst="rect">
            <a:avLst/>
          </a:prstGeom>
          <a:noFill/>
          <a:ln/>
        </p:spPr>
        <p:txBody>
          <a:bodyPr wrap="square" lIns="0" tIns="0" rIns="0" bIns="0" rtlCol="0" anchor="t"/>
          <a:lstStyle/>
          <a:p>
            <a:pPr indent="0" marL="0">
              <a:buNone/>
            </a:pPr>
            <a:r>
              <a:rPr lang="en-US" sz="1300" dirty="0">
                <a:solidFill>
                  <a:schemeClr val="bg1"/>
                </a:solidFill>
              </a:rPr>
              <a:t>ADC, 8 analog inputs</a:t>
            </a:r>
            <a:endParaRPr lang="en-US" sz="1300" dirty="0"/>
          </a:p>
        </p:txBody>
      </p:sp>
      <p:sp>
        <p:nvSpPr>
          <p:cNvPr id="12" name="spec card"/>
          <p:cNvSpPr/>
          <p:nvPr/>
        </p:nvSpPr>
        <p:spPr>
          <a:xfrm>
            <a:off x="2514600" y="2880360"/>
            <a:ext cx="1874520" cy="1508760"/>
          </a:xfrm>
          <a:prstGeom prst="roundRect">
            <a:avLst>
              <a:gd name="adj" fmla="val 7273"/>
            </a:avLst>
          </a:prstGeom>
          <a:solidFill>
            <a:schemeClr val="tx2"/>
          </a:solidFill>
          <a:ln w="12700">
            <a:solidFill>
              <a:schemeClr val="tx2"/>
            </a:solidFill>
            <a:prstDash val="solid"/>
          </a:ln>
          <a:effectLst>
            <a:outerShdw sx="100000" sy="100000" kx="0" ky="0" algn="bl" rotWithShape="0" blurRad="76200" dist="25400" dir="5400000">
              <a:srgbClr val="000000">
                <a:alpha val="15000"/>
              </a:srgbClr>
            </a:outerShdw>
          </a:effectLst>
        </p:spPr>
      </p:sp>
      <p:sp>
        <p:nvSpPr>
          <p:cNvPr id="13" name="Text 11"/>
          <p:cNvSpPr txBox="1"/>
          <p:nvPr/>
        </p:nvSpPr>
        <p:spPr>
          <a:xfrm>
            <a:off x="2651760" y="3154680"/>
            <a:ext cx="1645920" cy="54864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18×45 mm</a:t>
            </a:r>
            <a:endParaRPr lang="en-US" sz="2200" dirty="0"/>
          </a:p>
        </p:txBody>
      </p:sp>
      <p:sp>
        <p:nvSpPr>
          <p:cNvPr id="14" name="Text 12"/>
          <p:cNvSpPr txBox="1"/>
          <p:nvPr/>
        </p:nvSpPr>
        <p:spPr>
          <a:xfrm>
            <a:off x="2697480" y="3749040"/>
            <a:ext cx="1554480" cy="457200"/>
          </a:xfrm>
          <a:prstGeom prst="rect">
            <a:avLst/>
          </a:prstGeom>
          <a:noFill/>
          <a:ln/>
        </p:spPr>
        <p:txBody>
          <a:bodyPr wrap="square" lIns="0" tIns="0" rIns="0" bIns="0" rtlCol="0" anchor="t"/>
          <a:lstStyle/>
          <a:p>
            <a:pPr indent="0" marL="0">
              <a:buNone/>
            </a:pPr>
            <a:r>
              <a:rPr lang="en-US" sz="1300" dirty="0">
                <a:solidFill>
                  <a:schemeClr val="bg1"/>
                </a:solidFill>
              </a:rPr>
              <a:t>Fits on a cane</a:t>
            </a:r>
            <a:endParaRPr lang="en-US" sz="1300" dirty="0"/>
          </a:p>
        </p:txBody>
      </p:sp>
      <p:sp>
        <p:nvSpPr>
          <p:cNvPr id="15" name="Text 13"/>
          <p:cNvSpPr txBox="1"/>
          <p:nvPr/>
        </p:nvSpPr>
        <p:spPr>
          <a:xfrm>
            <a:off x="4846320" y="1280160"/>
            <a:ext cx="3840480" cy="32004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Small and light enough to mount on the cane shaft</a:t>
            </a:r>
            <a:endParaRPr lang="en-US" sz="1500" dirty="0"/>
          </a:p>
          <a:p>
            <a:pPr marL="342900" indent="-342900">
              <a:spcAft>
                <a:spcPts val="1000"/>
              </a:spcAft>
              <a:buSzPct val="100000"/>
              <a:buChar char="•"/>
            </a:pPr>
            <a:r>
              <a:rPr lang="en-US" sz="1500" dirty="0">
                <a:solidFill>
                  <a:schemeClr val="tx1"/>
                </a:solidFill>
              </a:rPr>
              <a:t>Low cost (about ₹250) and easy to replace</a:t>
            </a:r>
            <a:endParaRPr lang="en-US" sz="1500" dirty="0"/>
          </a:p>
          <a:p>
            <a:pPr marL="342900" indent="-342900">
              <a:spcAft>
                <a:spcPts val="1000"/>
              </a:spcAft>
              <a:buSzPct val="100000"/>
              <a:buChar char="•"/>
            </a:pPr>
            <a:r>
              <a:rPr lang="en-US" sz="1500" dirty="0">
                <a:solidFill>
                  <a:schemeClr val="tx1"/>
                </a:solidFill>
              </a:rPr>
              <a:t>5 V logic matches the HC-SR04 and the moisture module</a:t>
            </a:r>
            <a:endParaRPr lang="en-US" sz="1500" dirty="0"/>
          </a:p>
          <a:p>
            <a:pPr marL="342900" indent="-342900">
              <a:spcAft>
                <a:spcPts val="1000"/>
              </a:spcAft>
              <a:buSzPct val="100000"/>
              <a:buChar char="•"/>
            </a:pPr>
            <a:r>
              <a:rPr lang="en-US" sz="1500" dirty="0">
                <a:solidFill>
                  <a:schemeClr val="tx1"/>
                </a:solidFill>
              </a:rPr>
              <a:t>Built-in ADC reads the moisture voltage directly</a:t>
            </a:r>
            <a:endParaRPr lang="en-US" sz="1500" dirty="0"/>
          </a:p>
          <a:p>
            <a:pPr marL="342900" indent="-342900">
              <a:spcAft>
                <a:spcPts val="1000"/>
              </a:spcAft>
              <a:buSzPct val="100000"/>
              <a:buChar char="•"/>
            </a:pPr>
            <a:r>
              <a:rPr lang="en-US" sz="1500" dirty="0">
                <a:solidFill>
                  <a:schemeClr val="tx1"/>
                </a:solidFill>
              </a:rPr>
              <a:t>Programmed over USB with the free Arduino IDE</a:t>
            </a:r>
            <a:endParaRPr lang="en-US" sz="15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How the ultrasonic sensor measures distance</a:t>
            </a:r>
            <a:endParaRPr lang="en-US" sz="3000" dirty="0"/>
          </a:p>
        </p:txBody>
      </p:sp>
      <p:sp>
        <p:nvSpPr>
          <p:cNvPr id="3" name="step number"/>
          <p:cNvSpPr/>
          <p:nvPr/>
        </p:nvSpPr>
        <p:spPr>
          <a:xfrm>
            <a:off x="457200" y="1188720"/>
            <a:ext cx="548640" cy="548640"/>
          </a:xfrm>
          <a:prstGeom prst="ellipse">
            <a:avLst/>
          </a:prstGeom>
          <a:solidFill>
            <a:schemeClr val="accent2"/>
          </a:solidFill>
          <a:ln w="12700">
            <a:solidFill>
              <a:schemeClr val="accent2"/>
            </a:solidFill>
            <a:prstDash val="solid"/>
          </a:ln>
        </p:spPr>
      </p:sp>
      <p:sp>
        <p:nvSpPr>
          <p:cNvPr id="4" name="Text 2"/>
          <p:cNvSpPr txBox="1"/>
          <p:nvPr/>
        </p:nvSpPr>
        <p:spPr>
          <a:xfrm>
            <a:off x="457200" y="11887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Text 3"/>
          <p:cNvSpPr txBox="1"/>
          <p:nvPr/>
        </p:nvSpPr>
        <p:spPr>
          <a:xfrm>
            <a:off x="1188720" y="1188720"/>
            <a:ext cx="3108960" cy="320040"/>
          </a:xfrm>
          <a:prstGeom prst="rect">
            <a:avLst/>
          </a:prstGeom>
          <a:noFill/>
          <a:ln/>
        </p:spPr>
        <p:txBody>
          <a:bodyPr wrap="square" lIns="0" tIns="0" rIns="0" bIns="0" rtlCol="0" anchor="t"/>
          <a:lstStyle/>
          <a:p>
            <a:pPr indent="0" marL="0">
              <a:buNone/>
            </a:pPr>
            <a:r>
              <a:rPr lang="en-US" sz="1700" b="1" dirty="0">
                <a:solidFill>
                  <a:schemeClr val="tx2"/>
                </a:solidFill>
              </a:rPr>
              <a:t>Trigger</a:t>
            </a:r>
            <a:endParaRPr lang="en-US" sz="1700" dirty="0"/>
          </a:p>
        </p:txBody>
      </p:sp>
      <p:sp>
        <p:nvSpPr>
          <p:cNvPr id="6" name="Text 4"/>
          <p:cNvSpPr txBox="1"/>
          <p:nvPr/>
        </p:nvSpPr>
        <p:spPr>
          <a:xfrm>
            <a:off x="1188720" y="1527048"/>
            <a:ext cx="3200400" cy="548640"/>
          </a:xfrm>
          <a:prstGeom prst="rect">
            <a:avLst/>
          </a:prstGeom>
          <a:noFill/>
          <a:ln/>
        </p:spPr>
        <p:txBody>
          <a:bodyPr wrap="square" lIns="0" tIns="0" rIns="0" bIns="0" rtlCol="0" anchor="t"/>
          <a:lstStyle/>
          <a:p>
            <a:pPr indent="0" marL="0">
              <a:buNone/>
            </a:pPr>
            <a:r>
              <a:rPr lang="en-US" sz="1400" dirty="0">
                <a:solidFill>
                  <a:schemeClr val="accent5"/>
                </a:solidFill>
              </a:rPr>
              <a:t>Nano holds Trig HIGH for 10 µs</a:t>
            </a:r>
            <a:endParaRPr lang="en-US" sz="1400" dirty="0"/>
          </a:p>
        </p:txBody>
      </p:sp>
      <p:sp>
        <p:nvSpPr>
          <p:cNvPr id="7" name="step number"/>
          <p:cNvSpPr/>
          <p:nvPr/>
        </p:nvSpPr>
        <p:spPr>
          <a:xfrm>
            <a:off x="457200" y="2286000"/>
            <a:ext cx="548640" cy="548640"/>
          </a:xfrm>
          <a:prstGeom prst="ellipse">
            <a:avLst/>
          </a:prstGeom>
          <a:solidFill>
            <a:schemeClr val="accent2"/>
          </a:solidFill>
          <a:ln w="12700">
            <a:solidFill>
              <a:schemeClr val="accent2"/>
            </a:solidFill>
            <a:prstDash val="solid"/>
          </a:ln>
        </p:spPr>
      </p:sp>
      <p:sp>
        <p:nvSpPr>
          <p:cNvPr id="8" name="Text 6"/>
          <p:cNvSpPr txBox="1"/>
          <p:nvPr/>
        </p:nvSpPr>
        <p:spPr>
          <a:xfrm>
            <a:off x="457200" y="22860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9" name="Text 7"/>
          <p:cNvSpPr txBox="1"/>
          <p:nvPr/>
        </p:nvSpPr>
        <p:spPr>
          <a:xfrm>
            <a:off x="1188720" y="2286000"/>
            <a:ext cx="3108960" cy="320040"/>
          </a:xfrm>
          <a:prstGeom prst="rect">
            <a:avLst/>
          </a:prstGeom>
          <a:noFill/>
          <a:ln/>
        </p:spPr>
        <p:txBody>
          <a:bodyPr wrap="square" lIns="0" tIns="0" rIns="0" bIns="0" rtlCol="0" anchor="t"/>
          <a:lstStyle/>
          <a:p>
            <a:pPr indent="0" marL="0">
              <a:buNone/>
            </a:pPr>
            <a:r>
              <a:rPr lang="en-US" sz="1700" b="1" dirty="0">
                <a:solidFill>
                  <a:schemeClr val="tx2"/>
                </a:solidFill>
              </a:rPr>
              <a:t>Burst</a:t>
            </a:r>
            <a:endParaRPr lang="en-US" sz="1700" dirty="0"/>
          </a:p>
        </p:txBody>
      </p:sp>
      <p:sp>
        <p:nvSpPr>
          <p:cNvPr id="10" name="Text 8"/>
          <p:cNvSpPr txBox="1"/>
          <p:nvPr/>
        </p:nvSpPr>
        <p:spPr>
          <a:xfrm>
            <a:off x="1188720" y="2624328"/>
            <a:ext cx="3200400" cy="548640"/>
          </a:xfrm>
          <a:prstGeom prst="rect">
            <a:avLst/>
          </a:prstGeom>
          <a:noFill/>
          <a:ln/>
        </p:spPr>
        <p:txBody>
          <a:bodyPr wrap="square" lIns="0" tIns="0" rIns="0" bIns="0" rtlCol="0" anchor="t"/>
          <a:lstStyle/>
          <a:p>
            <a:pPr indent="0" marL="0">
              <a:buNone/>
            </a:pPr>
            <a:r>
              <a:rPr lang="en-US" sz="1400" dirty="0">
                <a:solidFill>
                  <a:schemeClr val="accent5"/>
                </a:solidFill>
              </a:rPr>
              <a:t>Sensor sends eight 40 kHz sound pulses</a:t>
            </a:r>
            <a:endParaRPr lang="en-US" sz="1400" dirty="0"/>
          </a:p>
        </p:txBody>
      </p:sp>
      <p:sp>
        <p:nvSpPr>
          <p:cNvPr id="11" name="step number"/>
          <p:cNvSpPr/>
          <p:nvPr/>
        </p:nvSpPr>
        <p:spPr>
          <a:xfrm>
            <a:off x="457200" y="3383280"/>
            <a:ext cx="548640" cy="548640"/>
          </a:xfrm>
          <a:prstGeom prst="ellipse">
            <a:avLst/>
          </a:prstGeom>
          <a:solidFill>
            <a:schemeClr val="accent2"/>
          </a:solidFill>
          <a:ln w="12700">
            <a:solidFill>
              <a:schemeClr val="accent2"/>
            </a:solidFill>
            <a:prstDash val="solid"/>
          </a:ln>
        </p:spPr>
      </p:sp>
      <p:sp>
        <p:nvSpPr>
          <p:cNvPr id="12" name="Text 10"/>
          <p:cNvSpPr txBox="1"/>
          <p:nvPr/>
        </p:nvSpPr>
        <p:spPr>
          <a:xfrm>
            <a:off x="457200" y="33832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3" name="Text 11"/>
          <p:cNvSpPr txBox="1"/>
          <p:nvPr/>
        </p:nvSpPr>
        <p:spPr>
          <a:xfrm>
            <a:off x="1188720" y="3383280"/>
            <a:ext cx="3108960" cy="320040"/>
          </a:xfrm>
          <a:prstGeom prst="rect">
            <a:avLst/>
          </a:prstGeom>
          <a:noFill/>
          <a:ln/>
        </p:spPr>
        <p:txBody>
          <a:bodyPr wrap="square" lIns="0" tIns="0" rIns="0" bIns="0" rtlCol="0" anchor="t"/>
          <a:lstStyle/>
          <a:p>
            <a:pPr indent="0" marL="0">
              <a:buNone/>
            </a:pPr>
            <a:r>
              <a:rPr lang="en-US" sz="1700" b="1" dirty="0">
                <a:solidFill>
                  <a:schemeClr val="tx2"/>
                </a:solidFill>
              </a:rPr>
              <a:t>Echo</a:t>
            </a:r>
            <a:endParaRPr lang="en-US" sz="1700" dirty="0"/>
          </a:p>
        </p:txBody>
      </p:sp>
      <p:sp>
        <p:nvSpPr>
          <p:cNvPr id="14" name="Text 12"/>
          <p:cNvSpPr txBox="1"/>
          <p:nvPr/>
        </p:nvSpPr>
        <p:spPr>
          <a:xfrm>
            <a:off x="1188720" y="3721608"/>
            <a:ext cx="3200400" cy="548640"/>
          </a:xfrm>
          <a:prstGeom prst="rect">
            <a:avLst/>
          </a:prstGeom>
          <a:noFill/>
          <a:ln/>
        </p:spPr>
        <p:txBody>
          <a:bodyPr wrap="square" lIns="0" tIns="0" rIns="0" bIns="0" rtlCol="0" anchor="t"/>
          <a:lstStyle/>
          <a:p>
            <a:pPr indent="0" marL="0">
              <a:buNone/>
            </a:pPr>
            <a:r>
              <a:rPr lang="en-US" sz="1400" dirty="0">
                <a:solidFill>
                  <a:schemeClr val="accent5"/>
                </a:solidFill>
              </a:rPr>
              <a:t>Echo stays HIGH for the round-trip time t</a:t>
            </a:r>
            <a:endParaRPr lang="en-US" sz="1400" dirty="0"/>
          </a:p>
        </p:txBody>
      </p:sp>
      <p:sp>
        <p:nvSpPr>
          <p:cNvPr id="15" name="formula card"/>
          <p:cNvSpPr/>
          <p:nvPr/>
        </p:nvSpPr>
        <p:spPr>
          <a:xfrm>
            <a:off x="4663440" y="1188720"/>
            <a:ext cx="4023360" cy="3291840"/>
          </a:xfrm>
          <a:prstGeom prst="roundRect">
            <a:avLst>
              <a:gd name="adj" fmla="val 3333"/>
            </a:avLst>
          </a:prstGeom>
          <a:solidFill>
            <a:schemeClr val="tx2"/>
          </a:solidFill>
          <a:ln w="12700">
            <a:solidFill>
              <a:schemeClr val="tx2"/>
            </a:solidFill>
            <a:prstDash val="solid"/>
          </a:ln>
          <a:effectLst>
            <a:outerShdw sx="100000" sy="100000" kx="0" ky="0" algn="bl" rotWithShape="0" blurRad="76200" dist="25400" dir="5400000">
              <a:srgbClr val="000000">
                <a:alpha val="15000"/>
              </a:srgbClr>
            </a:outerShdw>
          </a:effectLst>
        </p:spPr>
      </p:sp>
      <p:sp>
        <p:nvSpPr>
          <p:cNvPr id="16" name="Text 14"/>
          <p:cNvSpPr txBox="1"/>
          <p:nvPr/>
        </p:nvSpPr>
        <p:spPr>
          <a:xfrm>
            <a:off x="4937760" y="1417320"/>
            <a:ext cx="3474720" cy="64008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d = v × t / 2</a:t>
            </a:r>
            <a:endParaRPr lang="en-US" sz="3000" dirty="0"/>
          </a:p>
        </p:txBody>
      </p:sp>
      <p:sp>
        <p:nvSpPr>
          <p:cNvPr id="17" name="Text 15"/>
          <p:cNvSpPr txBox="1"/>
          <p:nvPr/>
        </p:nvSpPr>
        <p:spPr>
          <a:xfrm>
            <a:off x="4937760" y="2194560"/>
            <a:ext cx="3566160" cy="2103120"/>
          </a:xfrm>
          <a:prstGeom prst="rect">
            <a:avLst/>
          </a:prstGeom>
          <a:noFill/>
          <a:ln/>
        </p:spPr>
        <p:txBody>
          <a:bodyPr wrap="square" lIns="0" tIns="0" rIns="0" bIns="0" rtlCol="0" anchor="t"/>
          <a:lstStyle/>
          <a:p>
            <a:pPr indent="0" marL="0">
              <a:buNone/>
            </a:pPr>
            <a:r>
              <a:rPr lang="en-US" sz="1400" dirty="0">
                <a:solidFill>
                  <a:schemeClr val="bg1"/>
                </a:solidFill>
              </a:rPr>
              <a:t>v ≈ 343 m/s = 0.034 cm/µs</a:t>
            </a:r>
            <a:endParaRPr lang="en-US" sz="1400" dirty="0"/>
          </a:p>
          <a:p>
            <a:pPr indent="0" marL="0">
              <a:buNone/>
            </a:pPr>
            <a:r>
              <a:rPr lang="en-US" sz="1400" dirty="0">
                <a:solidFill>
                  <a:schemeClr val="bg1"/>
                </a:solidFill>
              </a:rPr>
              <a:t>÷ 2 because sound travels there and back</a:t>
            </a:r>
            <a:endParaRPr lang="en-US" sz="1400" dirty="0"/>
          </a:p>
          <a:p>
            <a:pPr indent="0" marL="0">
              <a:buNone/>
            </a:pPr>
            <a:r>
              <a:rPr lang="en-US" sz="1400" dirty="0">
                <a:solidFill>
                  <a:schemeClr val="bg1"/>
                </a:solidFill>
              </a:rPr>
              <a:t> </a:t>
            </a:r>
            <a:endParaRPr lang="en-US" sz="1400" dirty="0"/>
          </a:p>
          <a:p>
            <a:pPr indent="0" marL="0">
              <a:buNone/>
            </a:pPr>
            <a:r>
              <a:rPr lang="en-US" sz="1400" b="1" dirty="0">
                <a:solidFill>
                  <a:schemeClr val="accent1"/>
                </a:solidFill>
              </a:rPr>
              <a:t>Example: </a:t>
            </a:r>
            <a:pPr indent="0" marL="0">
              <a:buNone/>
            </a:pPr>
            <a:r>
              <a:rPr lang="en-US" sz="1400" dirty="0">
                <a:solidFill>
                  <a:schemeClr val="bg1"/>
                </a:solidFill>
              </a:rPr>
              <a:t>t = 1000 µs → d = 0.034 × 1000 / 2 = 17 cm</a:t>
            </a:r>
            <a:endParaRPr lang="en-US" sz="1400" dirty="0"/>
          </a:p>
          <a:p>
            <a:pPr indent="0" marL="0">
              <a:buNone/>
            </a:pPr>
            <a:r>
              <a:rPr lang="en-US" sz="1400" dirty="0">
                <a:solidFill>
                  <a:schemeClr val="bg1"/>
                </a:solidFill>
              </a:rPr>
              <a:t> </a:t>
            </a:r>
            <a:endParaRPr lang="en-US" sz="1400" dirty="0"/>
          </a:p>
          <a:p>
            <a:pPr indent="0" marL="0">
              <a:buNone/>
            </a:pPr>
            <a:r>
              <a:rPr lang="en-US" sz="1400" dirty="0">
                <a:solidFill>
                  <a:schemeClr val="bg1"/>
                </a:solidFill>
              </a:rPr>
              <a:t>Range 2–400 cm  ·  beam ≈ 15°</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How the tip detects water</a:t>
            </a:r>
            <a:endParaRPr lang="en-US" sz="3000" dirty="0"/>
          </a:p>
        </p:txBody>
      </p:sp>
      <p:pic>
        <p:nvPicPr>
          <p:cNvPr id="3" name="probe photo" descr="img/probe.jpg">    </p:cNvPr>
          <p:cNvPicPr>
            <a:picLocks noChangeAspect="1"/>
          </p:cNvPicPr>
          <p:nvPr/>
        </p:nvPicPr>
        <p:blipFill>
          <a:blip r:embed="rId1"/>
          <a:stretch>
            <a:fillRect/>
          </a:stretch>
        </p:blipFill>
        <p:spPr>
          <a:xfrm>
            <a:off x="465292" y="1188720"/>
            <a:ext cx="3641416" cy="2743200"/>
          </a:xfrm>
          <a:prstGeom prst="rect">
            <a:avLst/>
          </a:prstGeom>
        </p:spPr>
      </p:pic>
      <p:sp>
        <p:nvSpPr>
          <p:cNvPr id="4" name="Text 1"/>
          <p:cNvSpPr txBox="1"/>
          <p:nvPr/>
        </p:nvSpPr>
        <p:spPr>
          <a:xfrm>
            <a:off x="457200" y="4023360"/>
            <a:ext cx="3657600" cy="274320"/>
          </a:xfrm>
          <a:prstGeom prst="rect">
            <a:avLst/>
          </a:prstGeom>
          <a:noFill/>
          <a:ln/>
        </p:spPr>
        <p:txBody>
          <a:bodyPr wrap="square" lIns="0" tIns="0" rIns="0" bIns="0" rtlCol="0" anchor="t"/>
          <a:lstStyle/>
          <a:p>
            <a:pPr indent="0" marL="0">
              <a:buNone/>
            </a:pPr>
            <a:r>
              <a:rPr lang="en-US" sz="1100" i="1" dirty="0">
                <a:solidFill>
                  <a:schemeClr val="accent5"/>
                </a:solidFill>
              </a:rPr>
              <a:t>Moisture probe glued at the cane tip</a:t>
            </a:r>
            <a:endParaRPr lang="en-US" sz="1100" dirty="0"/>
          </a:p>
        </p:txBody>
      </p:sp>
      <p:sp>
        <p:nvSpPr>
          <p:cNvPr id="5" name="Text 2"/>
          <p:cNvSpPr txBox="1"/>
          <p:nvPr/>
        </p:nvSpPr>
        <p:spPr>
          <a:xfrm>
            <a:off x="4480560" y="1188720"/>
            <a:ext cx="4206240" cy="822960"/>
          </a:xfrm>
          <a:prstGeom prst="rect">
            <a:avLst/>
          </a:prstGeom>
          <a:noFill/>
          <a:ln/>
        </p:spPr>
        <p:txBody>
          <a:bodyPr wrap="square" lIns="0" tIns="0" rIns="0" bIns="0" rtlCol="0" anchor="t"/>
          <a:lstStyle/>
          <a:p>
            <a:pPr indent="0" marL="0">
              <a:buNone/>
            </a:pPr>
            <a:r>
              <a:rPr lang="en-US" sz="1400" dirty="0">
                <a:solidFill>
                  <a:schemeClr val="tx1"/>
                </a:solidFill>
              </a:rPr>
              <a:t>Water conducts electricity, so the resistance Rp between the copper tracks drops. The LM393 module turns this into a voltage:</a:t>
            </a:r>
            <a:endParaRPr lang="en-US" sz="1400" dirty="0"/>
          </a:p>
        </p:txBody>
      </p:sp>
      <p:sp>
        <p:nvSpPr>
          <p:cNvPr id="6" name="formula"/>
          <p:cNvSpPr/>
          <p:nvPr/>
        </p:nvSpPr>
        <p:spPr>
          <a:xfrm>
            <a:off x="4480560" y="2057400"/>
            <a:ext cx="4206240" cy="594360"/>
          </a:xfrm>
          <a:prstGeom prst="roundRect">
            <a:avLst>
              <a:gd name="adj" fmla="val 18462"/>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7" name="Text 4"/>
          <p:cNvSpPr txBox="1"/>
          <p:nvPr/>
        </p:nvSpPr>
        <p:spPr>
          <a:xfrm>
            <a:off x="4663440" y="2057400"/>
            <a:ext cx="3931920" cy="59436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V_A0 = Vcc × Rp / (Rp + Rf)</a:t>
            </a:r>
            <a:endParaRPr lang="en-US" sz="1800" dirty="0"/>
          </a:p>
        </p:txBody>
      </p:sp>
      <p:sp>
        <p:nvSpPr>
          <p:cNvPr id="8" name="reading card"/>
          <p:cNvSpPr/>
          <p:nvPr/>
        </p:nvSpPr>
        <p:spPr>
          <a:xfrm>
            <a:off x="4480560" y="2834640"/>
            <a:ext cx="2057400" cy="1051560"/>
          </a:xfrm>
          <a:prstGeom prst="roundRect">
            <a:avLst>
              <a:gd name="adj" fmla="val 10435"/>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9" name="Text 6"/>
          <p:cNvSpPr txBox="1"/>
          <p:nvPr/>
        </p:nvSpPr>
        <p:spPr>
          <a:xfrm>
            <a:off x="4663440" y="2926080"/>
            <a:ext cx="1737360" cy="457200"/>
          </a:xfrm>
          <a:prstGeom prst="rect">
            <a:avLst/>
          </a:prstGeom>
          <a:noFill/>
          <a:ln/>
        </p:spPr>
        <p:txBody>
          <a:bodyPr wrap="square" lIns="0" tIns="0" rIns="0" bIns="0" rtlCol="0" anchor="t"/>
          <a:lstStyle/>
          <a:p>
            <a:pPr indent="0" marL="0">
              <a:buNone/>
            </a:pPr>
            <a:r>
              <a:rPr lang="en-US" sz="2400" b="1" dirty="0">
                <a:solidFill>
                  <a:schemeClr val="accent4"/>
                </a:solidFill>
                <a:latin typeface="Cambria" pitchFamily="34" charset="0"/>
                <a:ea typeface="Cambria" pitchFamily="34" charset="-122"/>
                <a:cs typeface="Cambria" pitchFamily="34" charset="-120"/>
              </a:rPr>
              <a:t>≈ 1023</a:t>
            </a:r>
            <a:endParaRPr lang="en-US" sz="2400" dirty="0"/>
          </a:p>
        </p:txBody>
      </p:sp>
      <p:sp>
        <p:nvSpPr>
          <p:cNvPr id="10" name="Text 7"/>
          <p:cNvSpPr txBox="1"/>
          <p:nvPr/>
        </p:nvSpPr>
        <p:spPr>
          <a:xfrm>
            <a:off x="4663440" y="3401568"/>
            <a:ext cx="1783080" cy="365760"/>
          </a:xfrm>
          <a:prstGeom prst="rect">
            <a:avLst/>
          </a:prstGeom>
          <a:noFill/>
          <a:ln/>
        </p:spPr>
        <p:txBody>
          <a:bodyPr wrap="square" lIns="0" tIns="0" rIns="0" bIns="0" rtlCol="0" anchor="t"/>
          <a:lstStyle/>
          <a:p>
            <a:pPr indent="0" marL="0">
              <a:buNone/>
            </a:pPr>
            <a:r>
              <a:rPr lang="en-US" sz="1300" dirty="0">
                <a:solidFill>
                  <a:schemeClr val="accent5"/>
                </a:solidFill>
              </a:rPr>
              <a:t>Dry: Rp very high</a:t>
            </a:r>
            <a:endParaRPr lang="en-US" sz="1300" dirty="0"/>
          </a:p>
        </p:txBody>
      </p:sp>
      <p:sp>
        <p:nvSpPr>
          <p:cNvPr id="11" name="reading card"/>
          <p:cNvSpPr/>
          <p:nvPr/>
        </p:nvSpPr>
        <p:spPr>
          <a:xfrm>
            <a:off x="6629400" y="2834640"/>
            <a:ext cx="2057400" cy="1051560"/>
          </a:xfrm>
          <a:prstGeom prst="roundRect">
            <a:avLst>
              <a:gd name="adj" fmla="val 10435"/>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2" name="Text 9"/>
          <p:cNvSpPr txBox="1"/>
          <p:nvPr/>
        </p:nvSpPr>
        <p:spPr>
          <a:xfrm>
            <a:off x="6812280" y="2926080"/>
            <a:ext cx="1737360" cy="457200"/>
          </a:xfrm>
          <a:prstGeom prst="rect">
            <a:avLst/>
          </a:prstGeom>
          <a:noFill/>
          <a:ln/>
        </p:spPr>
        <p:txBody>
          <a:bodyPr wrap="square" lIns="0" tIns="0" rIns="0" bIns="0" rtlCol="0" anchor="t"/>
          <a:lstStyle/>
          <a:p>
            <a:pPr indent="0" marL="0">
              <a:buNone/>
            </a:pPr>
            <a:r>
              <a:rPr lang="en-US" sz="2400" b="1" dirty="0">
                <a:solidFill>
                  <a:schemeClr val="accent3"/>
                </a:solidFill>
                <a:latin typeface="Cambria" pitchFamily="34" charset="0"/>
                <a:ea typeface="Cambria" pitchFamily="34" charset="-122"/>
                <a:cs typeface="Cambria" pitchFamily="34" charset="-120"/>
              </a:rPr>
              <a:t>&lt; 500</a:t>
            </a:r>
            <a:endParaRPr lang="en-US" sz="2400" dirty="0"/>
          </a:p>
        </p:txBody>
      </p:sp>
      <p:sp>
        <p:nvSpPr>
          <p:cNvPr id="13" name="Text 10"/>
          <p:cNvSpPr txBox="1"/>
          <p:nvPr/>
        </p:nvSpPr>
        <p:spPr>
          <a:xfrm>
            <a:off x="6812280" y="3401568"/>
            <a:ext cx="1783080" cy="365760"/>
          </a:xfrm>
          <a:prstGeom prst="rect">
            <a:avLst/>
          </a:prstGeom>
          <a:noFill/>
          <a:ln/>
        </p:spPr>
        <p:txBody>
          <a:bodyPr wrap="square" lIns="0" tIns="0" rIns="0" bIns="0" rtlCol="0" anchor="t"/>
          <a:lstStyle/>
          <a:p>
            <a:pPr indent="0" marL="0">
              <a:buNone/>
            </a:pPr>
            <a:r>
              <a:rPr lang="en-US" sz="1300" dirty="0">
                <a:solidFill>
                  <a:schemeClr val="accent5"/>
                </a:solidFill>
              </a:rPr>
              <a:t>Wet: water alert</a:t>
            </a:r>
            <a:endParaRPr lang="en-US" sz="1300" dirty="0"/>
          </a:p>
        </p:txBody>
      </p:sp>
      <p:sp>
        <p:nvSpPr>
          <p:cNvPr id="14" name="Text 11"/>
          <p:cNvSpPr txBox="1"/>
          <p:nvPr/>
        </p:nvSpPr>
        <p:spPr>
          <a:xfrm>
            <a:off x="4480560" y="4023360"/>
            <a:ext cx="4206240" cy="594360"/>
          </a:xfrm>
          <a:prstGeom prst="rect">
            <a:avLst/>
          </a:prstGeom>
          <a:noFill/>
          <a:ln/>
        </p:spPr>
        <p:txBody>
          <a:bodyPr wrap="square" lIns="0" tIns="0" rIns="0" bIns="0" rtlCol="0" anchor="t"/>
          <a:lstStyle/>
          <a:p>
            <a:pPr indent="0" marL="0">
              <a:buNone/>
            </a:pPr>
            <a:r>
              <a:rPr lang="en-US" sz="1200" dirty="0">
                <a:solidFill>
                  <a:schemeClr val="accent5"/>
                </a:solidFill>
              </a:rPr>
              <a:t>The reading is ratiometric (independent of battery voltage). The D0 output is unused; the threshold is set in code.</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Power system</a:t>
            </a:r>
            <a:endParaRPr lang="en-US" sz="3000" dirty="0"/>
          </a:p>
        </p:txBody>
      </p:sp>
      <p:sp>
        <p:nvSpPr>
          <p:cNvPr id="3" name="power block"/>
          <p:cNvSpPr/>
          <p:nvPr/>
        </p:nvSpPr>
        <p:spPr>
          <a:xfrm>
            <a:off x="457200" y="1188720"/>
            <a:ext cx="1691640" cy="1600200"/>
          </a:xfrm>
          <a:prstGeom prst="roundRect">
            <a:avLst>
              <a:gd name="adj" fmla="val 6857"/>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4" name="icon circle"/>
          <p:cNvSpPr/>
          <p:nvPr/>
        </p:nvSpPr>
        <p:spPr>
          <a:xfrm>
            <a:off x="1024128" y="1325880"/>
            <a:ext cx="548640" cy="548640"/>
          </a:xfrm>
          <a:prstGeom prst="ellipse">
            <a:avLst/>
          </a:prstGeom>
          <a:solidFill>
            <a:schemeClr val="accent1"/>
          </a:solidFill>
          <a:ln w="12700">
            <a:solidFill>
              <a:schemeClr val="accent1"/>
            </a:solidFill>
            <a:prstDash val="solid"/>
          </a:ln>
        </p:spPr>
      </p:sp>
      <p:pic>
        <p:nvPicPr>
          <p:cNvPr id="5" name="icon" descr="preencoded.png">    </p:cNvPr>
          <p:cNvPicPr>
            <a:picLocks noChangeAspect="1"/>
          </p:cNvPicPr>
          <p:nvPr/>
        </p:nvPicPr>
        <p:blipFill>
          <a:blip r:embed="rId1"/>
          <a:stretch>
            <a:fillRect/>
          </a:stretch>
        </p:blipFill>
        <p:spPr>
          <a:xfrm>
            <a:off x="1144829" y="1446581"/>
            <a:ext cx="307238" cy="307238"/>
          </a:xfrm>
          <a:prstGeom prst="rect">
            <a:avLst/>
          </a:prstGeom>
        </p:spPr>
      </p:pic>
      <p:sp>
        <p:nvSpPr>
          <p:cNvPr id="6" name="Text 3"/>
          <p:cNvSpPr txBox="1"/>
          <p:nvPr/>
        </p:nvSpPr>
        <p:spPr>
          <a:xfrm>
            <a:off x="548640" y="1965960"/>
            <a:ext cx="1508760" cy="320040"/>
          </a:xfrm>
          <a:prstGeom prst="rect">
            <a:avLst/>
          </a:prstGeom>
          <a:noFill/>
          <a:ln/>
        </p:spPr>
        <p:txBody>
          <a:bodyPr wrap="square" lIns="0" tIns="0" rIns="0" bIns="0" rtlCol="0" anchor="t"/>
          <a:lstStyle/>
          <a:p>
            <a:pPr algn="ctr" indent="0" marL="0">
              <a:buNone/>
            </a:pPr>
            <a:r>
              <a:rPr lang="en-US" sz="1500" b="1" dirty="0">
                <a:solidFill>
                  <a:schemeClr val="tx2"/>
                </a:solidFill>
              </a:rPr>
              <a:t>18650 cell</a:t>
            </a:r>
            <a:endParaRPr lang="en-US" sz="1500" dirty="0"/>
          </a:p>
        </p:txBody>
      </p:sp>
      <p:sp>
        <p:nvSpPr>
          <p:cNvPr id="7" name="Text 4"/>
          <p:cNvSpPr txBox="1"/>
          <p:nvPr/>
        </p:nvSpPr>
        <p:spPr>
          <a:xfrm>
            <a:off x="548640" y="2286000"/>
            <a:ext cx="1508760" cy="411480"/>
          </a:xfrm>
          <a:prstGeom prst="rect">
            <a:avLst/>
          </a:prstGeom>
          <a:noFill/>
          <a:ln/>
        </p:spPr>
        <p:txBody>
          <a:bodyPr wrap="square" lIns="0" tIns="0" rIns="0" bIns="0" rtlCol="0" anchor="t"/>
          <a:lstStyle/>
          <a:p>
            <a:pPr algn="ctr" indent="0" marL="0">
              <a:buNone/>
            </a:pPr>
            <a:r>
              <a:rPr lang="en-US" sz="1200" dirty="0">
                <a:solidFill>
                  <a:schemeClr val="accent5"/>
                </a:solidFill>
              </a:rPr>
              <a:t>3.7 V, 1200 mAh</a:t>
            </a:r>
            <a:endParaRPr lang="en-US" sz="1200" dirty="0"/>
          </a:p>
        </p:txBody>
      </p:sp>
      <p:sp>
        <p:nvSpPr>
          <p:cNvPr id="8" name="arrow"/>
          <p:cNvSpPr/>
          <p:nvPr/>
        </p:nvSpPr>
        <p:spPr>
          <a:xfrm>
            <a:off x="2176272" y="1856232"/>
            <a:ext cx="219456" cy="237744"/>
          </a:xfrm>
          <a:prstGeom prst="rightArrow">
            <a:avLst/>
          </a:prstGeom>
          <a:solidFill>
            <a:schemeClr val="accent1"/>
          </a:solidFill>
          <a:ln w="12700">
            <a:solidFill>
              <a:schemeClr val="accent1"/>
            </a:solidFill>
            <a:prstDash val="solid"/>
          </a:ln>
        </p:spPr>
      </p:sp>
      <p:sp>
        <p:nvSpPr>
          <p:cNvPr id="9" name="power block"/>
          <p:cNvSpPr/>
          <p:nvPr/>
        </p:nvSpPr>
        <p:spPr>
          <a:xfrm>
            <a:off x="2423160" y="1188720"/>
            <a:ext cx="1691640" cy="1600200"/>
          </a:xfrm>
          <a:prstGeom prst="roundRect">
            <a:avLst>
              <a:gd name="adj" fmla="val 6857"/>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0" name="icon circle"/>
          <p:cNvSpPr/>
          <p:nvPr/>
        </p:nvSpPr>
        <p:spPr>
          <a:xfrm>
            <a:off x="2990088" y="1325880"/>
            <a:ext cx="548640" cy="548640"/>
          </a:xfrm>
          <a:prstGeom prst="ellipse">
            <a:avLst/>
          </a:prstGeom>
          <a:solidFill>
            <a:schemeClr val="accent1"/>
          </a:solidFill>
          <a:ln w="12700">
            <a:solidFill>
              <a:schemeClr val="accent1"/>
            </a:solidFill>
            <a:prstDash val="solid"/>
          </a:ln>
        </p:spPr>
      </p:sp>
      <p:pic>
        <p:nvPicPr>
          <p:cNvPr id="11" name="icon" descr="preencoded.png">    </p:cNvPr>
          <p:cNvPicPr>
            <a:picLocks noChangeAspect="1"/>
          </p:cNvPicPr>
          <p:nvPr/>
        </p:nvPicPr>
        <p:blipFill>
          <a:blip r:embed="rId2"/>
          <a:stretch>
            <a:fillRect/>
          </a:stretch>
        </p:blipFill>
        <p:spPr>
          <a:xfrm>
            <a:off x="3110789" y="1446581"/>
            <a:ext cx="307238" cy="307238"/>
          </a:xfrm>
          <a:prstGeom prst="rect">
            <a:avLst/>
          </a:prstGeom>
        </p:spPr>
      </p:pic>
      <p:sp>
        <p:nvSpPr>
          <p:cNvPr id="12" name="Text 8"/>
          <p:cNvSpPr txBox="1"/>
          <p:nvPr/>
        </p:nvSpPr>
        <p:spPr>
          <a:xfrm>
            <a:off x="2514600" y="1965960"/>
            <a:ext cx="1508760" cy="320040"/>
          </a:xfrm>
          <a:prstGeom prst="rect">
            <a:avLst/>
          </a:prstGeom>
          <a:noFill/>
          <a:ln/>
        </p:spPr>
        <p:txBody>
          <a:bodyPr wrap="square" lIns="0" tIns="0" rIns="0" bIns="0" rtlCol="0" anchor="t"/>
          <a:lstStyle/>
          <a:p>
            <a:pPr algn="ctr" indent="0" marL="0">
              <a:buNone/>
            </a:pPr>
            <a:r>
              <a:rPr lang="en-US" sz="1500" b="1" dirty="0">
                <a:solidFill>
                  <a:schemeClr val="tx2"/>
                </a:solidFill>
              </a:rPr>
              <a:t>Rocker switch</a:t>
            </a:r>
            <a:endParaRPr lang="en-US" sz="1500" dirty="0"/>
          </a:p>
        </p:txBody>
      </p:sp>
      <p:sp>
        <p:nvSpPr>
          <p:cNvPr id="13" name="Text 9"/>
          <p:cNvSpPr txBox="1"/>
          <p:nvPr/>
        </p:nvSpPr>
        <p:spPr>
          <a:xfrm>
            <a:off x="2514600" y="2286000"/>
            <a:ext cx="1508760" cy="411480"/>
          </a:xfrm>
          <a:prstGeom prst="rect">
            <a:avLst/>
          </a:prstGeom>
          <a:noFill/>
          <a:ln/>
        </p:spPr>
        <p:txBody>
          <a:bodyPr wrap="square" lIns="0" tIns="0" rIns="0" bIns="0" rtlCol="0" anchor="t"/>
          <a:lstStyle/>
          <a:p>
            <a:pPr algn="ctr" indent="0" marL="0">
              <a:buNone/>
            </a:pPr>
            <a:r>
              <a:rPr lang="en-US" sz="1200" dirty="0">
                <a:solidFill>
                  <a:schemeClr val="accent5"/>
                </a:solidFill>
              </a:rPr>
              <a:t>ON / OFF</a:t>
            </a:r>
            <a:endParaRPr lang="en-US" sz="1200" dirty="0"/>
          </a:p>
        </p:txBody>
      </p:sp>
      <p:sp>
        <p:nvSpPr>
          <p:cNvPr id="14" name="arrow"/>
          <p:cNvSpPr/>
          <p:nvPr/>
        </p:nvSpPr>
        <p:spPr>
          <a:xfrm>
            <a:off x="4142232" y="1856232"/>
            <a:ext cx="219456" cy="237744"/>
          </a:xfrm>
          <a:prstGeom prst="rightArrow">
            <a:avLst/>
          </a:prstGeom>
          <a:solidFill>
            <a:schemeClr val="accent1"/>
          </a:solidFill>
          <a:ln w="12700">
            <a:solidFill>
              <a:schemeClr val="accent1"/>
            </a:solidFill>
            <a:prstDash val="solid"/>
          </a:ln>
        </p:spPr>
      </p:sp>
      <p:sp>
        <p:nvSpPr>
          <p:cNvPr id="15" name="power block"/>
          <p:cNvSpPr/>
          <p:nvPr/>
        </p:nvSpPr>
        <p:spPr>
          <a:xfrm>
            <a:off x="4389120" y="1188720"/>
            <a:ext cx="1691640" cy="1600200"/>
          </a:xfrm>
          <a:prstGeom prst="roundRect">
            <a:avLst>
              <a:gd name="adj" fmla="val 6857"/>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6" name="icon circle"/>
          <p:cNvSpPr/>
          <p:nvPr/>
        </p:nvSpPr>
        <p:spPr>
          <a:xfrm>
            <a:off x="4956048" y="1325880"/>
            <a:ext cx="548640" cy="548640"/>
          </a:xfrm>
          <a:prstGeom prst="ellipse">
            <a:avLst/>
          </a:prstGeom>
          <a:solidFill>
            <a:schemeClr val="accent1"/>
          </a:solidFill>
          <a:ln w="12700">
            <a:solidFill>
              <a:schemeClr val="accent1"/>
            </a:solidFill>
            <a:prstDash val="solid"/>
          </a:ln>
        </p:spPr>
      </p:sp>
      <p:pic>
        <p:nvPicPr>
          <p:cNvPr id="17" name="icon" descr="preencoded.png">    </p:cNvPr>
          <p:cNvPicPr>
            <a:picLocks noChangeAspect="1"/>
          </p:cNvPicPr>
          <p:nvPr/>
        </p:nvPicPr>
        <p:blipFill>
          <a:blip r:embed="rId3"/>
          <a:stretch>
            <a:fillRect/>
          </a:stretch>
        </p:blipFill>
        <p:spPr>
          <a:xfrm>
            <a:off x="5076749" y="1446581"/>
            <a:ext cx="307238" cy="307238"/>
          </a:xfrm>
          <a:prstGeom prst="rect">
            <a:avLst/>
          </a:prstGeom>
        </p:spPr>
      </p:pic>
      <p:sp>
        <p:nvSpPr>
          <p:cNvPr id="18" name="Text 13"/>
          <p:cNvSpPr txBox="1"/>
          <p:nvPr/>
        </p:nvSpPr>
        <p:spPr>
          <a:xfrm>
            <a:off x="4480560" y="1965960"/>
            <a:ext cx="1508760" cy="320040"/>
          </a:xfrm>
          <a:prstGeom prst="rect">
            <a:avLst/>
          </a:prstGeom>
          <a:noFill/>
          <a:ln/>
        </p:spPr>
        <p:txBody>
          <a:bodyPr wrap="square" lIns="0" tIns="0" rIns="0" bIns="0" rtlCol="0" anchor="t"/>
          <a:lstStyle/>
          <a:p>
            <a:pPr algn="ctr" indent="0" marL="0">
              <a:buNone/>
            </a:pPr>
            <a:r>
              <a:rPr lang="en-US" sz="1500" b="1" dirty="0">
                <a:solidFill>
                  <a:schemeClr val="tx2"/>
                </a:solidFill>
              </a:rPr>
              <a:t>5V pin</a:t>
            </a:r>
            <a:endParaRPr lang="en-US" sz="1500" dirty="0"/>
          </a:p>
        </p:txBody>
      </p:sp>
      <p:sp>
        <p:nvSpPr>
          <p:cNvPr id="19" name="Text 14"/>
          <p:cNvSpPr txBox="1"/>
          <p:nvPr/>
        </p:nvSpPr>
        <p:spPr>
          <a:xfrm>
            <a:off x="4480560" y="2286000"/>
            <a:ext cx="1508760" cy="411480"/>
          </a:xfrm>
          <a:prstGeom prst="rect">
            <a:avLst/>
          </a:prstGeom>
          <a:noFill/>
          <a:ln/>
        </p:spPr>
        <p:txBody>
          <a:bodyPr wrap="square" lIns="0" tIns="0" rIns="0" bIns="0" rtlCol="0" anchor="t"/>
          <a:lstStyle/>
          <a:p>
            <a:pPr algn="ctr" indent="0" marL="0">
              <a:buNone/>
            </a:pPr>
            <a:r>
              <a:rPr lang="en-US" sz="1200" dirty="0">
                <a:solidFill>
                  <a:schemeClr val="accent5"/>
                </a:solidFill>
              </a:rPr>
              <a:t>Nano + both sensors</a:t>
            </a:r>
            <a:endParaRPr lang="en-US" sz="1200" dirty="0"/>
          </a:p>
        </p:txBody>
      </p:sp>
      <p:sp>
        <p:nvSpPr>
          <p:cNvPr id="20" name="Text 15"/>
          <p:cNvSpPr txBox="1"/>
          <p:nvPr/>
        </p:nvSpPr>
        <p:spPr>
          <a:xfrm>
            <a:off x="457200" y="3017520"/>
            <a:ext cx="2743200" cy="54864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~40 mA</a:t>
            </a:r>
            <a:endParaRPr lang="en-US" sz="3000" dirty="0"/>
          </a:p>
        </p:txBody>
      </p:sp>
      <p:sp>
        <p:nvSpPr>
          <p:cNvPr id="21" name="Text 16"/>
          <p:cNvSpPr txBox="1"/>
          <p:nvPr/>
        </p:nvSpPr>
        <p:spPr>
          <a:xfrm>
            <a:off x="457200" y="3566160"/>
            <a:ext cx="2743200" cy="320040"/>
          </a:xfrm>
          <a:prstGeom prst="rect">
            <a:avLst/>
          </a:prstGeom>
          <a:noFill/>
          <a:ln/>
        </p:spPr>
        <p:txBody>
          <a:bodyPr wrap="square" lIns="0" tIns="0" rIns="0" bIns="0" rtlCol="0" anchor="t"/>
          <a:lstStyle/>
          <a:p>
            <a:pPr indent="0" marL="0">
              <a:buNone/>
            </a:pPr>
            <a:r>
              <a:rPr lang="en-US" sz="1300" dirty="0">
                <a:solidFill>
                  <a:schemeClr val="accent5"/>
                </a:solidFill>
              </a:rPr>
              <a:t>total current draw</a:t>
            </a:r>
            <a:endParaRPr lang="en-US" sz="1300" dirty="0"/>
          </a:p>
        </p:txBody>
      </p:sp>
      <p:sp>
        <p:nvSpPr>
          <p:cNvPr id="22" name="Text 17"/>
          <p:cNvSpPr txBox="1"/>
          <p:nvPr/>
        </p:nvSpPr>
        <p:spPr>
          <a:xfrm>
            <a:off x="3383280" y="3017520"/>
            <a:ext cx="2743200" cy="54864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 30 h</a:t>
            </a:r>
            <a:endParaRPr lang="en-US" sz="3000" dirty="0"/>
          </a:p>
        </p:txBody>
      </p:sp>
      <p:sp>
        <p:nvSpPr>
          <p:cNvPr id="23" name="Text 18"/>
          <p:cNvSpPr txBox="1"/>
          <p:nvPr/>
        </p:nvSpPr>
        <p:spPr>
          <a:xfrm>
            <a:off x="3383280" y="3566160"/>
            <a:ext cx="2743200" cy="320040"/>
          </a:xfrm>
          <a:prstGeom prst="rect">
            <a:avLst/>
          </a:prstGeom>
          <a:noFill/>
          <a:ln/>
        </p:spPr>
        <p:txBody>
          <a:bodyPr wrap="square" lIns="0" tIns="0" rIns="0" bIns="0" rtlCol="0" anchor="t"/>
          <a:lstStyle/>
          <a:p>
            <a:pPr indent="0" marL="0">
              <a:buNone/>
            </a:pPr>
            <a:r>
              <a:rPr lang="en-US" sz="1300" dirty="0">
                <a:solidFill>
                  <a:schemeClr val="accent5"/>
                </a:solidFill>
              </a:rPr>
              <a:t>theoretical runtime</a:t>
            </a:r>
            <a:endParaRPr lang="en-US" sz="1300" dirty="0"/>
          </a:p>
        </p:txBody>
      </p:sp>
      <p:sp>
        <p:nvSpPr>
          <p:cNvPr id="24" name="warning"/>
          <p:cNvSpPr/>
          <p:nvPr/>
        </p:nvSpPr>
        <p:spPr>
          <a:xfrm>
            <a:off x="457200" y="3977640"/>
            <a:ext cx="5669280" cy="594360"/>
          </a:xfrm>
          <a:prstGeom prst="roundRect">
            <a:avLst>
              <a:gd name="adj" fmla="val 18462"/>
            </a:avLst>
          </a:prstGeom>
          <a:solidFill>
            <a:srgbClr val="FDECEA"/>
          </a:solidFill>
          <a:ln w="12700">
            <a:solidFill>
              <a:srgbClr val="FDECEA"/>
            </a:solidFill>
            <a:prstDash val="solid"/>
          </a:ln>
          <a:effectLst>
            <a:outerShdw sx="100000" sy="100000" kx="0" ky="0" algn="bl" rotWithShape="0" blurRad="76200" dist="25400" dir="5400000">
              <a:srgbClr val="000000">
                <a:alpha val="15000"/>
              </a:srgbClr>
            </a:outerShdw>
          </a:effectLst>
        </p:spPr>
      </p:sp>
      <p:sp>
        <p:nvSpPr>
          <p:cNvPr id="25" name="Text 20"/>
          <p:cNvSpPr txBox="1"/>
          <p:nvPr/>
        </p:nvSpPr>
        <p:spPr>
          <a:xfrm>
            <a:off x="640080" y="3977640"/>
            <a:ext cx="5394960" cy="594360"/>
          </a:xfrm>
          <a:prstGeom prst="rect">
            <a:avLst/>
          </a:prstGeom>
          <a:noFill/>
          <a:ln/>
        </p:spPr>
        <p:txBody>
          <a:bodyPr wrap="square" lIns="0" tIns="0" rIns="0" bIns="0" rtlCol="0" anchor="ctr"/>
          <a:lstStyle/>
          <a:p>
            <a:pPr indent="0" marL="0">
              <a:buNone/>
            </a:pPr>
            <a:r>
              <a:rPr lang="en-US" sz="1300" b="1" dirty="0">
                <a:solidFill>
                  <a:schemeClr val="accent3"/>
                </a:solidFill>
              </a:rPr>
              <a:t>Safety: </a:t>
            </a:r>
            <a:pPr indent="0" marL="0">
              <a:buNone/>
            </a:pPr>
            <a:r>
              <a:rPr lang="en-US" sz="1300" dirty="0">
                <a:solidFill>
                  <a:schemeClr val="tx1"/>
                </a:solidFill>
              </a:rPr>
              <a:t>switch OFF before plugging in USB. The battery feeds the 5V rail directly.</a:t>
            </a:r>
            <a:endParaRPr lang="en-US" sz="1300" dirty="0"/>
          </a:p>
        </p:txBody>
      </p:sp>
      <p:pic>
        <p:nvPicPr>
          <p:cNvPr id="26" name="battery photo" descr="img/battery.jpg">    </p:cNvPr>
          <p:cNvPicPr>
            <a:picLocks noChangeAspect="1"/>
          </p:cNvPicPr>
          <p:nvPr/>
        </p:nvPicPr>
        <p:blipFill>
          <a:blip r:embed="rId4"/>
          <a:stretch>
            <a:fillRect/>
          </a:stretch>
        </p:blipFill>
        <p:spPr>
          <a:xfrm>
            <a:off x="6400800" y="1363103"/>
            <a:ext cx="2286000" cy="3034513"/>
          </a:xfrm>
          <a:prstGeom prst="rect">
            <a:avLst/>
          </a:prstGeom>
        </p:spPr>
      </p:pic>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Circuit diagram</a:t>
            </a:r>
            <a:endParaRPr lang="en-US" sz="3000" dirty="0"/>
          </a:p>
        </p:txBody>
      </p:sp>
      <p:pic>
        <p:nvPicPr>
          <p:cNvPr id="3" name="circuit diagram" descr="img/circuit.png">    </p:cNvPr>
          <p:cNvPicPr>
            <a:picLocks noChangeAspect="1"/>
          </p:cNvPicPr>
          <p:nvPr/>
        </p:nvPicPr>
        <p:blipFill>
          <a:blip r:embed="rId1"/>
          <a:stretch>
            <a:fillRect/>
          </a:stretch>
        </p:blipFill>
        <p:spPr>
          <a:xfrm>
            <a:off x="530352" y="1097280"/>
            <a:ext cx="5705856" cy="3566160"/>
          </a:xfrm>
          <a:prstGeom prst="rect">
            <a:avLst/>
          </a:prstGeom>
        </p:spPr>
      </p:pic>
      <p:sp>
        <p:nvSpPr>
          <p:cNvPr id="4" name="Text 1"/>
          <p:cNvSpPr txBox="1"/>
          <p:nvPr/>
        </p:nvSpPr>
        <p:spPr>
          <a:xfrm>
            <a:off x="6492240" y="1371600"/>
            <a:ext cx="2194560" cy="31089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Shared +5 V and GND rails</a:t>
            </a:r>
            <a:endParaRPr lang="en-US" sz="1400" dirty="0"/>
          </a:p>
          <a:p>
            <a:pPr marL="342900" indent="-342900">
              <a:spcAft>
                <a:spcPts val="800"/>
              </a:spcAft>
              <a:buSzPct val="100000"/>
              <a:buChar char="•"/>
            </a:pPr>
            <a:r>
              <a:rPr lang="en-US" sz="1400" dirty="0">
                <a:solidFill>
                  <a:schemeClr val="tx1"/>
                </a:solidFill>
              </a:rPr>
              <a:t>Trig → D5, Echo → D6</a:t>
            </a:r>
            <a:endParaRPr lang="en-US" sz="1400" dirty="0"/>
          </a:p>
          <a:p>
            <a:pPr marL="342900" indent="-342900">
              <a:spcAft>
                <a:spcPts val="800"/>
              </a:spcAft>
              <a:buSzPct val="100000"/>
              <a:buChar char="•"/>
            </a:pPr>
            <a:r>
              <a:rPr lang="en-US" sz="1400" dirty="0">
                <a:solidFill>
                  <a:schemeClr val="tx1"/>
                </a:solidFill>
              </a:rPr>
              <a:t>Moisture A0 → A0</a:t>
            </a:r>
            <a:endParaRPr lang="en-US" sz="1400" dirty="0"/>
          </a:p>
          <a:p>
            <a:pPr marL="342900" indent="-342900">
              <a:spcAft>
                <a:spcPts val="800"/>
              </a:spcAft>
              <a:buSzPct val="100000"/>
              <a:buChar char="•"/>
            </a:pPr>
            <a:r>
              <a:rPr lang="en-US" sz="1400" dirty="0">
                <a:solidFill>
                  <a:schemeClr val="tx1"/>
                </a:solidFill>
              </a:rPr>
              <a:t>Buzzer → D2</a:t>
            </a:r>
            <a:endParaRPr lang="en-US" sz="1400" dirty="0"/>
          </a:p>
          <a:p>
            <a:pPr marL="342900" indent="-342900">
              <a:spcAft>
                <a:spcPts val="800"/>
              </a:spcAft>
              <a:buSzPct val="100000"/>
              <a:buChar char="•"/>
            </a:pPr>
            <a:r>
              <a:rPr lang="en-US" sz="1400" dirty="0">
                <a:solidFill>
                  <a:schemeClr val="tx1"/>
                </a:solidFill>
              </a:rPr>
              <a:t>Capacitor across 5V and GND</a:t>
            </a:r>
            <a:endParaRPr lang="en-US" sz="1400" dirty="0"/>
          </a:p>
          <a:p>
            <a:pPr marL="342900" indent="-342900">
              <a:spcAft>
                <a:spcPts val="800"/>
              </a:spcAft>
              <a:buSzPct val="100000"/>
              <a:buChar char="•"/>
            </a:pPr>
            <a:r>
              <a:rPr lang="en-US" sz="1400" dirty="0">
                <a:solidFill>
                  <a:schemeClr val="tx1"/>
                </a:solidFill>
              </a:rPr>
              <a:t>D3 reserved for a vibration motor</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Pin connections</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2926080"/>
                <a:gridCol w="1645920"/>
                <a:gridCol w="3657600"/>
              </a:tblGrid>
              <a:tr h="384048">
                <a:tc>
                  <a:txBody>
                    <a:bodyPr/>
                    <a:lstStyle/>
                    <a:p>
                      <a:pPr indent="0" marL="0">
                        <a:buNone/>
                      </a:pPr>
                      <a:r>
                        <a:rPr lang="en-US" sz="1400" b="1" dirty="0">
                          <a:solidFill>
                            <a:schemeClr val="bg1"/>
                          </a:solidFill>
                        </a:rPr>
                        <a:t>Device pin</a:t>
                      </a:r>
                      <a:endParaRPr lang="en-US" sz="1400" dirty="0"/>
                    </a:p>
                  </a:txBody>
                  <a:tcPr marL="91440" marR="91440" marT="45720" marB="45720" anchor="ctr">
                    <a:lnL w="9525" cap="flat" cmpd="sng" algn="ctr">
                      <a:solidFill>
                        <a:srgbClr val="8DA9C4"/>
                      </a:solidFill>
                      <a:prstDash val="solid"/>
                      <a:round/>
                      <a:headEnd type="none" w="med" len="med"/>
                      <a:tailEnd type="none" w="med" len="med"/>
                    </a:lnL>
                    <a:lnR w="9525" cap="flat" cmpd="sng" algn="ctr">
                      <a:solidFill>
                        <a:srgbClr val="8DA9C4"/>
                      </a:solidFill>
                      <a:prstDash val="solid"/>
                      <a:round/>
                      <a:headEnd type="none" w="med" len="med"/>
                      <a:tailEnd type="none" w="med" len="med"/>
                    </a:lnR>
                    <a:lnT w="9525" cap="flat" cmpd="sng" algn="ctr">
                      <a:solidFill>
                        <a:srgbClr val="8DA9C4"/>
                      </a:solidFill>
                      <a:prstDash val="solid"/>
                      <a:round/>
                      <a:headEnd type="none" w="med" len="med"/>
                      <a:tailEnd type="none" w="med" len="med"/>
                    </a:lnT>
                    <a:lnB w="9525" cap="flat" cmpd="sng" algn="ctr">
                      <a:solidFill>
                        <a:srgbClr val="8DA9C4"/>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Nano pin</a:t>
                      </a:r>
                      <a:endParaRPr lang="en-US" sz="1400" dirty="0"/>
                    </a:p>
                  </a:txBody>
                  <a:tcPr marL="91440" marR="91440" marT="45720" marB="45720" anchor="ctr">
                    <a:lnL w="9525" cap="flat" cmpd="sng" algn="ctr">
                      <a:solidFill>
                        <a:srgbClr val="8DA9C4"/>
                      </a:solidFill>
                      <a:prstDash val="solid"/>
                      <a:round/>
                      <a:headEnd type="none" w="med" len="med"/>
                      <a:tailEnd type="none" w="med" len="med"/>
                    </a:lnL>
                    <a:lnR w="9525" cap="flat" cmpd="sng" algn="ctr">
                      <a:solidFill>
                        <a:srgbClr val="8DA9C4"/>
                      </a:solidFill>
                      <a:prstDash val="solid"/>
                      <a:round/>
                      <a:headEnd type="none" w="med" len="med"/>
                      <a:tailEnd type="none" w="med" len="med"/>
                    </a:lnR>
                    <a:lnT w="9525" cap="flat" cmpd="sng" algn="ctr">
                      <a:solidFill>
                        <a:srgbClr val="8DA9C4"/>
                      </a:solidFill>
                      <a:prstDash val="solid"/>
                      <a:round/>
                      <a:headEnd type="none" w="med" len="med"/>
                      <a:tailEnd type="none" w="med" len="med"/>
                    </a:lnT>
                    <a:lnB w="9525" cap="flat" cmpd="sng" algn="ctr">
                      <a:solidFill>
                        <a:srgbClr val="8DA9C4"/>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Purpose</a:t>
                      </a:r>
                      <a:endParaRPr lang="en-US" sz="1400" dirty="0"/>
                    </a:p>
                  </a:txBody>
                  <a:tcPr marL="91440" marR="91440" marT="45720" marB="45720" anchor="ctr">
                    <a:lnL w="9525" cap="flat" cmpd="sng" algn="ctr">
                      <a:solidFill>
                        <a:srgbClr val="8DA9C4"/>
                      </a:solidFill>
                      <a:prstDash val="solid"/>
                      <a:round/>
                      <a:headEnd type="none" w="med" len="med"/>
                      <a:tailEnd type="none" w="med" len="med"/>
                    </a:lnL>
                    <a:lnR w="9525" cap="flat" cmpd="sng" algn="ctr">
                      <a:solidFill>
                        <a:srgbClr val="8DA9C4"/>
                      </a:solidFill>
                      <a:prstDash val="solid"/>
                      <a:round/>
                      <a:headEnd type="none" w="med" len="med"/>
                      <a:tailEnd type="none" w="med" len="med"/>
                    </a:lnR>
                    <a:lnT w="9525" cap="flat" cmpd="sng" algn="ctr">
                      <a:solidFill>
                        <a:srgbClr val="8DA9C4"/>
                      </a:solidFill>
                      <a:prstDash val="solid"/>
                      <a:round/>
                      <a:headEnd type="none" w="med" len="med"/>
                      <a:tailEnd type="none" w="med" len="med"/>
                    </a:lnT>
                    <a:lnB w="9525" cap="flat" cmpd="sng" algn="ctr">
                      <a:solidFill>
                        <a:srgbClr val="8DA9C4"/>
                      </a:solidFill>
                      <a:prstDash val="solid"/>
                      <a:round/>
                      <a:headEnd type="none" w="med" len="med"/>
                      <a:tailEnd type="none" w="med" len="med"/>
                    </a:lnB>
                    <a:solidFill>
                      <a:schemeClr val="tx2"/>
                    </a:solidFill>
                  </a:tcPr>
                </a:tc>
              </a:tr>
              <a:tr h="384048">
                <a:tc>
                  <a:txBody>
                    <a:bodyPr/>
                    <a:lstStyle/>
                    <a:p>
                      <a:pPr indent="0" marL="0">
                        <a:buNone/>
                      </a:pPr>
                      <a:r>
                        <a:rPr lang="en-US" sz="1400" dirty="0">
                          <a:solidFill>
                            <a:schemeClr val="tx1"/>
                          </a:solidFill>
                        </a:rPr>
                        <a:t>Battery + (via switch)</a:t>
                      </a:r>
                      <a:endParaRPr lang="en-US" sz="1400" dirty="0"/>
                    </a:p>
                  </a:txBody>
                  <a:tcPr marL="91440" marR="91440" marT="45720" marB="45720" anchor="ctr">
                    <a:lnL w="9525" cap="flat" cmpd="sng" algn="ctr">
                      <a:solidFill>
                        <a:srgbClr val="8DA9C4"/>
                      </a:solidFill>
                      <a:prstDash val="solid"/>
                      <a:round/>
                      <a:headEnd type="none" w="med" len="med"/>
                      <a:tailEnd type="none" w="med" len="med"/>
                    </a:lnL>
                    <a:lnR w="9525" cap="flat" cmpd="sng" algn="ctr">
                      <a:solidFill>
                        <a:srgbClr val="8DA9C4"/>
                      </a:solidFill>
                      <a:prstDash val="solid"/>
                      <a:round/>
                      <a:headEnd type="none" w="med" len="med"/>
                      <a:tailEnd type="none" w="med" len="med"/>
                    </a:lnR>
                    <a:lnT w="9525" cap="flat" cmpd="sng" algn="ctr">
                      <a:solidFill>
                        <a:srgbClr val="8DA9C4"/>
                      </a:solidFill>
                      <a:prstDash val="solid"/>
                      <a:round/>
                      <a:headEnd type="none" w="med" len="med"/>
                      <a:tailEnd type="none" w="med" len="med"/>
                    </a:lnT>
                    <a:lnB w="9525" cap="flat" cmpd="sng" algn="ctr">
                      <a:solidFill>
                        <a:srgbClr val="8DA9C4"/>
                      </a:solidFill>
                      <a:prstDash val="solid"/>
                      <a:round/>
                      <a:headEnd type="none" w="med" len="med"/>
                      <a:tailEnd type="none" w="med" len="med"/>
                    </a:lnB>
                  </a:tcPr>
                </a:tc>
                <a:tc>
                  <a:txBody>
                    <a:bodyPr/>
                    <a:lstStyle/>
                    <a:p>
                      <a:pPr indent="0" marL="0">
                        <a:buNone/>
                      </a:pPr>
                      <a:r>
                        <a:rPr lang="en-US" sz="1400" dirty="0">
                          <a:solidFill>
                            <a:schemeClr val="tx1"/>
                          </a:solidFill>
                        </a:rPr>
                        <a:t>5V</a:t>
                      </a:r>
                      <a:endParaRPr lang="en-US" sz="1400" dirty="0"/>
                    </a:p>
                  </a:txBody>
                  <a:tcPr marL="91440" marR="91440" marT="45720" marB="45720" anchor="ctr">
                    <a:lnL w="9525" cap="flat" cmpd="sng" algn="ctr">
                      <a:solidFill>
                        <a:srgbClr val="8DA9C4"/>
                      </a:solidFill>
                      <a:prstDash val="solid"/>
                      <a:round/>
                      <a:headEnd type="none" w="med" len="med"/>
                      <a:tailEnd type="none" w="med" len="med"/>
                    </a:lnL>
                    <a:lnR w="9525" cap="flat" cmpd="sng" algn="ctr">
                      <a:solidFill>
                        <a:srgbClr val="8DA9C4"/>
                      </a:solidFill>
                      <a:prstDash val="solid"/>
                      <a:round/>
                      <a:headEnd type="none" w="med" len="med"/>
                      <a:tailEnd type="none" w="med" len="med"/>
                    </a:lnR>
                    <a:lnT w="9525" cap="flat" cmpd="sng" algn="ctr">
                      <a:solidFill>
                        <a:srgbClr val="8DA9C4"/>
                      </a:solidFill>
                      <a:prstDash val="solid"/>
                      <a:round/>
                      <a:headEnd type="none" w="med" len="med"/>
                      <a:tailEnd type="none" w="med" len="med"/>
                    </a:lnT>
                    <a:lnB w="9525" cap="flat" cmpd="sng" algn="ctr">
                      <a:solidFill>
                        <a:srgbClr val="8DA9C4"/>
                      </a:solidFill>
                      <a:prstDash val="solid"/>
                      <a:round/>
                      <a:headEnd type="none" w="med" len="med"/>
                      <a:tailEnd type="none" w="med" len="med"/>
                    </a:lnB>
                  </a:tcPr>
                </a:tc>
                <a:tc>
                  <a:txBody>
                    <a:bodyPr/>
                    <a:lstStyle/>
                    <a:p>
                      <a:pPr indent="0" marL="0">
                        <a:buNone/>
                      </a:pPr>
                      <a:r>
                        <a:rPr lang="en-US" sz="1400" dirty="0">
                          <a:solidFill>
                            <a:schemeClr val="tx1"/>
                          </a:solidFill>
                        </a:rPr>
                        <a:t>Power, 3.0–4.2 V</a:t>
                      </a:r>
                      <a:endParaRPr lang="en-US" sz="1400" dirty="0"/>
                    </a:p>
                  </a:txBody>
                  <a:tcPr marL="91440" marR="91440" marT="45720" marB="45720" anchor="ctr">
                    <a:lnL w="9525" cap="flat" cmpd="sng" algn="ctr">
                      <a:solidFill>
                        <a:srgbClr val="8DA9C4"/>
                      </a:solidFill>
                      <a:prstDash val="solid"/>
                      <a:round/>
                      <a:headEnd type="none" w="med" len="med"/>
                      <a:tailEnd type="none" w="med" len="med"/>
                    </a:lnL>
                    <a:lnR w="9525" cap="flat" cmpd="sng" algn="ctr">
                      <a:solidFill>
                        <a:srgbClr val="8DA9C4"/>
                      </a:solidFill>
                      <a:prstDash val="solid"/>
                      <a:round/>
                      <a:headEnd type="none" w="med" len="med"/>
                      <a:tailEnd type="none" w="med" len="med"/>
                    </a:lnR>
                    <a:lnT w="9525" cap="flat" cmpd="sng" algn="ctr">
                      <a:solidFill>
                        <a:srgbClr val="8DA9C4"/>
                      </a:solidFill>
                      <a:prstDash val="solid"/>
                      <a:round/>
                      <a:headEnd type="none" w="med" len="med"/>
                      <a:tailEnd type="none" w="med" len="med"/>
                    </a:lnT>
                    <a:lnB w="9525" cap="flat" cmpd="sng" algn="ctr">
                      <a:solidFill>
                        <a:srgbClr val="8DA9C4"/>
                      </a:solidFill>
                      <a:prstDash val="solid"/>
                      <a:round/>
                      <a:headEnd type="none" w="med" len="med"/>
                      <a:tailEnd type="none" w="med" len="med"/>
                    </a:lnB>
                  </a:tcPr>
                </a:tc>
              </a:tr>
              <a:tr h="384048">
                <a:tc>
                  <a:txBody>
                    <a:bodyPr/>
                    <a:lstStyle/>
                    <a:p>
                      <a:pPr indent="0" marL="0">
                        <a:buNone/>
                      </a:pPr>
                      <a:r>
                        <a:rPr lang="en-US" sz="1400" dirty="0">
                          <a:solidFill>
                            <a:schemeClr val="tx1"/>
                          </a:solidFill>
                        </a:rPr>
                        <a:t>Battery −</a:t>
                      </a:r>
                      <a:endParaRPr lang="en-US" sz="1400" dirty="0"/>
                    </a:p>
                  </a:txBody>
                  <a:tcPr marL="91440" marR="91440" marT="45720" marB="45720" anchor="ctr">
                    <a:lnL w="9525" cap="flat" cmpd="sng" algn="ctr">
                      <a:solidFill>
                        <a:srgbClr val="8DA9C4"/>
                      </a:solidFill>
                      <a:prstDash val="solid"/>
                      <a:round/>
                      <a:headEnd type="none" w="med" len="med"/>
                      <a:tailEnd type="none" w="med" len="med"/>
                    </a:lnL>
                    <a:lnR w="9525" cap="flat" cmpd="sng" algn="ctr">
                      <a:solidFill>
                        <a:srgbClr val="8DA9C4"/>
                      </a:solidFill>
                      <a:prstDash val="solid"/>
                      <a:round/>
                      <a:headEnd type="none" w="med" len="med"/>
                      <a:tailEnd type="none" w="med" len="med"/>
                    </a:lnR>
                    <a:lnT w="9525" cap="flat" cmpd="sng" algn="ctr">
                      <a:solidFill>
                        <a:srgbClr val="8DA9C4"/>
                      </a:solidFill>
                      <a:prstDash val="solid"/>
                      <a:round/>
                      <a:headEnd type="none" w="med" len="med"/>
                      <a:tailEnd type="none" w="med" len="med"/>
                    </a:lnT>
                    <a:lnB w="9525" cap="flat" cmpd="sng" algn="ctr">
                      <a:solidFill>
                        <a:srgbClr val="8DA9C4"/>
                      </a:solidFill>
                      <a:prstDash val="solid"/>
                      <a:round/>
                      <a:headEnd type="none" w="med" len="med"/>
                      <a:tailEnd type="none" w="med" len="med"/>
                    </a:lnB>
                  </a:tcPr>
                </a:tc>
                <a:tc>
                  <a:txBody>
                    <a:bodyPr/>
                    <a:lstStyle/>
                    <a:p>
                      <a:pPr indent="0" marL="0">
                        <a:buNone/>
                      </a:pPr>
                      <a:r>
                        <a:rPr lang="en-US" sz="1400" dirty="0">
                          <a:solidFill>
                            <a:schemeClr val="tx1"/>
                          </a:solidFill>
                        </a:rPr>
                        <a:t>GND</a:t>
                      </a:r>
                      <a:endParaRPr lang="en-US" sz="1400" dirty="0"/>
                    </a:p>
                  </a:txBody>
                  <a:tcPr marL="91440" marR="91440" marT="45720" marB="45720" anchor="ctr">
                    <a:lnL w="9525" cap="flat" cmpd="sng" algn="ctr">
                      <a:solidFill>
                        <a:srgbClr val="8DA9C4"/>
                      </a:solidFill>
                      <a:prstDash val="solid"/>
                      <a:round/>
                      <a:headEnd type="none" w="med" len="med"/>
                      <a:tailEnd type="none" w="med" len="med"/>
                    </a:lnL>
                    <a:lnR w="9525" cap="flat" cmpd="sng" algn="ctr">
                      <a:solidFill>
                        <a:srgbClr val="8DA9C4"/>
                      </a:solidFill>
                      <a:prstDash val="solid"/>
                      <a:round/>
                      <a:headEnd type="none" w="med" len="med"/>
                      <a:tailEnd type="none" w="med" len="med"/>
                    </a:lnR>
                    <a:lnT w="9525" cap="flat" cmpd="sng" algn="ctr">
                      <a:solidFill>
                        <a:srgbClr val="8DA9C4"/>
                      </a:solidFill>
                      <a:prstDash val="solid"/>
                      <a:round/>
                      <a:headEnd type="none" w="med" len="med"/>
                      <a:tailEnd type="none" w="med" len="med"/>
                    </a:lnT>
                    <a:lnB w="9525" cap="flat" cmpd="sng" algn="ctr">
                      <a:solidFill>
                        <a:srgbClr val="8DA9C4"/>
                      </a:solidFill>
                      <a:prstDash val="solid"/>
                      <a:round/>
                      <a:headEnd type="none" w="med" len="med"/>
                      <a:tailEnd type="none" w="med" len="med"/>
                    </a:lnB>
                  </a:tcPr>
                </a:tc>
                <a:tc>
                  <a:txBody>
                    <a:bodyPr/>
                    <a:lstStyle/>
                    <a:p>
                      <a:pPr indent="0" marL="0">
                        <a:buNone/>
                      </a:pPr>
                      <a:r>
                        <a:rPr lang="en-US" sz="1400" dirty="0">
                          <a:solidFill>
                            <a:schemeClr val="tx1"/>
                          </a:solidFill>
                        </a:rPr>
                        <a:t>Common ground</a:t>
                      </a:r>
                      <a:endParaRPr lang="en-US" sz="1400" dirty="0"/>
                    </a:p>
                  </a:txBody>
                  <a:tcPr marL="91440" marR="91440" marT="45720" marB="45720" anchor="ctr">
                    <a:lnL w="9525" cap="flat" cmpd="sng" algn="ctr">
                      <a:solidFill>
                        <a:srgbClr val="8DA9C4"/>
                      </a:solidFill>
                      <a:prstDash val="solid"/>
                      <a:round/>
                      <a:headEnd type="none" w="med" len="med"/>
                      <a:tailEnd type="none" w="med" len="med"/>
                    </a:lnL>
                    <a:lnR w="9525" cap="flat" cmpd="sng" algn="ctr">
                      <a:solidFill>
                        <a:srgbClr val="8DA9C4"/>
                      </a:solidFill>
                      <a:prstDash val="solid"/>
                      <a:round/>
                      <a:headEnd type="none" w="med" len="med"/>
                      <a:tailEnd type="none" w="med" len="med"/>
                    </a:lnR>
                    <a:lnT w="9525" cap="flat" cmpd="sng" algn="ctr">
                      <a:solidFill>
                        <a:srgbClr val="8DA9C4"/>
                      </a:solidFill>
                      <a:prstDash val="solid"/>
                      <a:round/>
                      <a:headEnd type="none" w="med" len="med"/>
                      <a:tailEnd type="none" w="med" len="med"/>
                    </a:lnT>
                    <a:lnB w="9525" cap="flat" cmpd="sng" algn="ctr">
                      <a:solidFill>
                        <a:srgbClr val="8DA9C4"/>
                      </a:solidFill>
                      <a:prstDash val="solid"/>
                      <a:round/>
                      <a:headEnd type="none" w="med" len="med"/>
                      <a:tailEnd type="none" w="med" len="med"/>
                    </a:lnB>
                  </a:tcPr>
                </a:tc>
              </a:tr>
              <a:tr h="384048">
                <a:tc>
                  <a:txBody>
                    <a:bodyPr/>
                    <a:lstStyle/>
                    <a:p>
                      <a:pPr indent="0" marL="0">
                        <a:buNone/>
                      </a:pPr>
                      <a:r>
                        <a:rPr lang="en-US" sz="1400" dirty="0">
                          <a:solidFill>
                            <a:schemeClr val="tx1"/>
                          </a:solidFill>
                        </a:rPr>
                        <a:t>HC-SR04 Trig</a:t>
                      </a:r>
                      <a:endParaRPr lang="en-US" sz="1400" dirty="0"/>
                    </a:p>
                  </a:txBody>
                  <a:tcPr marL="91440" marR="91440" marT="45720" marB="45720" anchor="ctr">
                    <a:lnL w="9525" cap="flat" cmpd="sng" algn="ctr">
                      <a:solidFill>
                        <a:srgbClr val="8DA9C4"/>
                      </a:solidFill>
                      <a:prstDash val="solid"/>
                      <a:round/>
                      <a:headEnd type="none" w="med" len="med"/>
                      <a:tailEnd type="none" w="med" len="med"/>
                    </a:lnL>
                    <a:lnR w="9525" cap="flat" cmpd="sng" algn="ctr">
                      <a:solidFill>
                        <a:srgbClr val="8DA9C4"/>
                      </a:solidFill>
                      <a:prstDash val="solid"/>
                      <a:round/>
                      <a:headEnd type="none" w="med" len="med"/>
                      <a:tailEnd type="none" w="med" len="med"/>
                    </a:lnR>
                    <a:lnT w="9525" cap="flat" cmpd="sng" algn="ctr">
                      <a:solidFill>
                        <a:srgbClr val="8DA9C4"/>
                      </a:solidFill>
                      <a:prstDash val="solid"/>
                      <a:round/>
                      <a:headEnd type="none" w="med" len="med"/>
                      <a:tailEnd type="none" w="med" len="med"/>
                    </a:lnT>
                    <a:lnB w="9525" cap="flat" cmpd="sng" algn="ctr">
                      <a:solidFill>
                        <a:srgbClr val="8DA9C4"/>
                      </a:solidFill>
                      <a:prstDash val="solid"/>
                      <a:round/>
                      <a:headEnd type="none" w="med" len="med"/>
                      <a:tailEnd type="none" w="med" len="med"/>
                    </a:lnB>
                  </a:tcPr>
                </a:tc>
                <a:tc>
                  <a:txBody>
                    <a:bodyPr/>
                    <a:lstStyle/>
                    <a:p>
                      <a:pPr indent="0" marL="0">
                        <a:buNone/>
                      </a:pPr>
                      <a:r>
                        <a:rPr lang="en-US" sz="1400" dirty="0">
                          <a:solidFill>
                            <a:schemeClr val="tx1"/>
                          </a:solidFill>
                        </a:rPr>
                        <a:t>D5</a:t>
                      </a:r>
                      <a:endParaRPr lang="en-US" sz="1400" dirty="0"/>
                    </a:p>
                  </a:txBody>
                  <a:tcPr marL="91440" marR="91440" marT="45720" marB="45720" anchor="ctr">
                    <a:lnL w="9525" cap="flat" cmpd="sng" algn="ctr">
                      <a:solidFill>
                        <a:srgbClr val="8DA9C4"/>
                      </a:solidFill>
                      <a:prstDash val="solid"/>
                      <a:round/>
                      <a:headEnd type="none" w="med" len="med"/>
                      <a:tailEnd type="none" w="med" len="med"/>
                    </a:lnL>
                    <a:lnR w="9525" cap="flat" cmpd="sng" algn="ctr">
                      <a:solidFill>
                        <a:srgbClr val="8DA9C4"/>
                      </a:solidFill>
                      <a:prstDash val="solid"/>
                      <a:round/>
                      <a:headEnd type="none" w="med" len="med"/>
                      <a:tailEnd type="none" w="med" len="med"/>
                    </a:lnR>
                    <a:lnT w="9525" cap="flat" cmpd="sng" algn="ctr">
                      <a:solidFill>
                        <a:srgbClr val="8DA9C4"/>
                      </a:solidFill>
                      <a:prstDash val="solid"/>
                      <a:round/>
                      <a:headEnd type="none" w="med" len="med"/>
                      <a:tailEnd type="none" w="med" len="med"/>
                    </a:lnT>
                    <a:lnB w="9525" cap="flat" cmpd="sng" algn="ctr">
                      <a:solidFill>
                        <a:srgbClr val="8DA9C4"/>
                      </a:solidFill>
                      <a:prstDash val="solid"/>
                      <a:round/>
                      <a:headEnd type="none" w="med" len="med"/>
                      <a:tailEnd type="none" w="med" len="med"/>
                    </a:lnB>
                  </a:tcPr>
                </a:tc>
                <a:tc>
                  <a:txBody>
                    <a:bodyPr/>
                    <a:lstStyle/>
                    <a:p>
                      <a:pPr indent="0" marL="0">
                        <a:buNone/>
                      </a:pPr>
                      <a:r>
                        <a:rPr lang="en-US" sz="1400" dirty="0">
                          <a:solidFill>
                            <a:schemeClr val="tx1"/>
                          </a:solidFill>
                        </a:rPr>
                        <a:t>10 µs trigger pulse (output)</a:t>
                      </a:r>
                      <a:endParaRPr lang="en-US" sz="1400" dirty="0"/>
                    </a:p>
                  </a:txBody>
                  <a:tcPr marL="91440" marR="91440" marT="45720" marB="45720" anchor="ctr">
                    <a:lnL w="9525" cap="flat" cmpd="sng" algn="ctr">
                      <a:solidFill>
                        <a:srgbClr val="8DA9C4"/>
                      </a:solidFill>
                      <a:prstDash val="solid"/>
                      <a:round/>
                      <a:headEnd type="none" w="med" len="med"/>
                      <a:tailEnd type="none" w="med" len="med"/>
                    </a:lnL>
                    <a:lnR w="9525" cap="flat" cmpd="sng" algn="ctr">
                      <a:solidFill>
                        <a:srgbClr val="8DA9C4"/>
                      </a:solidFill>
                      <a:prstDash val="solid"/>
                      <a:round/>
                      <a:headEnd type="none" w="med" len="med"/>
                      <a:tailEnd type="none" w="med" len="med"/>
                    </a:lnR>
                    <a:lnT w="9525" cap="flat" cmpd="sng" algn="ctr">
                      <a:solidFill>
                        <a:srgbClr val="8DA9C4"/>
                      </a:solidFill>
                      <a:prstDash val="solid"/>
                      <a:round/>
                      <a:headEnd type="none" w="med" len="med"/>
                      <a:tailEnd type="none" w="med" len="med"/>
                    </a:lnT>
                    <a:lnB w="9525" cap="flat" cmpd="sng" algn="ctr">
                      <a:solidFill>
                        <a:srgbClr val="8DA9C4"/>
                      </a:solidFill>
                      <a:prstDash val="solid"/>
                      <a:round/>
                      <a:headEnd type="none" w="med" len="med"/>
                      <a:tailEnd type="none" w="med" len="med"/>
                    </a:lnB>
                  </a:tcPr>
                </a:tc>
              </a:tr>
              <a:tr h="384048">
                <a:tc>
                  <a:txBody>
                    <a:bodyPr/>
                    <a:lstStyle/>
                    <a:p>
                      <a:pPr indent="0" marL="0">
                        <a:buNone/>
                      </a:pPr>
                      <a:r>
                        <a:rPr lang="en-US" sz="1400" dirty="0">
                          <a:solidFill>
                            <a:schemeClr val="tx1"/>
                          </a:solidFill>
                        </a:rPr>
                        <a:t>HC-SR04 Echo</a:t>
                      </a:r>
                      <a:endParaRPr lang="en-US" sz="1400" dirty="0"/>
                    </a:p>
                  </a:txBody>
                  <a:tcPr marL="91440" marR="91440" marT="45720" marB="45720" anchor="ctr">
                    <a:lnL w="9525" cap="flat" cmpd="sng" algn="ctr">
                      <a:solidFill>
                        <a:srgbClr val="8DA9C4"/>
                      </a:solidFill>
                      <a:prstDash val="solid"/>
                      <a:round/>
                      <a:headEnd type="none" w="med" len="med"/>
                      <a:tailEnd type="none" w="med" len="med"/>
                    </a:lnL>
                    <a:lnR w="9525" cap="flat" cmpd="sng" algn="ctr">
                      <a:solidFill>
                        <a:srgbClr val="8DA9C4"/>
                      </a:solidFill>
                      <a:prstDash val="solid"/>
                      <a:round/>
                      <a:headEnd type="none" w="med" len="med"/>
                      <a:tailEnd type="none" w="med" len="med"/>
                    </a:lnR>
                    <a:lnT w="9525" cap="flat" cmpd="sng" algn="ctr">
                      <a:solidFill>
                        <a:srgbClr val="8DA9C4"/>
                      </a:solidFill>
                      <a:prstDash val="solid"/>
                      <a:round/>
                      <a:headEnd type="none" w="med" len="med"/>
                      <a:tailEnd type="none" w="med" len="med"/>
                    </a:lnT>
                    <a:lnB w="9525" cap="flat" cmpd="sng" algn="ctr">
                      <a:solidFill>
                        <a:srgbClr val="8DA9C4"/>
                      </a:solidFill>
                      <a:prstDash val="solid"/>
                      <a:round/>
                      <a:headEnd type="none" w="med" len="med"/>
                      <a:tailEnd type="none" w="med" len="med"/>
                    </a:lnB>
                  </a:tcPr>
                </a:tc>
                <a:tc>
                  <a:txBody>
                    <a:bodyPr/>
                    <a:lstStyle/>
                    <a:p>
                      <a:pPr indent="0" marL="0">
                        <a:buNone/>
                      </a:pPr>
                      <a:r>
                        <a:rPr lang="en-US" sz="1400" dirty="0">
                          <a:solidFill>
                            <a:schemeClr val="tx1"/>
                          </a:solidFill>
                        </a:rPr>
                        <a:t>D6</a:t>
                      </a:r>
                      <a:endParaRPr lang="en-US" sz="1400" dirty="0"/>
                    </a:p>
                  </a:txBody>
                  <a:tcPr marL="91440" marR="91440" marT="45720" marB="45720" anchor="ctr">
                    <a:lnL w="9525" cap="flat" cmpd="sng" algn="ctr">
                      <a:solidFill>
                        <a:srgbClr val="8DA9C4"/>
                      </a:solidFill>
                      <a:prstDash val="solid"/>
                      <a:round/>
                      <a:headEnd type="none" w="med" len="med"/>
                      <a:tailEnd type="none" w="med" len="med"/>
                    </a:lnL>
                    <a:lnR w="9525" cap="flat" cmpd="sng" algn="ctr">
                      <a:solidFill>
                        <a:srgbClr val="8DA9C4"/>
                      </a:solidFill>
                      <a:prstDash val="solid"/>
                      <a:round/>
                      <a:headEnd type="none" w="med" len="med"/>
                      <a:tailEnd type="none" w="med" len="med"/>
                    </a:lnR>
                    <a:lnT w="9525" cap="flat" cmpd="sng" algn="ctr">
                      <a:solidFill>
                        <a:srgbClr val="8DA9C4"/>
                      </a:solidFill>
                      <a:prstDash val="solid"/>
                      <a:round/>
                      <a:headEnd type="none" w="med" len="med"/>
                      <a:tailEnd type="none" w="med" len="med"/>
                    </a:lnT>
                    <a:lnB w="9525" cap="flat" cmpd="sng" algn="ctr">
                      <a:solidFill>
                        <a:srgbClr val="8DA9C4"/>
                      </a:solidFill>
                      <a:prstDash val="solid"/>
                      <a:round/>
                      <a:headEnd type="none" w="med" len="med"/>
                      <a:tailEnd type="none" w="med" len="med"/>
                    </a:lnB>
                  </a:tcPr>
                </a:tc>
                <a:tc>
                  <a:txBody>
                    <a:bodyPr/>
                    <a:lstStyle/>
                    <a:p>
                      <a:pPr indent="0" marL="0">
                        <a:buNone/>
                      </a:pPr>
                      <a:r>
                        <a:rPr lang="en-US" sz="1400" dirty="0">
                          <a:solidFill>
                            <a:schemeClr val="tx1"/>
                          </a:solidFill>
                        </a:rPr>
                        <a:t>Echo pulse width (input)</a:t>
                      </a:r>
                      <a:endParaRPr lang="en-US" sz="1400" dirty="0"/>
                    </a:p>
                  </a:txBody>
                  <a:tcPr marL="91440" marR="91440" marT="45720" marB="45720" anchor="ctr">
                    <a:lnL w="9525" cap="flat" cmpd="sng" algn="ctr">
                      <a:solidFill>
                        <a:srgbClr val="8DA9C4"/>
                      </a:solidFill>
                      <a:prstDash val="solid"/>
                      <a:round/>
                      <a:headEnd type="none" w="med" len="med"/>
                      <a:tailEnd type="none" w="med" len="med"/>
                    </a:lnL>
                    <a:lnR w="9525" cap="flat" cmpd="sng" algn="ctr">
                      <a:solidFill>
                        <a:srgbClr val="8DA9C4"/>
                      </a:solidFill>
                      <a:prstDash val="solid"/>
                      <a:round/>
                      <a:headEnd type="none" w="med" len="med"/>
                      <a:tailEnd type="none" w="med" len="med"/>
                    </a:lnR>
                    <a:lnT w="9525" cap="flat" cmpd="sng" algn="ctr">
                      <a:solidFill>
                        <a:srgbClr val="8DA9C4"/>
                      </a:solidFill>
                      <a:prstDash val="solid"/>
                      <a:round/>
                      <a:headEnd type="none" w="med" len="med"/>
                      <a:tailEnd type="none" w="med" len="med"/>
                    </a:lnT>
                    <a:lnB w="9525" cap="flat" cmpd="sng" algn="ctr">
                      <a:solidFill>
                        <a:srgbClr val="8DA9C4"/>
                      </a:solidFill>
                      <a:prstDash val="solid"/>
                      <a:round/>
                      <a:headEnd type="none" w="med" len="med"/>
                      <a:tailEnd type="none" w="med" len="med"/>
                    </a:lnB>
                  </a:tcPr>
                </a:tc>
              </a:tr>
              <a:tr h="384048">
                <a:tc>
                  <a:txBody>
                    <a:bodyPr/>
                    <a:lstStyle/>
                    <a:p>
                      <a:pPr indent="0" marL="0">
                        <a:buNone/>
                      </a:pPr>
                      <a:r>
                        <a:rPr lang="en-US" sz="1400" dirty="0">
                          <a:solidFill>
                            <a:schemeClr val="tx1"/>
                          </a:solidFill>
                        </a:rPr>
                        <a:t>LM393 A0</a:t>
                      </a:r>
                      <a:endParaRPr lang="en-US" sz="1400" dirty="0"/>
                    </a:p>
                  </a:txBody>
                  <a:tcPr marL="91440" marR="91440" marT="45720" marB="45720" anchor="ctr">
                    <a:lnL w="9525" cap="flat" cmpd="sng" algn="ctr">
                      <a:solidFill>
                        <a:srgbClr val="8DA9C4"/>
                      </a:solidFill>
                      <a:prstDash val="solid"/>
                      <a:round/>
                      <a:headEnd type="none" w="med" len="med"/>
                      <a:tailEnd type="none" w="med" len="med"/>
                    </a:lnL>
                    <a:lnR w="9525" cap="flat" cmpd="sng" algn="ctr">
                      <a:solidFill>
                        <a:srgbClr val="8DA9C4"/>
                      </a:solidFill>
                      <a:prstDash val="solid"/>
                      <a:round/>
                      <a:headEnd type="none" w="med" len="med"/>
                      <a:tailEnd type="none" w="med" len="med"/>
                    </a:lnR>
                    <a:lnT w="9525" cap="flat" cmpd="sng" algn="ctr">
                      <a:solidFill>
                        <a:srgbClr val="8DA9C4"/>
                      </a:solidFill>
                      <a:prstDash val="solid"/>
                      <a:round/>
                      <a:headEnd type="none" w="med" len="med"/>
                      <a:tailEnd type="none" w="med" len="med"/>
                    </a:lnT>
                    <a:lnB w="9525" cap="flat" cmpd="sng" algn="ctr">
                      <a:solidFill>
                        <a:srgbClr val="8DA9C4"/>
                      </a:solidFill>
                      <a:prstDash val="solid"/>
                      <a:round/>
                      <a:headEnd type="none" w="med" len="med"/>
                      <a:tailEnd type="none" w="med" len="med"/>
                    </a:lnB>
                  </a:tcPr>
                </a:tc>
                <a:tc>
                  <a:txBody>
                    <a:bodyPr/>
                    <a:lstStyle/>
                    <a:p>
                      <a:pPr indent="0" marL="0">
                        <a:buNone/>
                      </a:pPr>
                      <a:r>
                        <a:rPr lang="en-US" sz="1400" dirty="0">
                          <a:solidFill>
                            <a:schemeClr val="tx1"/>
                          </a:solidFill>
                        </a:rPr>
                        <a:t>A0</a:t>
                      </a:r>
                      <a:endParaRPr lang="en-US" sz="1400" dirty="0"/>
                    </a:p>
                  </a:txBody>
                  <a:tcPr marL="91440" marR="91440" marT="45720" marB="45720" anchor="ctr">
                    <a:lnL w="9525" cap="flat" cmpd="sng" algn="ctr">
                      <a:solidFill>
                        <a:srgbClr val="8DA9C4"/>
                      </a:solidFill>
                      <a:prstDash val="solid"/>
                      <a:round/>
                      <a:headEnd type="none" w="med" len="med"/>
                      <a:tailEnd type="none" w="med" len="med"/>
                    </a:lnL>
                    <a:lnR w="9525" cap="flat" cmpd="sng" algn="ctr">
                      <a:solidFill>
                        <a:srgbClr val="8DA9C4"/>
                      </a:solidFill>
                      <a:prstDash val="solid"/>
                      <a:round/>
                      <a:headEnd type="none" w="med" len="med"/>
                      <a:tailEnd type="none" w="med" len="med"/>
                    </a:lnR>
                    <a:lnT w="9525" cap="flat" cmpd="sng" algn="ctr">
                      <a:solidFill>
                        <a:srgbClr val="8DA9C4"/>
                      </a:solidFill>
                      <a:prstDash val="solid"/>
                      <a:round/>
                      <a:headEnd type="none" w="med" len="med"/>
                      <a:tailEnd type="none" w="med" len="med"/>
                    </a:lnT>
                    <a:lnB w="9525" cap="flat" cmpd="sng" algn="ctr">
                      <a:solidFill>
                        <a:srgbClr val="8DA9C4"/>
                      </a:solidFill>
                      <a:prstDash val="solid"/>
                      <a:round/>
                      <a:headEnd type="none" w="med" len="med"/>
                      <a:tailEnd type="none" w="med" len="med"/>
                    </a:lnB>
                  </a:tcPr>
                </a:tc>
                <a:tc>
                  <a:txBody>
                    <a:bodyPr/>
                    <a:lstStyle/>
                    <a:p>
                      <a:pPr indent="0" marL="0">
                        <a:buNone/>
                      </a:pPr>
                      <a:r>
                        <a:rPr lang="en-US" sz="1400" dirty="0">
                          <a:solidFill>
                            <a:schemeClr val="tx1"/>
                          </a:solidFill>
                        </a:rPr>
                        <a:t>Moisture value 0–1023</a:t>
                      </a:r>
                      <a:endParaRPr lang="en-US" sz="1400" dirty="0"/>
                    </a:p>
                  </a:txBody>
                  <a:tcPr marL="91440" marR="91440" marT="45720" marB="45720" anchor="ctr">
                    <a:lnL w="9525" cap="flat" cmpd="sng" algn="ctr">
                      <a:solidFill>
                        <a:srgbClr val="8DA9C4"/>
                      </a:solidFill>
                      <a:prstDash val="solid"/>
                      <a:round/>
                      <a:headEnd type="none" w="med" len="med"/>
                      <a:tailEnd type="none" w="med" len="med"/>
                    </a:lnL>
                    <a:lnR w="9525" cap="flat" cmpd="sng" algn="ctr">
                      <a:solidFill>
                        <a:srgbClr val="8DA9C4"/>
                      </a:solidFill>
                      <a:prstDash val="solid"/>
                      <a:round/>
                      <a:headEnd type="none" w="med" len="med"/>
                      <a:tailEnd type="none" w="med" len="med"/>
                    </a:lnR>
                    <a:lnT w="9525" cap="flat" cmpd="sng" algn="ctr">
                      <a:solidFill>
                        <a:srgbClr val="8DA9C4"/>
                      </a:solidFill>
                      <a:prstDash val="solid"/>
                      <a:round/>
                      <a:headEnd type="none" w="med" len="med"/>
                      <a:tailEnd type="none" w="med" len="med"/>
                    </a:lnT>
                    <a:lnB w="9525" cap="flat" cmpd="sng" algn="ctr">
                      <a:solidFill>
                        <a:srgbClr val="8DA9C4"/>
                      </a:solidFill>
                      <a:prstDash val="solid"/>
                      <a:round/>
                      <a:headEnd type="none" w="med" len="med"/>
                      <a:tailEnd type="none" w="med" len="med"/>
                    </a:lnB>
                  </a:tcPr>
                </a:tc>
              </a:tr>
              <a:tr h="384048">
                <a:tc>
                  <a:txBody>
                    <a:bodyPr/>
                    <a:lstStyle/>
                    <a:p>
                      <a:pPr indent="0" marL="0">
                        <a:buNone/>
                      </a:pPr>
                      <a:r>
                        <a:rPr lang="en-US" sz="1400" dirty="0">
                          <a:solidFill>
                            <a:schemeClr val="tx1"/>
                          </a:solidFill>
                        </a:rPr>
                        <a:t>LM393 D0</a:t>
                      </a:r>
                      <a:endParaRPr lang="en-US" sz="1400" dirty="0"/>
                    </a:p>
                  </a:txBody>
                  <a:tcPr marL="91440" marR="91440" marT="45720" marB="45720" anchor="ctr">
                    <a:lnL w="9525" cap="flat" cmpd="sng" algn="ctr">
                      <a:solidFill>
                        <a:srgbClr val="8DA9C4"/>
                      </a:solidFill>
                      <a:prstDash val="solid"/>
                      <a:round/>
                      <a:headEnd type="none" w="med" len="med"/>
                      <a:tailEnd type="none" w="med" len="med"/>
                    </a:lnL>
                    <a:lnR w="9525" cap="flat" cmpd="sng" algn="ctr">
                      <a:solidFill>
                        <a:srgbClr val="8DA9C4"/>
                      </a:solidFill>
                      <a:prstDash val="solid"/>
                      <a:round/>
                      <a:headEnd type="none" w="med" len="med"/>
                      <a:tailEnd type="none" w="med" len="med"/>
                    </a:lnR>
                    <a:lnT w="9525" cap="flat" cmpd="sng" algn="ctr">
                      <a:solidFill>
                        <a:srgbClr val="8DA9C4"/>
                      </a:solidFill>
                      <a:prstDash val="solid"/>
                      <a:round/>
                      <a:headEnd type="none" w="med" len="med"/>
                      <a:tailEnd type="none" w="med" len="med"/>
                    </a:lnT>
                    <a:lnB w="9525" cap="flat" cmpd="sng" algn="ctr">
                      <a:solidFill>
                        <a:srgbClr val="8DA9C4"/>
                      </a:solidFill>
                      <a:prstDash val="solid"/>
                      <a:round/>
                      <a:headEnd type="none" w="med" len="med"/>
                      <a:tailEnd type="none" w="med" len="med"/>
                    </a:lnB>
                  </a:tcPr>
                </a:tc>
                <a:tc>
                  <a:txBody>
                    <a:bodyPr/>
                    <a:lstStyle/>
                    <a:p>
                      <a:pPr indent="0" marL="0">
                        <a:buNone/>
                      </a:pPr>
                      <a:r>
                        <a:rPr lang="en-US" sz="1400" dirty="0">
                          <a:solidFill>
                            <a:schemeClr val="tx1"/>
                          </a:solidFill>
                        </a:rPr>
                        <a:t>—</a:t>
                      </a:r>
                      <a:endParaRPr lang="en-US" sz="1400" dirty="0"/>
                    </a:p>
                  </a:txBody>
                  <a:tcPr marL="91440" marR="91440" marT="45720" marB="45720" anchor="ctr">
                    <a:lnL w="9525" cap="flat" cmpd="sng" algn="ctr">
                      <a:solidFill>
                        <a:srgbClr val="8DA9C4"/>
                      </a:solidFill>
                      <a:prstDash val="solid"/>
                      <a:round/>
                      <a:headEnd type="none" w="med" len="med"/>
                      <a:tailEnd type="none" w="med" len="med"/>
                    </a:lnL>
                    <a:lnR w="9525" cap="flat" cmpd="sng" algn="ctr">
                      <a:solidFill>
                        <a:srgbClr val="8DA9C4"/>
                      </a:solidFill>
                      <a:prstDash val="solid"/>
                      <a:round/>
                      <a:headEnd type="none" w="med" len="med"/>
                      <a:tailEnd type="none" w="med" len="med"/>
                    </a:lnR>
                    <a:lnT w="9525" cap="flat" cmpd="sng" algn="ctr">
                      <a:solidFill>
                        <a:srgbClr val="8DA9C4"/>
                      </a:solidFill>
                      <a:prstDash val="solid"/>
                      <a:round/>
                      <a:headEnd type="none" w="med" len="med"/>
                      <a:tailEnd type="none" w="med" len="med"/>
                    </a:lnT>
                    <a:lnB w="9525" cap="flat" cmpd="sng" algn="ctr">
                      <a:solidFill>
                        <a:srgbClr val="8DA9C4"/>
                      </a:solidFill>
                      <a:prstDash val="solid"/>
                      <a:round/>
                      <a:headEnd type="none" w="med" len="med"/>
                      <a:tailEnd type="none" w="med" len="med"/>
                    </a:lnB>
                  </a:tcPr>
                </a:tc>
                <a:tc>
                  <a:txBody>
                    <a:bodyPr/>
                    <a:lstStyle/>
                    <a:p>
                      <a:pPr indent="0" marL="0">
                        <a:buNone/>
                      </a:pPr>
                      <a:r>
                        <a:rPr lang="en-US" sz="1400" dirty="0">
                          <a:solidFill>
                            <a:schemeClr val="tx1"/>
                          </a:solidFill>
                        </a:rPr>
                        <a:t>Not used</a:t>
                      </a:r>
                      <a:endParaRPr lang="en-US" sz="1400" dirty="0"/>
                    </a:p>
                  </a:txBody>
                  <a:tcPr marL="91440" marR="91440" marT="45720" marB="45720" anchor="ctr">
                    <a:lnL w="9525" cap="flat" cmpd="sng" algn="ctr">
                      <a:solidFill>
                        <a:srgbClr val="8DA9C4"/>
                      </a:solidFill>
                      <a:prstDash val="solid"/>
                      <a:round/>
                      <a:headEnd type="none" w="med" len="med"/>
                      <a:tailEnd type="none" w="med" len="med"/>
                    </a:lnL>
                    <a:lnR w="9525" cap="flat" cmpd="sng" algn="ctr">
                      <a:solidFill>
                        <a:srgbClr val="8DA9C4"/>
                      </a:solidFill>
                      <a:prstDash val="solid"/>
                      <a:round/>
                      <a:headEnd type="none" w="med" len="med"/>
                      <a:tailEnd type="none" w="med" len="med"/>
                    </a:lnR>
                    <a:lnT w="9525" cap="flat" cmpd="sng" algn="ctr">
                      <a:solidFill>
                        <a:srgbClr val="8DA9C4"/>
                      </a:solidFill>
                      <a:prstDash val="solid"/>
                      <a:round/>
                      <a:headEnd type="none" w="med" len="med"/>
                      <a:tailEnd type="none" w="med" len="med"/>
                    </a:lnT>
                    <a:lnB w="9525" cap="flat" cmpd="sng" algn="ctr">
                      <a:solidFill>
                        <a:srgbClr val="8DA9C4"/>
                      </a:solidFill>
                      <a:prstDash val="solid"/>
                      <a:round/>
                      <a:headEnd type="none" w="med" len="med"/>
                      <a:tailEnd type="none" w="med" len="med"/>
                    </a:lnB>
                  </a:tcPr>
                </a:tc>
              </a:tr>
              <a:tr h="384048">
                <a:tc>
                  <a:txBody>
                    <a:bodyPr/>
                    <a:lstStyle/>
                    <a:p>
                      <a:pPr indent="0" marL="0">
                        <a:buNone/>
                      </a:pPr>
                      <a:r>
                        <a:rPr lang="en-US" sz="1400" dirty="0">
                          <a:solidFill>
                            <a:schemeClr val="tx1"/>
                          </a:solidFill>
                        </a:rPr>
                        <a:t>Buzzer +</a:t>
                      </a:r>
                      <a:endParaRPr lang="en-US" sz="1400" dirty="0"/>
                    </a:p>
                  </a:txBody>
                  <a:tcPr marL="91440" marR="91440" marT="45720" marB="45720" anchor="ctr">
                    <a:lnL w="9525" cap="flat" cmpd="sng" algn="ctr">
                      <a:solidFill>
                        <a:srgbClr val="8DA9C4"/>
                      </a:solidFill>
                      <a:prstDash val="solid"/>
                      <a:round/>
                      <a:headEnd type="none" w="med" len="med"/>
                      <a:tailEnd type="none" w="med" len="med"/>
                    </a:lnL>
                    <a:lnR w="9525" cap="flat" cmpd="sng" algn="ctr">
                      <a:solidFill>
                        <a:srgbClr val="8DA9C4"/>
                      </a:solidFill>
                      <a:prstDash val="solid"/>
                      <a:round/>
                      <a:headEnd type="none" w="med" len="med"/>
                      <a:tailEnd type="none" w="med" len="med"/>
                    </a:lnR>
                    <a:lnT w="9525" cap="flat" cmpd="sng" algn="ctr">
                      <a:solidFill>
                        <a:srgbClr val="8DA9C4"/>
                      </a:solidFill>
                      <a:prstDash val="solid"/>
                      <a:round/>
                      <a:headEnd type="none" w="med" len="med"/>
                      <a:tailEnd type="none" w="med" len="med"/>
                    </a:lnT>
                    <a:lnB w="9525" cap="flat" cmpd="sng" algn="ctr">
                      <a:solidFill>
                        <a:srgbClr val="8DA9C4"/>
                      </a:solidFill>
                      <a:prstDash val="solid"/>
                      <a:round/>
                      <a:headEnd type="none" w="med" len="med"/>
                      <a:tailEnd type="none" w="med" len="med"/>
                    </a:lnB>
                  </a:tcPr>
                </a:tc>
                <a:tc>
                  <a:txBody>
                    <a:bodyPr/>
                    <a:lstStyle/>
                    <a:p>
                      <a:pPr indent="0" marL="0">
                        <a:buNone/>
                      </a:pPr>
                      <a:r>
                        <a:rPr lang="en-US" sz="1400" dirty="0">
                          <a:solidFill>
                            <a:schemeClr val="tx1"/>
                          </a:solidFill>
                        </a:rPr>
                        <a:t>D2</a:t>
                      </a:r>
                      <a:endParaRPr lang="en-US" sz="1400" dirty="0"/>
                    </a:p>
                  </a:txBody>
                  <a:tcPr marL="91440" marR="91440" marT="45720" marB="45720" anchor="ctr">
                    <a:lnL w="9525" cap="flat" cmpd="sng" algn="ctr">
                      <a:solidFill>
                        <a:srgbClr val="8DA9C4"/>
                      </a:solidFill>
                      <a:prstDash val="solid"/>
                      <a:round/>
                      <a:headEnd type="none" w="med" len="med"/>
                      <a:tailEnd type="none" w="med" len="med"/>
                    </a:lnL>
                    <a:lnR w="9525" cap="flat" cmpd="sng" algn="ctr">
                      <a:solidFill>
                        <a:srgbClr val="8DA9C4"/>
                      </a:solidFill>
                      <a:prstDash val="solid"/>
                      <a:round/>
                      <a:headEnd type="none" w="med" len="med"/>
                      <a:tailEnd type="none" w="med" len="med"/>
                    </a:lnR>
                    <a:lnT w="9525" cap="flat" cmpd="sng" algn="ctr">
                      <a:solidFill>
                        <a:srgbClr val="8DA9C4"/>
                      </a:solidFill>
                      <a:prstDash val="solid"/>
                      <a:round/>
                      <a:headEnd type="none" w="med" len="med"/>
                      <a:tailEnd type="none" w="med" len="med"/>
                    </a:lnT>
                    <a:lnB w="9525" cap="flat" cmpd="sng" algn="ctr">
                      <a:solidFill>
                        <a:srgbClr val="8DA9C4"/>
                      </a:solidFill>
                      <a:prstDash val="solid"/>
                      <a:round/>
                      <a:headEnd type="none" w="med" len="med"/>
                      <a:tailEnd type="none" w="med" len="med"/>
                    </a:lnB>
                  </a:tcPr>
                </a:tc>
                <a:tc>
                  <a:txBody>
                    <a:bodyPr/>
                    <a:lstStyle/>
                    <a:p>
                      <a:pPr indent="0" marL="0">
                        <a:buNone/>
                      </a:pPr>
                      <a:r>
                        <a:rPr lang="en-US" sz="1400" dirty="0">
                          <a:solidFill>
                            <a:schemeClr val="tx1"/>
                          </a:solidFill>
                        </a:rPr>
                        <a:t>HIGH = sound</a:t>
                      </a:r>
                      <a:endParaRPr lang="en-US" sz="1400" dirty="0"/>
                    </a:p>
                  </a:txBody>
                  <a:tcPr marL="91440" marR="91440" marT="45720" marB="45720" anchor="ctr">
                    <a:lnL w="9525" cap="flat" cmpd="sng" algn="ctr">
                      <a:solidFill>
                        <a:srgbClr val="8DA9C4"/>
                      </a:solidFill>
                      <a:prstDash val="solid"/>
                      <a:round/>
                      <a:headEnd type="none" w="med" len="med"/>
                      <a:tailEnd type="none" w="med" len="med"/>
                    </a:lnL>
                    <a:lnR w="9525" cap="flat" cmpd="sng" algn="ctr">
                      <a:solidFill>
                        <a:srgbClr val="8DA9C4"/>
                      </a:solidFill>
                      <a:prstDash val="solid"/>
                      <a:round/>
                      <a:headEnd type="none" w="med" len="med"/>
                      <a:tailEnd type="none" w="med" len="med"/>
                    </a:lnR>
                    <a:lnT w="9525" cap="flat" cmpd="sng" algn="ctr">
                      <a:solidFill>
                        <a:srgbClr val="8DA9C4"/>
                      </a:solidFill>
                      <a:prstDash val="solid"/>
                      <a:round/>
                      <a:headEnd type="none" w="med" len="med"/>
                      <a:tailEnd type="none" w="med" len="med"/>
                    </a:lnT>
                    <a:lnB w="9525" cap="flat" cmpd="sng" algn="ctr">
                      <a:solidFill>
                        <a:srgbClr val="8DA9C4"/>
                      </a:solidFill>
                      <a:prstDash val="solid"/>
                      <a:round/>
                      <a:headEnd type="none" w="med" len="med"/>
                      <a:tailEnd type="none" w="med" len="med"/>
                    </a:lnB>
                  </a:tcPr>
                </a:tc>
              </a:tr>
              <a:tr h="384048">
                <a:tc>
                  <a:txBody>
                    <a:bodyPr/>
                    <a:lstStyle/>
                    <a:p>
                      <a:pPr indent="0" marL="0">
                        <a:buNone/>
                      </a:pPr>
                      <a:r>
                        <a:rPr lang="en-US" sz="1400" dirty="0">
                          <a:solidFill>
                            <a:schemeClr val="tx1"/>
                          </a:solidFill>
                        </a:rPr>
                        <a:t>Sensor VCC / GND</a:t>
                      </a:r>
                      <a:endParaRPr lang="en-US" sz="1400" dirty="0"/>
                    </a:p>
                  </a:txBody>
                  <a:tcPr marL="91440" marR="91440" marT="45720" marB="45720" anchor="ctr">
                    <a:lnL w="9525" cap="flat" cmpd="sng" algn="ctr">
                      <a:solidFill>
                        <a:srgbClr val="8DA9C4"/>
                      </a:solidFill>
                      <a:prstDash val="solid"/>
                      <a:round/>
                      <a:headEnd type="none" w="med" len="med"/>
                      <a:tailEnd type="none" w="med" len="med"/>
                    </a:lnL>
                    <a:lnR w="9525" cap="flat" cmpd="sng" algn="ctr">
                      <a:solidFill>
                        <a:srgbClr val="8DA9C4"/>
                      </a:solidFill>
                      <a:prstDash val="solid"/>
                      <a:round/>
                      <a:headEnd type="none" w="med" len="med"/>
                      <a:tailEnd type="none" w="med" len="med"/>
                    </a:lnR>
                    <a:lnT w="9525" cap="flat" cmpd="sng" algn="ctr">
                      <a:solidFill>
                        <a:srgbClr val="8DA9C4"/>
                      </a:solidFill>
                      <a:prstDash val="solid"/>
                      <a:round/>
                      <a:headEnd type="none" w="med" len="med"/>
                      <a:tailEnd type="none" w="med" len="med"/>
                    </a:lnT>
                    <a:lnB w="9525" cap="flat" cmpd="sng" algn="ctr">
                      <a:solidFill>
                        <a:srgbClr val="8DA9C4"/>
                      </a:solidFill>
                      <a:prstDash val="solid"/>
                      <a:round/>
                      <a:headEnd type="none" w="med" len="med"/>
                      <a:tailEnd type="none" w="med" len="med"/>
                    </a:lnB>
                  </a:tcPr>
                </a:tc>
                <a:tc>
                  <a:txBody>
                    <a:bodyPr/>
                    <a:lstStyle/>
                    <a:p>
                      <a:pPr indent="0" marL="0">
                        <a:buNone/>
                      </a:pPr>
                      <a:r>
                        <a:rPr lang="en-US" sz="1400" dirty="0">
                          <a:solidFill>
                            <a:schemeClr val="tx1"/>
                          </a:solidFill>
                        </a:rPr>
                        <a:t>5V / GND</a:t>
                      </a:r>
                      <a:endParaRPr lang="en-US" sz="1400" dirty="0"/>
                    </a:p>
                  </a:txBody>
                  <a:tcPr marL="91440" marR="91440" marT="45720" marB="45720" anchor="ctr">
                    <a:lnL w="9525" cap="flat" cmpd="sng" algn="ctr">
                      <a:solidFill>
                        <a:srgbClr val="8DA9C4"/>
                      </a:solidFill>
                      <a:prstDash val="solid"/>
                      <a:round/>
                      <a:headEnd type="none" w="med" len="med"/>
                      <a:tailEnd type="none" w="med" len="med"/>
                    </a:lnL>
                    <a:lnR w="9525" cap="flat" cmpd="sng" algn="ctr">
                      <a:solidFill>
                        <a:srgbClr val="8DA9C4"/>
                      </a:solidFill>
                      <a:prstDash val="solid"/>
                      <a:round/>
                      <a:headEnd type="none" w="med" len="med"/>
                      <a:tailEnd type="none" w="med" len="med"/>
                    </a:lnR>
                    <a:lnT w="9525" cap="flat" cmpd="sng" algn="ctr">
                      <a:solidFill>
                        <a:srgbClr val="8DA9C4"/>
                      </a:solidFill>
                      <a:prstDash val="solid"/>
                      <a:round/>
                      <a:headEnd type="none" w="med" len="med"/>
                      <a:tailEnd type="none" w="med" len="med"/>
                    </a:lnT>
                    <a:lnB w="9525" cap="flat" cmpd="sng" algn="ctr">
                      <a:solidFill>
                        <a:srgbClr val="8DA9C4"/>
                      </a:solidFill>
                      <a:prstDash val="solid"/>
                      <a:round/>
                      <a:headEnd type="none" w="med" len="med"/>
                      <a:tailEnd type="none" w="med" len="med"/>
                    </a:lnB>
                  </a:tcPr>
                </a:tc>
                <a:tc>
                  <a:txBody>
                    <a:bodyPr/>
                    <a:lstStyle/>
                    <a:p>
                      <a:pPr indent="0" marL="0">
                        <a:buNone/>
                      </a:pPr>
                      <a:r>
                        <a:rPr lang="en-US" sz="1400" dirty="0">
                          <a:solidFill>
                            <a:schemeClr val="tx1"/>
                          </a:solidFill>
                        </a:rPr>
                        <a:t>Module power</a:t>
                      </a:r>
                      <a:endParaRPr lang="en-US" sz="1400" dirty="0"/>
                    </a:p>
                  </a:txBody>
                  <a:tcPr marL="91440" marR="91440" marT="45720" marB="45720" anchor="ctr">
                    <a:lnL w="9525" cap="flat" cmpd="sng" algn="ctr">
                      <a:solidFill>
                        <a:srgbClr val="8DA9C4"/>
                      </a:solidFill>
                      <a:prstDash val="solid"/>
                      <a:round/>
                      <a:headEnd type="none" w="med" len="med"/>
                      <a:tailEnd type="none" w="med" len="med"/>
                    </a:lnL>
                    <a:lnR w="9525" cap="flat" cmpd="sng" algn="ctr">
                      <a:solidFill>
                        <a:srgbClr val="8DA9C4"/>
                      </a:solidFill>
                      <a:prstDash val="solid"/>
                      <a:round/>
                      <a:headEnd type="none" w="med" len="med"/>
                      <a:tailEnd type="none" w="med" len="med"/>
                    </a:lnR>
                    <a:lnT w="9525" cap="flat" cmpd="sng" algn="ctr">
                      <a:solidFill>
                        <a:srgbClr val="8DA9C4"/>
                      </a:solidFill>
                      <a:prstDash val="solid"/>
                      <a:round/>
                      <a:headEnd type="none" w="med" len="med"/>
                      <a:tailEnd type="none" w="med" len="med"/>
                    </a:lnT>
                    <a:lnB w="9525" cap="flat" cmpd="sng" algn="ctr">
                      <a:solidFill>
                        <a:srgbClr val="8DA9C4"/>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Algorithm</a:t>
            </a:r>
            <a:endParaRPr lang="en-US" sz="3000" dirty="0"/>
          </a:p>
        </p:txBody>
      </p:sp>
      <p:sp>
        <p:nvSpPr>
          <p:cNvPr id="3" name="algorithm step"/>
          <p:cNvSpPr/>
          <p:nvPr/>
        </p:nvSpPr>
        <p:spPr>
          <a:xfrm>
            <a:off x="457200" y="1188720"/>
            <a:ext cx="2606040" cy="1463040"/>
          </a:xfrm>
          <a:prstGeom prst="roundRect">
            <a:avLst>
              <a:gd name="adj" fmla="val 7500"/>
            </a:avLst>
          </a:prstGeom>
          <a:solidFill>
            <a:srgbClr val="EEF2F7"/>
          </a:solidFill>
          <a:ln w="12700">
            <a:solidFill>
              <a:srgbClr val="EEF2F7"/>
            </a:solidFill>
            <a:prstDash val="solid"/>
          </a:ln>
          <a:effectLst>
            <a:outerShdw sx="100000" sy="100000" kx="0" ky="0" algn="bl" rotWithShape="0" blurRad="76200" dist="25400" dir="5400000">
              <a:srgbClr val="000000">
                <a:alpha val="15000"/>
              </a:srgbClr>
            </a:outerShdw>
          </a:effectLst>
        </p:spPr>
      </p:sp>
      <p:sp>
        <p:nvSpPr>
          <p:cNvPr id="4" name="Text 2"/>
          <p:cNvSpPr txBox="1"/>
          <p:nvPr/>
        </p:nvSpPr>
        <p:spPr>
          <a:xfrm>
            <a:off x="640080" y="1325880"/>
            <a:ext cx="457200" cy="457200"/>
          </a:xfrm>
          <a:prstGeom prst="rect">
            <a:avLst/>
          </a:prstGeom>
          <a:noFill/>
          <a:ln/>
        </p:spPr>
        <p:txBody>
          <a:bodyPr wrap="square" lIns="0" tIns="0" rIns="0" bIns="0" rtlCol="0" anchor="t"/>
          <a:lstStyle/>
          <a:p>
            <a:pPr indent="0" marL="0">
              <a:buNone/>
            </a:pPr>
            <a:r>
              <a:rPr lang="en-US" sz="2400" b="1" dirty="0">
                <a:solidFill>
                  <a:schemeClr val="accent2"/>
                </a:solidFill>
                <a:latin typeface="Cambria" pitchFamily="34" charset="0"/>
                <a:ea typeface="Cambria" pitchFamily="34" charset="-122"/>
                <a:cs typeface="Cambria" pitchFamily="34" charset="-120"/>
              </a:rPr>
              <a:t>1</a:t>
            </a:r>
            <a:endParaRPr lang="en-US" sz="2400" dirty="0"/>
          </a:p>
        </p:txBody>
      </p:sp>
      <p:sp>
        <p:nvSpPr>
          <p:cNvPr id="5" name="Text 3"/>
          <p:cNvSpPr txBox="1"/>
          <p:nvPr/>
        </p:nvSpPr>
        <p:spPr>
          <a:xfrm>
            <a:off x="1097280" y="1371600"/>
            <a:ext cx="1828800" cy="365760"/>
          </a:xfrm>
          <a:prstGeom prst="rect">
            <a:avLst/>
          </a:prstGeom>
          <a:noFill/>
          <a:ln/>
        </p:spPr>
        <p:txBody>
          <a:bodyPr wrap="square" lIns="0" tIns="0" rIns="0" bIns="0" rtlCol="0" anchor="t"/>
          <a:lstStyle/>
          <a:p>
            <a:pPr indent="0" marL="0">
              <a:buNone/>
            </a:pPr>
            <a:r>
              <a:rPr lang="en-US" sz="1600" b="1" dirty="0">
                <a:solidFill>
                  <a:schemeClr val="tx2"/>
                </a:solidFill>
              </a:rPr>
              <a:t>Initialise</a:t>
            </a:r>
            <a:endParaRPr lang="en-US" sz="1600" dirty="0"/>
          </a:p>
        </p:txBody>
      </p:sp>
      <p:sp>
        <p:nvSpPr>
          <p:cNvPr id="6" name="Text 4"/>
          <p:cNvSpPr txBox="1"/>
          <p:nvPr/>
        </p:nvSpPr>
        <p:spPr>
          <a:xfrm>
            <a:off x="640080" y="1828800"/>
            <a:ext cx="2286000" cy="731520"/>
          </a:xfrm>
          <a:prstGeom prst="rect">
            <a:avLst/>
          </a:prstGeom>
          <a:noFill/>
          <a:ln/>
        </p:spPr>
        <p:txBody>
          <a:bodyPr wrap="square" lIns="0" tIns="0" rIns="0" bIns="0" rtlCol="0" anchor="t"/>
          <a:lstStyle/>
          <a:p>
            <a:pPr indent="0" marL="0">
              <a:buNone/>
            </a:pPr>
            <a:r>
              <a:rPr lang="en-US" sz="1300" dirty="0">
                <a:solidFill>
                  <a:schemeClr val="tx1"/>
                </a:solidFill>
              </a:rPr>
              <a:t>Set pin modes, start Serial at 9600</a:t>
            </a:r>
            <a:endParaRPr lang="en-US" sz="1300" dirty="0"/>
          </a:p>
        </p:txBody>
      </p:sp>
      <p:sp>
        <p:nvSpPr>
          <p:cNvPr id="7" name="algorithm step"/>
          <p:cNvSpPr/>
          <p:nvPr/>
        </p:nvSpPr>
        <p:spPr>
          <a:xfrm>
            <a:off x="3246120" y="1188720"/>
            <a:ext cx="2606040" cy="1463040"/>
          </a:xfrm>
          <a:prstGeom prst="roundRect">
            <a:avLst>
              <a:gd name="adj" fmla="val 7500"/>
            </a:avLst>
          </a:prstGeom>
          <a:solidFill>
            <a:srgbClr val="EEF2F7"/>
          </a:solidFill>
          <a:ln w="12700">
            <a:solidFill>
              <a:srgbClr val="EEF2F7"/>
            </a:solidFill>
            <a:prstDash val="solid"/>
          </a:ln>
          <a:effectLst>
            <a:outerShdw sx="100000" sy="100000" kx="0" ky="0" algn="bl" rotWithShape="0" blurRad="76200" dist="25400" dir="5400000">
              <a:srgbClr val="000000">
                <a:alpha val="15000"/>
              </a:srgbClr>
            </a:outerShdw>
          </a:effectLst>
        </p:spPr>
      </p:sp>
      <p:sp>
        <p:nvSpPr>
          <p:cNvPr id="8" name="Text 6"/>
          <p:cNvSpPr txBox="1"/>
          <p:nvPr/>
        </p:nvSpPr>
        <p:spPr>
          <a:xfrm>
            <a:off x="3429000" y="1325880"/>
            <a:ext cx="457200" cy="457200"/>
          </a:xfrm>
          <a:prstGeom prst="rect">
            <a:avLst/>
          </a:prstGeom>
          <a:noFill/>
          <a:ln/>
        </p:spPr>
        <p:txBody>
          <a:bodyPr wrap="square" lIns="0" tIns="0" rIns="0" bIns="0" rtlCol="0" anchor="t"/>
          <a:lstStyle/>
          <a:p>
            <a:pPr indent="0" marL="0">
              <a:buNone/>
            </a:pPr>
            <a:r>
              <a:rPr lang="en-US" sz="2400" b="1" dirty="0">
                <a:solidFill>
                  <a:schemeClr val="accent2"/>
                </a:solidFill>
                <a:latin typeface="Cambria" pitchFamily="34" charset="0"/>
                <a:ea typeface="Cambria" pitchFamily="34" charset="-122"/>
                <a:cs typeface="Cambria" pitchFamily="34" charset="-120"/>
              </a:rPr>
              <a:t>2</a:t>
            </a:r>
            <a:endParaRPr lang="en-US" sz="2400" dirty="0"/>
          </a:p>
        </p:txBody>
      </p:sp>
      <p:sp>
        <p:nvSpPr>
          <p:cNvPr id="9" name="Text 7"/>
          <p:cNvSpPr txBox="1"/>
          <p:nvPr/>
        </p:nvSpPr>
        <p:spPr>
          <a:xfrm>
            <a:off x="3886200" y="1371600"/>
            <a:ext cx="1828800" cy="365760"/>
          </a:xfrm>
          <a:prstGeom prst="rect">
            <a:avLst/>
          </a:prstGeom>
          <a:noFill/>
          <a:ln/>
        </p:spPr>
        <p:txBody>
          <a:bodyPr wrap="square" lIns="0" tIns="0" rIns="0" bIns="0" rtlCol="0" anchor="t"/>
          <a:lstStyle/>
          <a:p>
            <a:pPr indent="0" marL="0">
              <a:buNone/>
            </a:pPr>
            <a:r>
              <a:rPr lang="en-US" sz="1600" b="1" dirty="0">
                <a:solidFill>
                  <a:schemeClr val="tx2"/>
                </a:solidFill>
              </a:rPr>
              <a:t>Measure distance</a:t>
            </a:r>
            <a:endParaRPr lang="en-US" sz="1600" dirty="0"/>
          </a:p>
        </p:txBody>
      </p:sp>
      <p:sp>
        <p:nvSpPr>
          <p:cNvPr id="10" name="Text 8"/>
          <p:cNvSpPr txBox="1"/>
          <p:nvPr/>
        </p:nvSpPr>
        <p:spPr>
          <a:xfrm>
            <a:off x="3429000" y="1828800"/>
            <a:ext cx="2286000" cy="731520"/>
          </a:xfrm>
          <a:prstGeom prst="rect">
            <a:avLst/>
          </a:prstGeom>
          <a:noFill/>
          <a:ln/>
        </p:spPr>
        <p:txBody>
          <a:bodyPr wrap="square" lIns="0" tIns="0" rIns="0" bIns="0" rtlCol="0" anchor="t"/>
          <a:lstStyle/>
          <a:p>
            <a:pPr indent="0" marL="0">
              <a:buNone/>
            </a:pPr>
            <a:r>
              <a:rPr lang="en-US" sz="1300" dirty="0">
                <a:solidFill>
                  <a:schemeClr val="tx1"/>
                </a:solidFill>
              </a:rPr>
              <a:t>Trigger, pulseIn() with 30 ms timeout, d = t × 0.034 / 2</a:t>
            </a:r>
            <a:endParaRPr lang="en-US" sz="1300" dirty="0"/>
          </a:p>
        </p:txBody>
      </p:sp>
      <p:sp>
        <p:nvSpPr>
          <p:cNvPr id="11" name="algorithm step"/>
          <p:cNvSpPr/>
          <p:nvPr/>
        </p:nvSpPr>
        <p:spPr>
          <a:xfrm>
            <a:off x="6035040" y="1188720"/>
            <a:ext cx="2606040" cy="1463040"/>
          </a:xfrm>
          <a:prstGeom prst="roundRect">
            <a:avLst>
              <a:gd name="adj" fmla="val 7500"/>
            </a:avLst>
          </a:prstGeom>
          <a:solidFill>
            <a:srgbClr val="EEF2F7"/>
          </a:solidFill>
          <a:ln w="12700">
            <a:solidFill>
              <a:srgbClr val="EEF2F7"/>
            </a:solidFill>
            <a:prstDash val="solid"/>
          </a:ln>
          <a:effectLst>
            <a:outerShdw sx="100000" sy="100000" kx="0" ky="0" algn="bl" rotWithShape="0" blurRad="76200" dist="25400" dir="5400000">
              <a:srgbClr val="000000">
                <a:alpha val="15000"/>
              </a:srgbClr>
            </a:outerShdw>
          </a:effectLst>
        </p:spPr>
      </p:sp>
      <p:sp>
        <p:nvSpPr>
          <p:cNvPr id="12" name="Text 10"/>
          <p:cNvSpPr txBox="1"/>
          <p:nvPr/>
        </p:nvSpPr>
        <p:spPr>
          <a:xfrm>
            <a:off x="6217920" y="1325880"/>
            <a:ext cx="457200" cy="457200"/>
          </a:xfrm>
          <a:prstGeom prst="rect">
            <a:avLst/>
          </a:prstGeom>
          <a:noFill/>
          <a:ln/>
        </p:spPr>
        <p:txBody>
          <a:bodyPr wrap="square" lIns="0" tIns="0" rIns="0" bIns="0" rtlCol="0" anchor="t"/>
          <a:lstStyle/>
          <a:p>
            <a:pPr indent="0" marL="0">
              <a:buNone/>
            </a:pPr>
            <a:r>
              <a:rPr lang="en-US" sz="2400" b="1" dirty="0">
                <a:solidFill>
                  <a:schemeClr val="accent2"/>
                </a:solidFill>
                <a:latin typeface="Cambria" pitchFamily="34" charset="0"/>
                <a:ea typeface="Cambria" pitchFamily="34" charset="-122"/>
                <a:cs typeface="Cambria" pitchFamily="34" charset="-120"/>
              </a:rPr>
              <a:t>3</a:t>
            </a:r>
            <a:endParaRPr lang="en-US" sz="2400" dirty="0"/>
          </a:p>
        </p:txBody>
      </p:sp>
      <p:sp>
        <p:nvSpPr>
          <p:cNvPr id="13" name="Text 11"/>
          <p:cNvSpPr txBox="1"/>
          <p:nvPr/>
        </p:nvSpPr>
        <p:spPr>
          <a:xfrm>
            <a:off x="6675120" y="1371600"/>
            <a:ext cx="1828800" cy="365760"/>
          </a:xfrm>
          <a:prstGeom prst="rect">
            <a:avLst/>
          </a:prstGeom>
          <a:noFill/>
          <a:ln/>
        </p:spPr>
        <p:txBody>
          <a:bodyPr wrap="square" lIns="0" tIns="0" rIns="0" bIns="0" rtlCol="0" anchor="t"/>
          <a:lstStyle/>
          <a:p>
            <a:pPr indent="0" marL="0">
              <a:buNone/>
            </a:pPr>
            <a:r>
              <a:rPr lang="en-US" sz="1600" b="1" dirty="0">
                <a:solidFill>
                  <a:schemeClr val="tx2"/>
                </a:solidFill>
              </a:rPr>
              <a:t>Read moisture</a:t>
            </a:r>
            <a:endParaRPr lang="en-US" sz="1600" dirty="0"/>
          </a:p>
        </p:txBody>
      </p:sp>
      <p:sp>
        <p:nvSpPr>
          <p:cNvPr id="14" name="Text 12"/>
          <p:cNvSpPr txBox="1"/>
          <p:nvPr/>
        </p:nvSpPr>
        <p:spPr>
          <a:xfrm>
            <a:off x="6217920" y="1828800"/>
            <a:ext cx="2286000" cy="731520"/>
          </a:xfrm>
          <a:prstGeom prst="rect">
            <a:avLst/>
          </a:prstGeom>
          <a:noFill/>
          <a:ln/>
        </p:spPr>
        <p:txBody>
          <a:bodyPr wrap="square" lIns="0" tIns="0" rIns="0" bIns="0" rtlCol="0" anchor="t"/>
          <a:lstStyle/>
          <a:p>
            <a:pPr indent="0" marL="0">
              <a:buNone/>
            </a:pPr>
            <a:r>
              <a:rPr lang="en-US" sz="1300" dirty="0">
                <a:solidFill>
                  <a:schemeClr val="tx1"/>
                </a:solidFill>
              </a:rPr>
              <a:t>m = analogRead(A0), 0–1023</a:t>
            </a:r>
            <a:endParaRPr lang="en-US" sz="1300" dirty="0"/>
          </a:p>
        </p:txBody>
      </p:sp>
      <p:sp>
        <p:nvSpPr>
          <p:cNvPr id="15" name="algorithm step"/>
          <p:cNvSpPr/>
          <p:nvPr/>
        </p:nvSpPr>
        <p:spPr>
          <a:xfrm>
            <a:off x="457200" y="2880360"/>
            <a:ext cx="2606040" cy="1463040"/>
          </a:xfrm>
          <a:prstGeom prst="roundRect">
            <a:avLst>
              <a:gd name="adj" fmla="val 7500"/>
            </a:avLst>
          </a:prstGeom>
          <a:solidFill>
            <a:srgbClr val="FDECEA"/>
          </a:solidFill>
          <a:ln w="12700">
            <a:solidFill>
              <a:srgbClr val="FDECEA"/>
            </a:solidFill>
            <a:prstDash val="solid"/>
          </a:ln>
          <a:effectLst>
            <a:outerShdw sx="100000" sy="100000" kx="0" ky="0" algn="bl" rotWithShape="0" blurRad="76200" dist="25400" dir="5400000">
              <a:srgbClr val="000000">
                <a:alpha val="15000"/>
              </a:srgbClr>
            </a:outerShdw>
          </a:effectLst>
        </p:spPr>
      </p:sp>
      <p:sp>
        <p:nvSpPr>
          <p:cNvPr id="16" name="Text 14"/>
          <p:cNvSpPr txBox="1"/>
          <p:nvPr/>
        </p:nvSpPr>
        <p:spPr>
          <a:xfrm>
            <a:off x="640080" y="3017520"/>
            <a:ext cx="457200" cy="457200"/>
          </a:xfrm>
          <a:prstGeom prst="rect">
            <a:avLst/>
          </a:prstGeom>
          <a:noFill/>
          <a:ln/>
        </p:spPr>
        <p:txBody>
          <a:bodyPr wrap="square" lIns="0" tIns="0" rIns="0" bIns="0" rtlCol="0" anchor="t"/>
          <a:lstStyle/>
          <a:p>
            <a:pPr indent="0" marL="0">
              <a:buNone/>
            </a:pPr>
            <a:r>
              <a:rPr lang="en-US" sz="2400" b="1" dirty="0">
                <a:solidFill>
                  <a:schemeClr val="accent2"/>
                </a:solidFill>
                <a:latin typeface="Cambria" pitchFamily="34" charset="0"/>
                <a:ea typeface="Cambria" pitchFamily="34" charset="-122"/>
                <a:cs typeface="Cambria" pitchFamily="34" charset="-120"/>
              </a:rPr>
              <a:t>4</a:t>
            </a:r>
            <a:endParaRPr lang="en-US" sz="2400" dirty="0"/>
          </a:p>
        </p:txBody>
      </p:sp>
      <p:sp>
        <p:nvSpPr>
          <p:cNvPr id="17" name="Text 15"/>
          <p:cNvSpPr txBox="1"/>
          <p:nvPr/>
        </p:nvSpPr>
        <p:spPr>
          <a:xfrm>
            <a:off x="1097280" y="3063240"/>
            <a:ext cx="1828800" cy="365760"/>
          </a:xfrm>
          <a:prstGeom prst="rect">
            <a:avLst/>
          </a:prstGeom>
          <a:noFill/>
          <a:ln/>
        </p:spPr>
        <p:txBody>
          <a:bodyPr wrap="square" lIns="0" tIns="0" rIns="0" bIns="0" rtlCol="0" anchor="t"/>
          <a:lstStyle/>
          <a:p>
            <a:pPr indent="0" marL="0">
              <a:buNone/>
            </a:pPr>
            <a:r>
              <a:rPr lang="en-US" sz="1600" b="1" dirty="0">
                <a:solidFill>
                  <a:schemeClr val="tx2"/>
                </a:solidFill>
              </a:rPr>
              <a:t>Water?</a:t>
            </a:r>
            <a:endParaRPr lang="en-US" sz="1600" dirty="0"/>
          </a:p>
        </p:txBody>
      </p:sp>
      <p:sp>
        <p:nvSpPr>
          <p:cNvPr id="18" name="Text 16"/>
          <p:cNvSpPr txBox="1"/>
          <p:nvPr/>
        </p:nvSpPr>
        <p:spPr>
          <a:xfrm>
            <a:off x="640080" y="3520440"/>
            <a:ext cx="2286000" cy="731520"/>
          </a:xfrm>
          <a:prstGeom prst="rect">
            <a:avLst/>
          </a:prstGeom>
          <a:noFill/>
          <a:ln/>
        </p:spPr>
        <p:txBody>
          <a:bodyPr wrap="square" lIns="0" tIns="0" rIns="0" bIns="0" rtlCol="0" anchor="t"/>
          <a:lstStyle/>
          <a:p>
            <a:pPr indent="0" marL="0">
              <a:buNone/>
            </a:pPr>
            <a:r>
              <a:rPr lang="en-US" sz="1300" dirty="0">
                <a:solidFill>
                  <a:schemeClr val="tx1"/>
                </a:solidFill>
              </a:rPr>
              <a:t>If m &lt; 500, buzzer ON continuously</a:t>
            </a:r>
            <a:endParaRPr lang="en-US" sz="1300" dirty="0"/>
          </a:p>
        </p:txBody>
      </p:sp>
      <p:sp>
        <p:nvSpPr>
          <p:cNvPr id="19" name="algorithm step"/>
          <p:cNvSpPr/>
          <p:nvPr/>
        </p:nvSpPr>
        <p:spPr>
          <a:xfrm>
            <a:off x="3246120" y="2880360"/>
            <a:ext cx="2606040" cy="1463040"/>
          </a:xfrm>
          <a:prstGeom prst="roundRect">
            <a:avLst>
              <a:gd name="adj" fmla="val 7500"/>
            </a:avLst>
          </a:prstGeom>
          <a:solidFill>
            <a:srgbClr val="FFF3E0"/>
          </a:solidFill>
          <a:ln w="12700">
            <a:solidFill>
              <a:srgbClr val="FFF3E0"/>
            </a:solidFill>
            <a:prstDash val="solid"/>
          </a:ln>
          <a:effectLst>
            <a:outerShdw sx="100000" sy="100000" kx="0" ky="0" algn="bl" rotWithShape="0" blurRad="76200" dist="25400" dir="5400000">
              <a:srgbClr val="000000">
                <a:alpha val="15000"/>
              </a:srgbClr>
            </a:outerShdw>
          </a:effectLst>
        </p:spPr>
      </p:sp>
      <p:sp>
        <p:nvSpPr>
          <p:cNvPr id="20" name="Text 18"/>
          <p:cNvSpPr txBox="1"/>
          <p:nvPr/>
        </p:nvSpPr>
        <p:spPr>
          <a:xfrm>
            <a:off x="3429000" y="3017520"/>
            <a:ext cx="457200" cy="457200"/>
          </a:xfrm>
          <a:prstGeom prst="rect">
            <a:avLst/>
          </a:prstGeom>
          <a:noFill/>
          <a:ln/>
        </p:spPr>
        <p:txBody>
          <a:bodyPr wrap="square" lIns="0" tIns="0" rIns="0" bIns="0" rtlCol="0" anchor="t"/>
          <a:lstStyle/>
          <a:p>
            <a:pPr indent="0" marL="0">
              <a:buNone/>
            </a:pPr>
            <a:r>
              <a:rPr lang="en-US" sz="2400" b="1" dirty="0">
                <a:solidFill>
                  <a:schemeClr val="accent2"/>
                </a:solidFill>
                <a:latin typeface="Cambria" pitchFamily="34" charset="0"/>
                <a:ea typeface="Cambria" pitchFamily="34" charset="-122"/>
                <a:cs typeface="Cambria" pitchFamily="34" charset="-120"/>
              </a:rPr>
              <a:t>5</a:t>
            </a:r>
            <a:endParaRPr lang="en-US" sz="2400" dirty="0"/>
          </a:p>
        </p:txBody>
      </p:sp>
      <p:sp>
        <p:nvSpPr>
          <p:cNvPr id="21" name="Text 19"/>
          <p:cNvSpPr txBox="1"/>
          <p:nvPr/>
        </p:nvSpPr>
        <p:spPr>
          <a:xfrm>
            <a:off x="3886200" y="3063240"/>
            <a:ext cx="1828800" cy="365760"/>
          </a:xfrm>
          <a:prstGeom prst="rect">
            <a:avLst/>
          </a:prstGeom>
          <a:noFill/>
          <a:ln/>
        </p:spPr>
        <p:txBody>
          <a:bodyPr wrap="square" lIns="0" tIns="0" rIns="0" bIns="0" rtlCol="0" anchor="t"/>
          <a:lstStyle/>
          <a:p>
            <a:pPr indent="0" marL="0">
              <a:buNone/>
            </a:pPr>
            <a:r>
              <a:rPr lang="en-US" sz="1600" b="1" dirty="0">
                <a:solidFill>
                  <a:schemeClr val="tx2"/>
                </a:solidFill>
              </a:rPr>
              <a:t>Obstacle?</a:t>
            </a:r>
            <a:endParaRPr lang="en-US" sz="1600" dirty="0"/>
          </a:p>
        </p:txBody>
      </p:sp>
      <p:sp>
        <p:nvSpPr>
          <p:cNvPr id="22" name="Text 20"/>
          <p:cNvSpPr txBox="1"/>
          <p:nvPr/>
        </p:nvSpPr>
        <p:spPr>
          <a:xfrm>
            <a:off x="3429000" y="3520440"/>
            <a:ext cx="2286000" cy="731520"/>
          </a:xfrm>
          <a:prstGeom prst="rect">
            <a:avLst/>
          </a:prstGeom>
          <a:noFill/>
          <a:ln/>
        </p:spPr>
        <p:txBody>
          <a:bodyPr wrap="square" lIns="0" tIns="0" rIns="0" bIns="0" rtlCol="0" anchor="t"/>
          <a:lstStyle/>
          <a:p>
            <a:pPr indent="0" marL="0">
              <a:buNone/>
            </a:pPr>
            <a:r>
              <a:rPr lang="en-US" sz="1300" dirty="0">
                <a:solidFill>
                  <a:schemeClr val="tx1"/>
                </a:solidFill>
              </a:rPr>
              <a:t>Else if 0 &lt; d &lt; 50, beep 50 ms, wait map(d) = 50–400 ms</a:t>
            </a:r>
            <a:endParaRPr lang="en-US" sz="1300" dirty="0"/>
          </a:p>
        </p:txBody>
      </p:sp>
      <p:sp>
        <p:nvSpPr>
          <p:cNvPr id="23" name="algorithm step"/>
          <p:cNvSpPr/>
          <p:nvPr/>
        </p:nvSpPr>
        <p:spPr>
          <a:xfrm>
            <a:off x="6035040" y="2880360"/>
            <a:ext cx="2606040" cy="1463040"/>
          </a:xfrm>
          <a:prstGeom prst="roundRect">
            <a:avLst>
              <a:gd name="adj" fmla="val 7500"/>
            </a:avLst>
          </a:prstGeom>
          <a:solidFill>
            <a:srgbClr val="E6F4EA"/>
          </a:solidFill>
          <a:ln w="12700">
            <a:solidFill>
              <a:srgbClr val="E6F4EA"/>
            </a:solidFill>
            <a:prstDash val="solid"/>
          </a:ln>
          <a:effectLst>
            <a:outerShdw sx="100000" sy="100000" kx="0" ky="0" algn="bl" rotWithShape="0" blurRad="76200" dist="25400" dir="5400000">
              <a:srgbClr val="000000">
                <a:alpha val="15000"/>
              </a:srgbClr>
            </a:outerShdw>
          </a:effectLst>
        </p:spPr>
      </p:sp>
      <p:sp>
        <p:nvSpPr>
          <p:cNvPr id="24" name="Text 22"/>
          <p:cNvSpPr txBox="1"/>
          <p:nvPr/>
        </p:nvSpPr>
        <p:spPr>
          <a:xfrm>
            <a:off x="6217920" y="3017520"/>
            <a:ext cx="457200" cy="457200"/>
          </a:xfrm>
          <a:prstGeom prst="rect">
            <a:avLst/>
          </a:prstGeom>
          <a:noFill/>
          <a:ln/>
        </p:spPr>
        <p:txBody>
          <a:bodyPr wrap="square" lIns="0" tIns="0" rIns="0" bIns="0" rtlCol="0" anchor="t"/>
          <a:lstStyle/>
          <a:p>
            <a:pPr indent="0" marL="0">
              <a:buNone/>
            </a:pPr>
            <a:r>
              <a:rPr lang="en-US" sz="2400" b="1" dirty="0">
                <a:solidFill>
                  <a:schemeClr val="accent2"/>
                </a:solidFill>
                <a:latin typeface="Cambria" pitchFamily="34" charset="0"/>
                <a:ea typeface="Cambria" pitchFamily="34" charset="-122"/>
                <a:cs typeface="Cambria" pitchFamily="34" charset="-120"/>
              </a:rPr>
              <a:t>6</a:t>
            </a:r>
            <a:endParaRPr lang="en-US" sz="2400" dirty="0"/>
          </a:p>
        </p:txBody>
      </p:sp>
      <p:sp>
        <p:nvSpPr>
          <p:cNvPr id="25" name="Text 23"/>
          <p:cNvSpPr txBox="1"/>
          <p:nvPr/>
        </p:nvSpPr>
        <p:spPr>
          <a:xfrm>
            <a:off x="6675120" y="3063240"/>
            <a:ext cx="1828800" cy="365760"/>
          </a:xfrm>
          <a:prstGeom prst="rect">
            <a:avLst/>
          </a:prstGeom>
          <a:noFill/>
          <a:ln/>
        </p:spPr>
        <p:txBody>
          <a:bodyPr wrap="square" lIns="0" tIns="0" rIns="0" bIns="0" rtlCol="0" anchor="t"/>
          <a:lstStyle/>
          <a:p>
            <a:pPr indent="0" marL="0">
              <a:buNone/>
            </a:pPr>
            <a:r>
              <a:rPr lang="en-US" sz="1600" b="1" dirty="0">
                <a:solidFill>
                  <a:schemeClr val="tx2"/>
                </a:solidFill>
              </a:rPr>
              <a:t>Clear</a:t>
            </a:r>
            <a:endParaRPr lang="en-US" sz="1600" dirty="0"/>
          </a:p>
        </p:txBody>
      </p:sp>
      <p:sp>
        <p:nvSpPr>
          <p:cNvPr id="26" name="Text 24"/>
          <p:cNvSpPr txBox="1"/>
          <p:nvPr/>
        </p:nvSpPr>
        <p:spPr>
          <a:xfrm>
            <a:off x="6217920" y="3520440"/>
            <a:ext cx="2286000" cy="731520"/>
          </a:xfrm>
          <a:prstGeom prst="rect">
            <a:avLst/>
          </a:prstGeom>
          <a:noFill/>
          <a:ln/>
        </p:spPr>
        <p:txBody>
          <a:bodyPr wrap="square" lIns="0" tIns="0" rIns="0" bIns="0" rtlCol="0" anchor="t"/>
          <a:lstStyle/>
          <a:p>
            <a:pPr indent="0" marL="0">
              <a:buNone/>
            </a:pPr>
            <a:r>
              <a:rPr lang="en-US" sz="1300" dirty="0">
                <a:solidFill>
                  <a:schemeClr val="tx1"/>
                </a:solidFill>
              </a:rPr>
              <a:t>Else buzzer OFF; wait 30 ms and repeat</a:t>
            </a:r>
            <a:endParaRPr lang="en-US" sz="13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Data flow graph</a:t>
            </a:r>
            <a:endParaRPr lang="en-US" sz="3000" dirty="0"/>
          </a:p>
        </p:txBody>
      </p:sp>
      <p:pic>
        <p:nvPicPr>
          <p:cNvPr id="3" name="data flow graph" descr="img/dfg.png">    </p:cNvPr>
          <p:cNvPicPr>
            <a:picLocks noChangeAspect="1"/>
          </p:cNvPicPr>
          <p:nvPr/>
        </p:nvPicPr>
        <p:blipFill>
          <a:blip r:embed="rId1"/>
          <a:stretch>
            <a:fillRect/>
          </a:stretch>
        </p:blipFill>
        <p:spPr>
          <a:xfrm>
            <a:off x="984738" y="1051560"/>
            <a:ext cx="7174523" cy="3291840"/>
          </a:xfrm>
          <a:prstGeom prst="rect">
            <a:avLst/>
          </a:prstGeom>
        </p:spPr>
      </p:pic>
      <p:sp>
        <p:nvSpPr>
          <p:cNvPr id="4" name="Text 1"/>
          <p:cNvSpPr txBox="1"/>
          <p:nvPr/>
        </p:nvSpPr>
        <p:spPr>
          <a:xfrm>
            <a:off x="457200" y="4370832"/>
            <a:ext cx="8229600" cy="365760"/>
          </a:xfrm>
          <a:prstGeom prst="rect">
            <a:avLst/>
          </a:prstGeom>
          <a:noFill/>
          <a:ln/>
        </p:spPr>
        <p:txBody>
          <a:bodyPr wrap="square" lIns="0" tIns="0" rIns="0" bIns="0" rtlCol="0" anchor="t"/>
          <a:lstStyle/>
          <a:p>
            <a:pPr indent="0" marL="0">
              <a:buNone/>
            </a:pPr>
            <a:r>
              <a:rPr lang="en-US" sz="1200" dirty="0">
                <a:solidFill>
                  <a:schemeClr val="accent5"/>
                </a:solidFill>
              </a:rPr>
              <a:t>Echo time t becomes distance d, which feeds two branches (near, and beep gap g); moisture m becomes wet. The priority select drives the buzzer.</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State diagram</a:t>
            </a:r>
            <a:endParaRPr lang="en-US" sz="3000" dirty="0"/>
          </a:p>
        </p:txBody>
      </p:sp>
      <p:pic>
        <p:nvPicPr>
          <p:cNvPr id="3" name="state diagram" descr="img/state.png">    </p:cNvPr>
          <p:cNvPicPr>
            <a:picLocks noChangeAspect="1"/>
          </p:cNvPicPr>
          <p:nvPr/>
        </p:nvPicPr>
        <p:blipFill>
          <a:blip r:embed="rId1"/>
          <a:stretch>
            <a:fillRect/>
          </a:stretch>
        </p:blipFill>
        <p:spPr>
          <a:xfrm>
            <a:off x="1360449" y="1051560"/>
            <a:ext cx="6423102" cy="3291840"/>
          </a:xfrm>
          <a:prstGeom prst="rect">
            <a:avLst/>
          </a:prstGeom>
        </p:spPr>
      </p:pic>
      <p:sp>
        <p:nvSpPr>
          <p:cNvPr id="4" name="Text 1"/>
          <p:cNvSpPr txBox="1"/>
          <p:nvPr/>
        </p:nvSpPr>
        <p:spPr>
          <a:xfrm>
            <a:off x="457200" y="4370832"/>
            <a:ext cx="8229600" cy="365760"/>
          </a:xfrm>
          <a:prstGeom prst="rect">
            <a:avLst/>
          </a:prstGeom>
          <a:noFill/>
          <a:ln/>
        </p:spPr>
        <p:txBody>
          <a:bodyPr wrap="square" lIns="0" tIns="0" rIns="0" bIns="0" rtlCol="0" anchor="t"/>
          <a:lstStyle/>
          <a:p>
            <a:pPr indent="0" marL="0">
              <a:buNone/>
            </a:pPr>
            <a:r>
              <a:rPr lang="en-US" sz="1200" dirty="0">
                <a:solidFill>
                  <a:schemeClr val="accent5"/>
                </a:solidFill>
              </a:rPr>
              <a:t>Every loop the system senses, then enters exactly one state: WATER, OBSTACLE or CLEAR. Water always wins.</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Key code logic</a:t>
            </a:r>
            <a:endParaRPr lang="en-US" sz="3000" dirty="0"/>
          </a:p>
        </p:txBody>
      </p:sp>
      <p:sp>
        <p:nvSpPr>
          <p:cNvPr id="3" name="code box"/>
          <p:cNvSpPr/>
          <p:nvPr/>
        </p:nvSpPr>
        <p:spPr>
          <a:xfrm>
            <a:off x="457200" y="1188720"/>
            <a:ext cx="5120640" cy="3383280"/>
          </a:xfrm>
          <a:prstGeom prst="roundRect">
            <a:avLst>
              <a:gd name="adj" fmla="val 3243"/>
            </a:avLst>
          </a:prstGeom>
          <a:solidFill>
            <a:schemeClr val="tx2"/>
          </a:solidFill>
          <a:ln w="12700">
            <a:solidFill>
              <a:schemeClr val="tx2"/>
            </a:solidFill>
            <a:prstDash val="solid"/>
          </a:ln>
          <a:effectLst>
            <a:outerShdw sx="100000" sy="100000" kx="0" ky="0" algn="bl" rotWithShape="0" blurRad="76200" dist="25400" dir="5400000">
              <a:srgbClr val="000000">
                <a:alpha val="15000"/>
              </a:srgbClr>
            </a:outerShdw>
          </a:effectLst>
        </p:spPr>
      </p:sp>
      <p:sp>
        <p:nvSpPr>
          <p:cNvPr id="4" name="Text 2"/>
          <p:cNvSpPr txBox="1"/>
          <p:nvPr/>
        </p:nvSpPr>
        <p:spPr>
          <a:xfrm>
            <a:off x="685800" y="1325880"/>
            <a:ext cx="4754880" cy="3154680"/>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int readDistanceCm()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digitalWrite(TRIG_PIN, HIGH);</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delayMicroseconds(10);</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digitalWrite(TRIG_PIN, LOW);</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unsigned long t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pulseIn(ECHO_PIN, HIGH, 30000);</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return t * 0.034 / 2;</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if (soil &lt; 500)        // water</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buzzer ON (continuous);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else if (d &gt; 0 &amp;&amp; d &lt; 50)</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beep, gap = map(d,2,50,50,400);</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else  buzzer OFF;     // clear</a:t>
            </a:r>
            <a:endParaRPr lang="en-US" sz="1200" dirty="0"/>
          </a:p>
        </p:txBody>
      </p:sp>
      <p:sp>
        <p:nvSpPr>
          <p:cNvPr id="5" name="explanation card"/>
          <p:cNvSpPr/>
          <p:nvPr/>
        </p:nvSpPr>
        <p:spPr>
          <a:xfrm>
            <a:off x="5852160" y="1188720"/>
            <a:ext cx="2834640" cy="1005840"/>
          </a:xfrm>
          <a:prstGeom prst="roundRect">
            <a:avLst>
              <a:gd name="adj" fmla="val 10909"/>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6" name="Text 4"/>
          <p:cNvSpPr txBox="1"/>
          <p:nvPr/>
        </p:nvSpPr>
        <p:spPr>
          <a:xfrm>
            <a:off x="6035040" y="1298448"/>
            <a:ext cx="2560320" cy="320040"/>
          </a:xfrm>
          <a:prstGeom prst="rect">
            <a:avLst/>
          </a:prstGeom>
          <a:noFill/>
          <a:ln/>
        </p:spPr>
        <p:txBody>
          <a:bodyPr wrap="square" lIns="0" tIns="0" rIns="0" bIns="0" rtlCol="0" anchor="t"/>
          <a:lstStyle/>
          <a:p>
            <a:pPr indent="0" marL="0">
              <a:buNone/>
            </a:pPr>
            <a:r>
              <a:rPr lang="en-US" sz="1500" b="1" dirty="0">
                <a:solidFill>
                  <a:schemeClr val="accent2"/>
                </a:solidFill>
              </a:rPr>
              <a:t>pulseIn() timeout</a:t>
            </a:r>
            <a:endParaRPr lang="en-US" sz="1500" dirty="0"/>
          </a:p>
        </p:txBody>
      </p:sp>
      <p:sp>
        <p:nvSpPr>
          <p:cNvPr id="7" name="Text 5"/>
          <p:cNvSpPr txBox="1"/>
          <p:nvPr/>
        </p:nvSpPr>
        <p:spPr>
          <a:xfrm>
            <a:off x="6035040" y="1627632"/>
            <a:ext cx="2560320" cy="548640"/>
          </a:xfrm>
          <a:prstGeom prst="rect">
            <a:avLst/>
          </a:prstGeom>
          <a:noFill/>
          <a:ln/>
        </p:spPr>
        <p:txBody>
          <a:bodyPr wrap="square" lIns="0" tIns="0" rIns="0" bIns="0" rtlCol="0" anchor="t"/>
          <a:lstStyle/>
          <a:p>
            <a:pPr indent="0" marL="0">
              <a:buNone/>
            </a:pPr>
            <a:r>
              <a:rPr lang="en-US" sz="1200" dirty="0">
                <a:solidFill>
                  <a:schemeClr val="tx1"/>
                </a:solidFill>
              </a:rPr>
              <a:t>30 ms, so a missed echo cannot freeze the loop</a:t>
            </a:r>
            <a:endParaRPr lang="en-US" sz="1200" dirty="0"/>
          </a:p>
        </p:txBody>
      </p:sp>
      <p:sp>
        <p:nvSpPr>
          <p:cNvPr id="8" name="explanation card"/>
          <p:cNvSpPr/>
          <p:nvPr/>
        </p:nvSpPr>
        <p:spPr>
          <a:xfrm>
            <a:off x="5852160" y="2331720"/>
            <a:ext cx="2834640" cy="1005840"/>
          </a:xfrm>
          <a:prstGeom prst="roundRect">
            <a:avLst>
              <a:gd name="adj" fmla="val 10909"/>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9" name="Text 7"/>
          <p:cNvSpPr txBox="1"/>
          <p:nvPr/>
        </p:nvSpPr>
        <p:spPr>
          <a:xfrm>
            <a:off x="6035040" y="2441448"/>
            <a:ext cx="2560320" cy="320040"/>
          </a:xfrm>
          <a:prstGeom prst="rect">
            <a:avLst/>
          </a:prstGeom>
          <a:noFill/>
          <a:ln/>
        </p:spPr>
        <p:txBody>
          <a:bodyPr wrap="square" lIns="0" tIns="0" rIns="0" bIns="0" rtlCol="0" anchor="t"/>
          <a:lstStyle/>
          <a:p>
            <a:pPr indent="0" marL="0">
              <a:buNone/>
            </a:pPr>
            <a:r>
              <a:rPr lang="en-US" sz="1500" b="1" dirty="0">
                <a:solidFill>
                  <a:schemeClr val="accent2"/>
                </a:solidFill>
              </a:rPr>
              <a:t>0.034 / 2</a:t>
            </a:r>
            <a:endParaRPr lang="en-US" sz="1500" dirty="0"/>
          </a:p>
        </p:txBody>
      </p:sp>
      <p:sp>
        <p:nvSpPr>
          <p:cNvPr id="10" name="Text 8"/>
          <p:cNvSpPr txBox="1"/>
          <p:nvPr/>
        </p:nvSpPr>
        <p:spPr>
          <a:xfrm>
            <a:off x="6035040" y="2770632"/>
            <a:ext cx="2560320" cy="548640"/>
          </a:xfrm>
          <a:prstGeom prst="rect">
            <a:avLst/>
          </a:prstGeom>
          <a:noFill/>
          <a:ln/>
        </p:spPr>
        <p:txBody>
          <a:bodyPr wrap="square" lIns="0" tIns="0" rIns="0" bIns="0" rtlCol="0" anchor="t"/>
          <a:lstStyle/>
          <a:p>
            <a:pPr indent="0" marL="0">
              <a:buNone/>
            </a:pPr>
            <a:r>
              <a:rPr lang="en-US" sz="1200" dirty="0">
                <a:solidFill>
                  <a:schemeClr val="tx1"/>
                </a:solidFill>
              </a:rPr>
              <a:t>Speed of sound in cm/µs, halved for the round trip</a:t>
            </a:r>
            <a:endParaRPr lang="en-US" sz="1200" dirty="0"/>
          </a:p>
        </p:txBody>
      </p:sp>
      <p:sp>
        <p:nvSpPr>
          <p:cNvPr id="11" name="explanation card"/>
          <p:cNvSpPr/>
          <p:nvPr/>
        </p:nvSpPr>
        <p:spPr>
          <a:xfrm>
            <a:off x="5852160" y="3474720"/>
            <a:ext cx="2834640" cy="1005840"/>
          </a:xfrm>
          <a:prstGeom prst="roundRect">
            <a:avLst>
              <a:gd name="adj" fmla="val 10909"/>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2" name="Text 10"/>
          <p:cNvSpPr txBox="1"/>
          <p:nvPr/>
        </p:nvSpPr>
        <p:spPr>
          <a:xfrm>
            <a:off x="6035040" y="3584448"/>
            <a:ext cx="2560320" cy="320040"/>
          </a:xfrm>
          <a:prstGeom prst="rect">
            <a:avLst/>
          </a:prstGeom>
          <a:noFill/>
          <a:ln/>
        </p:spPr>
        <p:txBody>
          <a:bodyPr wrap="square" lIns="0" tIns="0" rIns="0" bIns="0" rtlCol="0" anchor="t"/>
          <a:lstStyle/>
          <a:p>
            <a:pPr indent="0" marL="0">
              <a:buNone/>
            </a:pPr>
            <a:r>
              <a:rPr lang="en-US" sz="1500" b="1" dirty="0">
                <a:solidFill>
                  <a:schemeClr val="accent2"/>
                </a:solidFill>
              </a:rPr>
              <a:t>map()</a:t>
            </a:r>
            <a:endParaRPr lang="en-US" sz="1500" dirty="0"/>
          </a:p>
        </p:txBody>
      </p:sp>
      <p:sp>
        <p:nvSpPr>
          <p:cNvPr id="13" name="Text 11"/>
          <p:cNvSpPr txBox="1"/>
          <p:nvPr/>
        </p:nvSpPr>
        <p:spPr>
          <a:xfrm>
            <a:off x="6035040" y="3913632"/>
            <a:ext cx="2560320" cy="548640"/>
          </a:xfrm>
          <a:prstGeom prst="rect">
            <a:avLst/>
          </a:prstGeom>
          <a:noFill/>
          <a:ln/>
        </p:spPr>
        <p:txBody>
          <a:bodyPr wrap="square" lIns="0" tIns="0" rIns="0" bIns="0" rtlCol="0" anchor="t"/>
          <a:lstStyle/>
          <a:p>
            <a:pPr indent="0" marL="0">
              <a:buNone/>
            </a:pPr>
            <a:r>
              <a:rPr lang="en-US" sz="1200" dirty="0">
                <a:solidFill>
                  <a:schemeClr val="tx1"/>
                </a:solidFill>
              </a:rPr>
              <a:t>Turns 2–50 cm into a 50–400 ms beep gap</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The prototype</a:t>
            </a:r>
            <a:endParaRPr lang="en-US" sz="3000" dirty="0"/>
          </a:p>
        </p:txBody>
      </p:sp>
      <p:pic>
        <p:nvPicPr>
          <p:cNvPr id="3" name="prototype photo" descr="img/overview.jpg">    </p:cNvPr>
          <p:cNvPicPr>
            <a:picLocks noChangeAspect="1"/>
          </p:cNvPicPr>
          <p:nvPr/>
        </p:nvPicPr>
        <p:blipFill>
          <a:blip r:embed="rId1"/>
          <a:stretch>
            <a:fillRect/>
          </a:stretch>
        </p:blipFill>
        <p:spPr>
          <a:xfrm>
            <a:off x="467315" y="1097280"/>
            <a:ext cx="4551770" cy="3429000"/>
          </a:xfrm>
          <a:prstGeom prst="rect">
            <a:avLst/>
          </a:prstGeom>
        </p:spPr>
      </p:pic>
      <p:pic>
        <p:nvPicPr>
          <p:cNvPr id="4" name="probe photo" descr="img/probe.jpg">    </p:cNvPr>
          <p:cNvPicPr>
            <a:picLocks noChangeAspect="1"/>
          </p:cNvPicPr>
          <p:nvPr/>
        </p:nvPicPr>
        <p:blipFill>
          <a:blip r:embed="rId2"/>
          <a:stretch>
            <a:fillRect/>
          </a:stretch>
        </p:blipFill>
        <p:spPr>
          <a:xfrm>
            <a:off x="5303520" y="1317498"/>
            <a:ext cx="1600200" cy="1205484"/>
          </a:xfrm>
          <a:prstGeom prst="rect">
            <a:avLst/>
          </a:prstGeom>
        </p:spPr>
      </p:pic>
      <p:pic>
        <p:nvPicPr>
          <p:cNvPr id="5" name="LM393 photo" descr="img/lm393.jpg">    </p:cNvPr>
          <p:cNvPicPr>
            <a:picLocks noChangeAspect="1"/>
          </p:cNvPicPr>
          <p:nvPr/>
        </p:nvPicPr>
        <p:blipFill>
          <a:blip r:embed="rId3"/>
          <a:stretch>
            <a:fillRect/>
          </a:stretch>
        </p:blipFill>
        <p:spPr>
          <a:xfrm>
            <a:off x="7086600" y="1317498"/>
            <a:ext cx="1600200" cy="1205484"/>
          </a:xfrm>
          <a:prstGeom prst="rect">
            <a:avLst/>
          </a:prstGeom>
        </p:spPr>
      </p:pic>
      <p:pic>
        <p:nvPicPr>
          <p:cNvPr id="6" name="battery photo" descr="img/battery.jpg">    </p:cNvPr>
          <p:cNvPicPr>
            <a:picLocks noChangeAspect="1"/>
          </p:cNvPicPr>
          <p:nvPr/>
        </p:nvPicPr>
        <p:blipFill>
          <a:blip r:embed="rId4"/>
          <a:stretch>
            <a:fillRect/>
          </a:stretch>
        </p:blipFill>
        <p:spPr>
          <a:xfrm>
            <a:off x="5483657" y="2880360"/>
            <a:ext cx="1239926" cy="1645920"/>
          </a:xfrm>
          <a:prstGeom prst="rect">
            <a:avLst/>
          </a:prstGeom>
        </p:spPr>
      </p:pic>
      <p:pic>
        <p:nvPicPr>
          <p:cNvPr id="7" name="switch photo" descr="img/switch.jpg">    </p:cNvPr>
          <p:cNvPicPr>
            <a:picLocks noChangeAspect="1"/>
          </p:cNvPicPr>
          <p:nvPr/>
        </p:nvPicPr>
        <p:blipFill>
          <a:blip r:embed="rId5"/>
          <a:stretch>
            <a:fillRect/>
          </a:stretch>
        </p:blipFill>
        <p:spPr>
          <a:xfrm>
            <a:off x="7086600" y="3100578"/>
            <a:ext cx="1600200" cy="1205484"/>
          </a:xfrm>
          <a:prstGeom prst="rect">
            <a:avLst/>
          </a:prstGeom>
        </p:spPr>
      </p:pic>
      <p:sp>
        <p:nvSpPr>
          <p:cNvPr id="8" name="Text 1"/>
          <p:cNvSpPr txBox="1"/>
          <p:nvPr/>
        </p:nvSpPr>
        <p:spPr>
          <a:xfrm>
            <a:off x="457200" y="4544568"/>
            <a:ext cx="8229600" cy="228600"/>
          </a:xfrm>
          <a:prstGeom prst="rect">
            <a:avLst/>
          </a:prstGeom>
          <a:noFill/>
          <a:ln/>
        </p:spPr>
        <p:txBody>
          <a:bodyPr wrap="square" lIns="0" tIns="0" rIns="0" bIns="0" rtlCol="0" anchor="t"/>
          <a:lstStyle/>
          <a:p>
            <a:pPr indent="0" marL="0">
              <a:buNone/>
            </a:pPr>
            <a:r>
              <a:rPr lang="en-US" sz="1100" i="1" dirty="0">
                <a:solidFill>
                  <a:schemeClr val="accent5"/>
                </a:solidFill>
              </a:rPr>
              <a:t>Sensors, Nano, buzzer and power are mounted along a PVC pipe; the probe sits at the tip</a:t>
            </a:r>
            <a:endParaRPr lang="en-US" sz="11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Testing and results</a:t>
            </a:r>
            <a:endParaRPr lang="en-US" sz="3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1828800"/>
                <a:gridCol w="2377440"/>
                <a:gridCol w="2651760"/>
                <a:gridCol w="1371600"/>
              </a:tblGrid>
              <a:tr h="457200">
                <a:tc>
                  <a:txBody>
                    <a:bodyPr/>
                    <a:lstStyle/>
                    <a:p>
                      <a:pPr indent="0" marL="0">
                        <a:buNone/>
                      </a:pPr>
                      <a:r>
                        <a:rPr lang="en-US" sz="1400" b="1" dirty="0">
                          <a:solidFill>
                            <a:schemeClr val="bg1"/>
                          </a:solidFill>
                        </a:rPr>
                        <a:t>Test</a:t>
                      </a:r>
                      <a:endParaRPr lang="en-US" sz="1400" dirty="0"/>
                    </a:p>
                  </a:txBody>
                  <a:tcPr marL="91440" marR="91440" marT="45720" marB="45720" anchor="ctr">
                    <a:lnL w="9525" cap="flat" cmpd="sng" algn="ctr">
                      <a:solidFill>
                        <a:srgbClr val="8DA9C4"/>
                      </a:solidFill>
                      <a:prstDash val="solid"/>
                      <a:round/>
                      <a:headEnd type="none" w="med" len="med"/>
                      <a:tailEnd type="none" w="med" len="med"/>
                    </a:lnL>
                    <a:lnR w="9525" cap="flat" cmpd="sng" algn="ctr">
                      <a:solidFill>
                        <a:srgbClr val="8DA9C4"/>
                      </a:solidFill>
                      <a:prstDash val="solid"/>
                      <a:round/>
                      <a:headEnd type="none" w="med" len="med"/>
                      <a:tailEnd type="none" w="med" len="med"/>
                    </a:lnR>
                    <a:lnT w="9525" cap="flat" cmpd="sng" algn="ctr">
                      <a:solidFill>
                        <a:srgbClr val="8DA9C4"/>
                      </a:solidFill>
                      <a:prstDash val="solid"/>
                      <a:round/>
                      <a:headEnd type="none" w="med" len="med"/>
                      <a:tailEnd type="none" w="med" len="med"/>
                    </a:lnT>
                    <a:lnB w="9525" cap="flat" cmpd="sng" algn="ctr">
                      <a:solidFill>
                        <a:srgbClr val="8DA9C4"/>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Method</a:t>
                      </a:r>
                      <a:endParaRPr lang="en-US" sz="1400" dirty="0"/>
                    </a:p>
                  </a:txBody>
                  <a:tcPr marL="91440" marR="91440" marT="45720" marB="45720" anchor="ctr">
                    <a:lnL w="9525" cap="flat" cmpd="sng" algn="ctr">
                      <a:solidFill>
                        <a:srgbClr val="8DA9C4"/>
                      </a:solidFill>
                      <a:prstDash val="solid"/>
                      <a:round/>
                      <a:headEnd type="none" w="med" len="med"/>
                      <a:tailEnd type="none" w="med" len="med"/>
                    </a:lnL>
                    <a:lnR w="9525" cap="flat" cmpd="sng" algn="ctr">
                      <a:solidFill>
                        <a:srgbClr val="8DA9C4"/>
                      </a:solidFill>
                      <a:prstDash val="solid"/>
                      <a:round/>
                      <a:headEnd type="none" w="med" len="med"/>
                      <a:tailEnd type="none" w="med" len="med"/>
                    </a:lnR>
                    <a:lnT w="9525" cap="flat" cmpd="sng" algn="ctr">
                      <a:solidFill>
                        <a:srgbClr val="8DA9C4"/>
                      </a:solidFill>
                      <a:prstDash val="solid"/>
                      <a:round/>
                      <a:headEnd type="none" w="med" len="med"/>
                      <a:tailEnd type="none" w="med" len="med"/>
                    </a:lnT>
                    <a:lnB w="9525" cap="flat" cmpd="sng" algn="ctr">
                      <a:solidFill>
                        <a:srgbClr val="8DA9C4"/>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Expected</a:t>
                      </a:r>
                      <a:endParaRPr lang="en-US" sz="1400" dirty="0"/>
                    </a:p>
                  </a:txBody>
                  <a:tcPr marL="91440" marR="91440" marT="45720" marB="45720" anchor="ctr">
                    <a:lnL w="9525" cap="flat" cmpd="sng" algn="ctr">
                      <a:solidFill>
                        <a:srgbClr val="8DA9C4"/>
                      </a:solidFill>
                      <a:prstDash val="solid"/>
                      <a:round/>
                      <a:headEnd type="none" w="med" len="med"/>
                      <a:tailEnd type="none" w="med" len="med"/>
                    </a:lnL>
                    <a:lnR w="9525" cap="flat" cmpd="sng" algn="ctr">
                      <a:solidFill>
                        <a:srgbClr val="8DA9C4"/>
                      </a:solidFill>
                      <a:prstDash val="solid"/>
                      <a:round/>
                      <a:headEnd type="none" w="med" len="med"/>
                      <a:tailEnd type="none" w="med" len="med"/>
                    </a:lnR>
                    <a:lnT w="9525" cap="flat" cmpd="sng" algn="ctr">
                      <a:solidFill>
                        <a:srgbClr val="8DA9C4"/>
                      </a:solidFill>
                      <a:prstDash val="solid"/>
                      <a:round/>
                      <a:headEnd type="none" w="med" len="med"/>
                      <a:tailEnd type="none" w="med" len="med"/>
                    </a:lnT>
                    <a:lnB w="9525" cap="flat" cmpd="sng" algn="ctr">
                      <a:solidFill>
                        <a:srgbClr val="8DA9C4"/>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Result</a:t>
                      </a:r>
                      <a:endParaRPr lang="en-US" sz="1400" dirty="0"/>
                    </a:p>
                  </a:txBody>
                  <a:tcPr marL="91440" marR="91440" marT="45720" marB="45720" anchor="ctr">
                    <a:lnL w="9525" cap="flat" cmpd="sng" algn="ctr">
                      <a:solidFill>
                        <a:srgbClr val="8DA9C4"/>
                      </a:solidFill>
                      <a:prstDash val="solid"/>
                      <a:round/>
                      <a:headEnd type="none" w="med" len="med"/>
                      <a:tailEnd type="none" w="med" len="med"/>
                    </a:lnL>
                    <a:lnR w="9525" cap="flat" cmpd="sng" algn="ctr">
                      <a:solidFill>
                        <a:srgbClr val="8DA9C4"/>
                      </a:solidFill>
                      <a:prstDash val="solid"/>
                      <a:round/>
                      <a:headEnd type="none" w="med" len="med"/>
                      <a:tailEnd type="none" w="med" len="med"/>
                    </a:lnR>
                    <a:lnT w="9525" cap="flat" cmpd="sng" algn="ctr">
                      <a:solidFill>
                        <a:srgbClr val="8DA9C4"/>
                      </a:solidFill>
                      <a:prstDash val="solid"/>
                      <a:round/>
                      <a:headEnd type="none" w="med" len="med"/>
                      <a:tailEnd type="none" w="med" len="med"/>
                    </a:lnT>
                    <a:lnB w="9525" cap="flat" cmpd="sng" algn="ctr">
                      <a:solidFill>
                        <a:srgbClr val="8DA9C4"/>
                      </a:solidFill>
                      <a:prstDash val="solid"/>
                      <a:round/>
                      <a:headEnd type="none" w="med" len="med"/>
                      <a:tailEnd type="none" w="med" len="med"/>
                    </a:lnB>
                    <a:solidFill>
                      <a:schemeClr val="tx2"/>
                    </a:solidFill>
                  </a:tcPr>
                </a:tc>
              </a:tr>
              <a:tr h="457200">
                <a:tc>
                  <a:txBody>
                    <a:bodyPr/>
                    <a:lstStyle/>
                    <a:p>
                      <a:pPr indent="0" marL="0">
                        <a:buNone/>
                      </a:pPr>
                      <a:r>
                        <a:rPr lang="en-US" sz="1400" dirty="0">
                          <a:solidFill>
                            <a:schemeClr val="tx1"/>
                          </a:solidFill>
                        </a:rPr>
                        <a:t>Power on battery</a:t>
                      </a:r>
                      <a:endParaRPr lang="en-US" sz="1400" dirty="0"/>
                    </a:p>
                  </a:txBody>
                  <a:tcPr marL="91440" marR="91440" marT="45720" marB="45720" anchor="ctr">
                    <a:lnL w="9525" cap="flat" cmpd="sng" algn="ctr">
                      <a:solidFill>
                        <a:srgbClr val="8DA9C4"/>
                      </a:solidFill>
                      <a:prstDash val="solid"/>
                      <a:round/>
                      <a:headEnd type="none" w="med" len="med"/>
                      <a:tailEnd type="none" w="med" len="med"/>
                    </a:lnL>
                    <a:lnR w="9525" cap="flat" cmpd="sng" algn="ctr">
                      <a:solidFill>
                        <a:srgbClr val="8DA9C4"/>
                      </a:solidFill>
                      <a:prstDash val="solid"/>
                      <a:round/>
                      <a:headEnd type="none" w="med" len="med"/>
                      <a:tailEnd type="none" w="med" len="med"/>
                    </a:lnR>
                    <a:lnT w="9525" cap="flat" cmpd="sng" algn="ctr">
                      <a:solidFill>
                        <a:srgbClr val="8DA9C4"/>
                      </a:solidFill>
                      <a:prstDash val="solid"/>
                      <a:round/>
                      <a:headEnd type="none" w="med" len="med"/>
                      <a:tailEnd type="none" w="med" len="med"/>
                    </a:lnT>
                    <a:lnB w="9525" cap="flat" cmpd="sng" algn="ctr">
                      <a:solidFill>
                        <a:srgbClr val="8DA9C4"/>
                      </a:solidFill>
                      <a:prstDash val="solid"/>
                      <a:round/>
                      <a:headEnd type="none" w="med" len="med"/>
                      <a:tailEnd type="none" w="med" len="med"/>
                    </a:lnB>
                  </a:tcPr>
                </a:tc>
                <a:tc>
                  <a:txBody>
                    <a:bodyPr/>
                    <a:lstStyle/>
                    <a:p>
                      <a:pPr indent="0" marL="0">
                        <a:buNone/>
                      </a:pPr>
                      <a:r>
                        <a:rPr lang="en-US" sz="1400" dirty="0">
                          <a:solidFill>
                            <a:schemeClr val="tx1"/>
                          </a:solidFill>
                        </a:rPr>
                        <a:t>Switch ON, no USB</a:t>
                      </a:r>
                      <a:endParaRPr lang="en-US" sz="1400" dirty="0"/>
                    </a:p>
                  </a:txBody>
                  <a:tcPr marL="91440" marR="91440" marT="45720" marB="45720" anchor="ctr">
                    <a:lnL w="9525" cap="flat" cmpd="sng" algn="ctr">
                      <a:solidFill>
                        <a:srgbClr val="8DA9C4"/>
                      </a:solidFill>
                      <a:prstDash val="solid"/>
                      <a:round/>
                      <a:headEnd type="none" w="med" len="med"/>
                      <a:tailEnd type="none" w="med" len="med"/>
                    </a:lnL>
                    <a:lnR w="9525" cap="flat" cmpd="sng" algn="ctr">
                      <a:solidFill>
                        <a:srgbClr val="8DA9C4"/>
                      </a:solidFill>
                      <a:prstDash val="solid"/>
                      <a:round/>
                      <a:headEnd type="none" w="med" len="med"/>
                      <a:tailEnd type="none" w="med" len="med"/>
                    </a:lnR>
                    <a:lnT w="9525" cap="flat" cmpd="sng" algn="ctr">
                      <a:solidFill>
                        <a:srgbClr val="8DA9C4"/>
                      </a:solidFill>
                      <a:prstDash val="solid"/>
                      <a:round/>
                      <a:headEnd type="none" w="med" len="med"/>
                      <a:tailEnd type="none" w="med" len="med"/>
                    </a:lnT>
                    <a:lnB w="9525" cap="flat" cmpd="sng" algn="ctr">
                      <a:solidFill>
                        <a:srgbClr val="8DA9C4"/>
                      </a:solidFill>
                      <a:prstDash val="solid"/>
                      <a:round/>
                      <a:headEnd type="none" w="med" len="med"/>
                      <a:tailEnd type="none" w="med" len="med"/>
                    </a:lnB>
                  </a:tcPr>
                </a:tc>
                <a:tc>
                  <a:txBody>
                    <a:bodyPr/>
                    <a:lstStyle/>
                    <a:p>
                      <a:pPr indent="0" marL="0">
                        <a:buNone/>
                      </a:pPr>
                      <a:r>
                        <a:rPr lang="en-US" sz="1400" dirty="0">
                          <a:solidFill>
                            <a:schemeClr val="tx1"/>
                          </a:solidFill>
                        </a:rPr>
                        <a:t>Nano LED on, system runs</a:t>
                      </a:r>
                      <a:endParaRPr lang="en-US" sz="1400" dirty="0"/>
                    </a:p>
                  </a:txBody>
                  <a:tcPr marL="91440" marR="91440" marT="45720" marB="45720" anchor="ctr">
                    <a:lnL w="9525" cap="flat" cmpd="sng" algn="ctr">
                      <a:solidFill>
                        <a:srgbClr val="8DA9C4"/>
                      </a:solidFill>
                      <a:prstDash val="solid"/>
                      <a:round/>
                      <a:headEnd type="none" w="med" len="med"/>
                      <a:tailEnd type="none" w="med" len="med"/>
                    </a:lnL>
                    <a:lnR w="9525" cap="flat" cmpd="sng" algn="ctr">
                      <a:solidFill>
                        <a:srgbClr val="8DA9C4"/>
                      </a:solidFill>
                      <a:prstDash val="solid"/>
                      <a:round/>
                      <a:headEnd type="none" w="med" len="med"/>
                      <a:tailEnd type="none" w="med" len="med"/>
                    </a:lnR>
                    <a:lnT w="9525" cap="flat" cmpd="sng" algn="ctr">
                      <a:solidFill>
                        <a:srgbClr val="8DA9C4"/>
                      </a:solidFill>
                      <a:prstDash val="solid"/>
                      <a:round/>
                      <a:headEnd type="none" w="med" len="med"/>
                      <a:tailEnd type="none" w="med" len="med"/>
                    </a:lnT>
                    <a:lnB w="9525" cap="flat" cmpd="sng" algn="ctr">
                      <a:solidFill>
                        <a:srgbClr val="8DA9C4"/>
                      </a:solidFill>
                      <a:prstDash val="solid"/>
                      <a:round/>
                      <a:headEnd type="none" w="med" len="med"/>
                      <a:tailEnd type="none" w="med" len="med"/>
                    </a:lnB>
                  </a:tcPr>
                </a:tc>
                <a:tc>
                  <a:txBody>
                    <a:bodyPr/>
                    <a:lstStyle/>
                    <a:p>
                      <a:pPr indent="0" marL="0">
                        <a:buNone/>
                      </a:pPr>
                      <a:r>
                        <a:rPr lang="en-US" sz="1400" b="1" dirty="0">
                          <a:solidFill>
                            <a:schemeClr val="accent4"/>
                          </a:solidFill>
                        </a:rPr>
                        <a:t>Verified</a:t>
                      </a:r>
                      <a:endParaRPr lang="en-US" sz="1400" dirty="0"/>
                    </a:p>
                  </a:txBody>
                  <a:tcPr marL="91440" marR="91440" marT="45720" marB="45720" anchor="ctr">
                    <a:lnL w="9525" cap="flat" cmpd="sng" algn="ctr">
                      <a:solidFill>
                        <a:srgbClr val="8DA9C4"/>
                      </a:solidFill>
                      <a:prstDash val="solid"/>
                      <a:round/>
                      <a:headEnd type="none" w="med" len="med"/>
                      <a:tailEnd type="none" w="med" len="med"/>
                    </a:lnL>
                    <a:lnR w="9525" cap="flat" cmpd="sng" algn="ctr">
                      <a:solidFill>
                        <a:srgbClr val="8DA9C4"/>
                      </a:solidFill>
                      <a:prstDash val="solid"/>
                      <a:round/>
                      <a:headEnd type="none" w="med" len="med"/>
                      <a:tailEnd type="none" w="med" len="med"/>
                    </a:lnR>
                    <a:lnT w="9525" cap="flat" cmpd="sng" algn="ctr">
                      <a:solidFill>
                        <a:srgbClr val="8DA9C4"/>
                      </a:solidFill>
                      <a:prstDash val="solid"/>
                      <a:round/>
                      <a:headEnd type="none" w="med" len="med"/>
                      <a:tailEnd type="none" w="med" len="med"/>
                    </a:lnT>
                    <a:lnB w="9525" cap="flat" cmpd="sng" algn="ctr">
                      <a:solidFill>
                        <a:srgbClr val="8DA9C4"/>
                      </a:solidFill>
                      <a:prstDash val="solid"/>
                      <a:round/>
                      <a:headEnd type="none" w="med" len="med"/>
                      <a:tailEnd type="none" w="med" len="med"/>
                    </a:lnB>
                  </a:tcPr>
                </a:tc>
              </a:tr>
              <a:tr h="457200">
                <a:tc>
                  <a:txBody>
                    <a:bodyPr/>
                    <a:lstStyle/>
                    <a:p>
                      <a:pPr indent="0" marL="0">
                        <a:buNone/>
                      </a:pPr>
                      <a:r>
                        <a:rPr lang="en-US" sz="1400" dirty="0">
                          <a:solidFill>
                            <a:schemeClr val="tx1"/>
                          </a:solidFill>
                        </a:rPr>
                        <a:t>Obstacle alert</a:t>
                      </a:r>
                      <a:endParaRPr lang="en-US" sz="1400" dirty="0"/>
                    </a:p>
                  </a:txBody>
                  <a:tcPr marL="91440" marR="91440" marT="45720" marB="45720" anchor="ctr">
                    <a:lnL w="9525" cap="flat" cmpd="sng" algn="ctr">
                      <a:solidFill>
                        <a:srgbClr val="8DA9C4"/>
                      </a:solidFill>
                      <a:prstDash val="solid"/>
                      <a:round/>
                      <a:headEnd type="none" w="med" len="med"/>
                      <a:tailEnd type="none" w="med" len="med"/>
                    </a:lnL>
                    <a:lnR w="9525" cap="flat" cmpd="sng" algn="ctr">
                      <a:solidFill>
                        <a:srgbClr val="8DA9C4"/>
                      </a:solidFill>
                      <a:prstDash val="solid"/>
                      <a:round/>
                      <a:headEnd type="none" w="med" len="med"/>
                      <a:tailEnd type="none" w="med" len="med"/>
                    </a:lnR>
                    <a:lnT w="9525" cap="flat" cmpd="sng" algn="ctr">
                      <a:solidFill>
                        <a:srgbClr val="8DA9C4"/>
                      </a:solidFill>
                      <a:prstDash val="solid"/>
                      <a:round/>
                      <a:headEnd type="none" w="med" len="med"/>
                      <a:tailEnd type="none" w="med" len="med"/>
                    </a:lnT>
                    <a:lnB w="9525" cap="flat" cmpd="sng" algn="ctr">
                      <a:solidFill>
                        <a:srgbClr val="8DA9C4"/>
                      </a:solidFill>
                      <a:prstDash val="solid"/>
                      <a:round/>
                      <a:headEnd type="none" w="med" len="med"/>
                      <a:tailEnd type="none" w="med" len="med"/>
                    </a:lnB>
                  </a:tcPr>
                </a:tc>
                <a:tc>
                  <a:txBody>
                    <a:bodyPr/>
                    <a:lstStyle/>
                    <a:p>
                      <a:pPr indent="0" marL="0">
                        <a:buNone/>
                      </a:pPr>
                      <a:r>
                        <a:rPr lang="en-US" sz="1400" dirty="0">
                          <a:solidFill>
                            <a:schemeClr val="tx1"/>
                          </a:solidFill>
                        </a:rPr>
                        <a:t>Move a notebook from 60 to 5 cm</a:t>
                      </a:r>
                      <a:endParaRPr lang="en-US" sz="1400" dirty="0"/>
                    </a:p>
                  </a:txBody>
                  <a:tcPr marL="91440" marR="91440" marT="45720" marB="45720" anchor="ctr">
                    <a:lnL w="9525" cap="flat" cmpd="sng" algn="ctr">
                      <a:solidFill>
                        <a:srgbClr val="8DA9C4"/>
                      </a:solidFill>
                      <a:prstDash val="solid"/>
                      <a:round/>
                      <a:headEnd type="none" w="med" len="med"/>
                      <a:tailEnd type="none" w="med" len="med"/>
                    </a:lnL>
                    <a:lnR w="9525" cap="flat" cmpd="sng" algn="ctr">
                      <a:solidFill>
                        <a:srgbClr val="8DA9C4"/>
                      </a:solidFill>
                      <a:prstDash val="solid"/>
                      <a:round/>
                      <a:headEnd type="none" w="med" len="med"/>
                      <a:tailEnd type="none" w="med" len="med"/>
                    </a:lnR>
                    <a:lnT w="9525" cap="flat" cmpd="sng" algn="ctr">
                      <a:solidFill>
                        <a:srgbClr val="8DA9C4"/>
                      </a:solidFill>
                      <a:prstDash val="solid"/>
                      <a:round/>
                      <a:headEnd type="none" w="med" len="med"/>
                      <a:tailEnd type="none" w="med" len="med"/>
                    </a:lnT>
                    <a:lnB w="9525" cap="flat" cmpd="sng" algn="ctr">
                      <a:solidFill>
                        <a:srgbClr val="8DA9C4"/>
                      </a:solidFill>
                      <a:prstDash val="solid"/>
                      <a:round/>
                      <a:headEnd type="none" w="med" len="med"/>
                      <a:tailEnd type="none" w="med" len="med"/>
                    </a:lnB>
                  </a:tcPr>
                </a:tc>
                <a:tc>
                  <a:txBody>
                    <a:bodyPr/>
                    <a:lstStyle/>
                    <a:p>
                      <a:pPr indent="0" marL="0">
                        <a:buNone/>
                      </a:pPr>
                      <a:r>
                        <a:rPr lang="en-US" sz="1400" dirty="0">
                          <a:solidFill>
                            <a:schemeClr val="tx1"/>
                          </a:solidFill>
                        </a:rPr>
                        <a:t>Beeps under 50 cm, faster when closer</a:t>
                      </a:r>
                      <a:endParaRPr lang="en-US" sz="1400" dirty="0"/>
                    </a:p>
                  </a:txBody>
                  <a:tcPr marL="91440" marR="91440" marT="45720" marB="45720" anchor="ctr">
                    <a:lnL w="9525" cap="flat" cmpd="sng" algn="ctr">
                      <a:solidFill>
                        <a:srgbClr val="8DA9C4"/>
                      </a:solidFill>
                      <a:prstDash val="solid"/>
                      <a:round/>
                      <a:headEnd type="none" w="med" len="med"/>
                      <a:tailEnd type="none" w="med" len="med"/>
                    </a:lnL>
                    <a:lnR w="9525" cap="flat" cmpd="sng" algn="ctr">
                      <a:solidFill>
                        <a:srgbClr val="8DA9C4"/>
                      </a:solidFill>
                      <a:prstDash val="solid"/>
                      <a:round/>
                      <a:headEnd type="none" w="med" len="med"/>
                      <a:tailEnd type="none" w="med" len="med"/>
                    </a:lnR>
                    <a:lnT w="9525" cap="flat" cmpd="sng" algn="ctr">
                      <a:solidFill>
                        <a:srgbClr val="8DA9C4"/>
                      </a:solidFill>
                      <a:prstDash val="solid"/>
                      <a:round/>
                      <a:headEnd type="none" w="med" len="med"/>
                      <a:tailEnd type="none" w="med" len="med"/>
                    </a:lnT>
                    <a:lnB w="9525" cap="flat" cmpd="sng" algn="ctr">
                      <a:solidFill>
                        <a:srgbClr val="8DA9C4"/>
                      </a:solidFill>
                      <a:prstDash val="solid"/>
                      <a:round/>
                      <a:headEnd type="none" w="med" len="med"/>
                      <a:tailEnd type="none" w="med" len="med"/>
                    </a:lnB>
                  </a:tcPr>
                </a:tc>
                <a:tc>
                  <a:txBody>
                    <a:bodyPr/>
                    <a:lstStyle/>
                    <a:p>
                      <a:pPr indent="0" marL="0">
                        <a:buNone/>
                      </a:pPr>
                      <a:r>
                        <a:rPr lang="en-US" sz="1400" b="1" dirty="0">
                          <a:solidFill>
                            <a:schemeClr val="accent4"/>
                          </a:solidFill>
                        </a:rPr>
                        <a:t>Verified</a:t>
                      </a:r>
                      <a:endParaRPr lang="en-US" sz="1400" dirty="0"/>
                    </a:p>
                  </a:txBody>
                  <a:tcPr marL="91440" marR="91440" marT="45720" marB="45720" anchor="ctr">
                    <a:lnL w="9525" cap="flat" cmpd="sng" algn="ctr">
                      <a:solidFill>
                        <a:srgbClr val="8DA9C4"/>
                      </a:solidFill>
                      <a:prstDash val="solid"/>
                      <a:round/>
                      <a:headEnd type="none" w="med" len="med"/>
                      <a:tailEnd type="none" w="med" len="med"/>
                    </a:lnL>
                    <a:lnR w="9525" cap="flat" cmpd="sng" algn="ctr">
                      <a:solidFill>
                        <a:srgbClr val="8DA9C4"/>
                      </a:solidFill>
                      <a:prstDash val="solid"/>
                      <a:round/>
                      <a:headEnd type="none" w="med" len="med"/>
                      <a:tailEnd type="none" w="med" len="med"/>
                    </a:lnR>
                    <a:lnT w="9525" cap="flat" cmpd="sng" algn="ctr">
                      <a:solidFill>
                        <a:srgbClr val="8DA9C4"/>
                      </a:solidFill>
                      <a:prstDash val="solid"/>
                      <a:round/>
                      <a:headEnd type="none" w="med" len="med"/>
                      <a:tailEnd type="none" w="med" len="med"/>
                    </a:lnT>
                    <a:lnB w="9525" cap="flat" cmpd="sng" algn="ctr">
                      <a:solidFill>
                        <a:srgbClr val="8DA9C4"/>
                      </a:solidFill>
                      <a:prstDash val="solid"/>
                      <a:round/>
                      <a:headEnd type="none" w="med" len="med"/>
                      <a:tailEnd type="none" w="med" len="med"/>
                    </a:lnB>
                  </a:tcPr>
                </a:tc>
              </a:tr>
              <a:tr h="457200">
                <a:tc>
                  <a:txBody>
                    <a:bodyPr/>
                    <a:lstStyle/>
                    <a:p>
                      <a:pPr indent="0" marL="0">
                        <a:buNone/>
                      </a:pPr>
                      <a:r>
                        <a:rPr lang="en-US" sz="1400" dirty="0">
                          <a:solidFill>
                            <a:schemeClr val="tx1"/>
                          </a:solidFill>
                        </a:rPr>
                        <a:t>Path clear</a:t>
                      </a:r>
                      <a:endParaRPr lang="en-US" sz="1400" dirty="0"/>
                    </a:p>
                  </a:txBody>
                  <a:tcPr marL="91440" marR="91440" marT="45720" marB="45720" anchor="ctr">
                    <a:lnL w="9525" cap="flat" cmpd="sng" algn="ctr">
                      <a:solidFill>
                        <a:srgbClr val="8DA9C4"/>
                      </a:solidFill>
                      <a:prstDash val="solid"/>
                      <a:round/>
                      <a:headEnd type="none" w="med" len="med"/>
                      <a:tailEnd type="none" w="med" len="med"/>
                    </a:lnL>
                    <a:lnR w="9525" cap="flat" cmpd="sng" algn="ctr">
                      <a:solidFill>
                        <a:srgbClr val="8DA9C4"/>
                      </a:solidFill>
                      <a:prstDash val="solid"/>
                      <a:round/>
                      <a:headEnd type="none" w="med" len="med"/>
                      <a:tailEnd type="none" w="med" len="med"/>
                    </a:lnR>
                    <a:lnT w="9525" cap="flat" cmpd="sng" algn="ctr">
                      <a:solidFill>
                        <a:srgbClr val="8DA9C4"/>
                      </a:solidFill>
                      <a:prstDash val="solid"/>
                      <a:round/>
                      <a:headEnd type="none" w="med" len="med"/>
                      <a:tailEnd type="none" w="med" len="med"/>
                    </a:lnT>
                    <a:lnB w="9525" cap="flat" cmpd="sng" algn="ctr">
                      <a:solidFill>
                        <a:srgbClr val="8DA9C4"/>
                      </a:solidFill>
                      <a:prstDash val="solid"/>
                      <a:round/>
                      <a:headEnd type="none" w="med" len="med"/>
                      <a:tailEnd type="none" w="med" len="med"/>
                    </a:lnB>
                  </a:tcPr>
                </a:tc>
                <a:tc>
                  <a:txBody>
                    <a:bodyPr/>
                    <a:lstStyle/>
                    <a:p>
                      <a:pPr indent="0" marL="0">
                        <a:buNone/>
                      </a:pPr>
                      <a:r>
                        <a:rPr lang="en-US" sz="1400" dirty="0">
                          <a:solidFill>
                            <a:schemeClr val="tx1"/>
                          </a:solidFill>
                        </a:rPr>
                        <a:t>Point at open space</a:t>
                      </a:r>
                      <a:endParaRPr lang="en-US" sz="1400" dirty="0"/>
                    </a:p>
                  </a:txBody>
                  <a:tcPr marL="91440" marR="91440" marT="45720" marB="45720" anchor="ctr">
                    <a:lnL w="9525" cap="flat" cmpd="sng" algn="ctr">
                      <a:solidFill>
                        <a:srgbClr val="8DA9C4"/>
                      </a:solidFill>
                      <a:prstDash val="solid"/>
                      <a:round/>
                      <a:headEnd type="none" w="med" len="med"/>
                      <a:tailEnd type="none" w="med" len="med"/>
                    </a:lnL>
                    <a:lnR w="9525" cap="flat" cmpd="sng" algn="ctr">
                      <a:solidFill>
                        <a:srgbClr val="8DA9C4"/>
                      </a:solidFill>
                      <a:prstDash val="solid"/>
                      <a:round/>
                      <a:headEnd type="none" w="med" len="med"/>
                      <a:tailEnd type="none" w="med" len="med"/>
                    </a:lnR>
                    <a:lnT w="9525" cap="flat" cmpd="sng" algn="ctr">
                      <a:solidFill>
                        <a:srgbClr val="8DA9C4"/>
                      </a:solidFill>
                      <a:prstDash val="solid"/>
                      <a:round/>
                      <a:headEnd type="none" w="med" len="med"/>
                      <a:tailEnd type="none" w="med" len="med"/>
                    </a:lnT>
                    <a:lnB w="9525" cap="flat" cmpd="sng" algn="ctr">
                      <a:solidFill>
                        <a:srgbClr val="8DA9C4"/>
                      </a:solidFill>
                      <a:prstDash val="solid"/>
                      <a:round/>
                      <a:headEnd type="none" w="med" len="med"/>
                      <a:tailEnd type="none" w="med" len="med"/>
                    </a:lnB>
                  </a:tcPr>
                </a:tc>
                <a:tc>
                  <a:txBody>
                    <a:bodyPr/>
                    <a:lstStyle/>
                    <a:p>
                      <a:pPr indent="0" marL="0">
                        <a:buNone/>
                      </a:pPr>
                      <a:r>
                        <a:rPr lang="en-US" sz="1400" dirty="0">
                          <a:solidFill>
                            <a:schemeClr val="tx1"/>
                          </a:solidFill>
                        </a:rPr>
                        <a:t>Silent</a:t>
                      </a:r>
                      <a:endParaRPr lang="en-US" sz="1400" dirty="0"/>
                    </a:p>
                  </a:txBody>
                  <a:tcPr marL="91440" marR="91440" marT="45720" marB="45720" anchor="ctr">
                    <a:lnL w="9525" cap="flat" cmpd="sng" algn="ctr">
                      <a:solidFill>
                        <a:srgbClr val="8DA9C4"/>
                      </a:solidFill>
                      <a:prstDash val="solid"/>
                      <a:round/>
                      <a:headEnd type="none" w="med" len="med"/>
                      <a:tailEnd type="none" w="med" len="med"/>
                    </a:lnL>
                    <a:lnR w="9525" cap="flat" cmpd="sng" algn="ctr">
                      <a:solidFill>
                        <a:srgbClr val="8DA9C4"/>
                      </a:solidFill>
                      <a:prstDash val="solid"/>
                      <a:round/>
                      <a:headEnd type="none" w="med" len="med"/>
                      <a:tailEnd type="none" w="med" len="med"/>
                    </a:lnR>
                    <a:lnT w="9525" cap="flat" cmpd="sng" algn="ctr">
                      <a:solidFill>
                        <a:srgbClr val="8DA9C4"/>
                      </a:solidFill>
                      <a:prstDash val="solid"/>
                      <a:round/>
                      <a:headEnd type="none" w="med" len="med"/>
                      <a:tailEnd type="none" w="med" len="med"/>
                    </a:lnT>
                    <a:lnB w="9525" cap="flat" cmpd="sng" algn="ctr">
                      <a:solidFill>
                        <a:srgbClr val="8DA9C4"/>
                      </a:solidFill>
                      <a:prstDash val="solid"/>
                      <a:round/>
                      <a:headEnd type="none" w="med" len="med"/>
                      <a:tailEnd type="none" w="med" len="med"/>
                    </a:lnB>
                  </a:tcPr>
                </a:tc>
                <a:tc>
                  <a:txBody>
                    <a:bodyPr/>
                    <a:lstStyle/>
                    <a:p>
                      <a:pPr indent="0" marL="0">
                        <a:buNone/>
                      </a:pPr>
                      <a:r>
                        <a:rPr lang="en-US" sz="1400" b="1" dirty="0">
                          <a:solidFill>
                            <a:schemeClr val="accent1"/>
                          </a:solidFill>
                        </a:rPr>
                        <a:t>To confirm</a:t>
                      </a:r>
                      <a:endParaRPr lang="en-US" sz="1400" dirty="0"/>
                    </a:p>
                  </a:txBody>
                  <a:tcPr marL="91440" marR="91440" marT="45720" marB="45720" anchor="ctr">
                    <a:lnL w="9525" cap="flat" cmpd="sng" algn="ctr">
                      <a:solidFill>
                        <a:srgbClr val="8DA9C4"/>
                      </a:solidFill>
                      <a:prstDash val="solid"/>
                      <a:round/>
                      <a:headEnd type="none" w="med" len="med"/>
                      <a:tailEnd type="none" w="med" len="med"/>
                    </a:lnL>
                    <a:lnR w="9525" cap="flat" cmpd="sng" algn="ctr">
                      <a:solidFill>
                        <a:srgbClr val="8DA9C4"/>
                      </a:solidFill>
                      <a:prstDash val="solid"/>
                      <a:round/>
                      <a:headEnd type="none" w="med" len="med"/>
                      <a:tailEnd type="none" w="med" len="med"/>
                    </a:lnR>
                    <a:lnT w="9525" cap="flat" cmpd="sng" algn="ctr">
                      <a:solidFill>
                        <a:srgbClr val="8DA9C4"/>
                      </a:solidFill>
                      <a:prstDash val="solid"/>
                      <a:round/>
                      <a:headEnd type="none" w="med" len="med"/>
                      <a:tailEnd type="none" w="med" len="med"/>
                    </a:lnT>
                    <a:lnB w="9525" cap="flat" cmpd="sng" algn="ctr">
                      <a:solidFill>
                        <a:srgbClr val="8DA9C4"/>
                      </a:solidFill>
                      <a:prstDash val="solid"/>
                      <a:round/>
                      <a:headEnd type="none" w="med" len="med"/>
                      <a:tailEnd type="none" w="med" len="med"/>
                    </a:lnB>
                  </a:tcPr>
                </a:tc>
              </a:tr>
              <a:tr h="457200">
                <a:tc>
                  <a:txBody>
                    <a:bodyPr/>
                    <a:lstStyle/>
                    <a:p>
                      <a:pPr indent="0" marL="0">
                        <a:buNone/>
                      </a:pPr>
                      <a:r>
                        <a:rPr lang="en-US" sz="1400" dirty="0">
                          <a:solidFill>
                            <a:schemeClr val="tx1"/>
                          </a:solidFill>
                        </a:rPr>
                        <a:t>Water alert</a:t>
                      </a:r>
                      <a:endParaRPr lang="en-US" sz="1400" dirty="0"/>
                    </a:p>
                  </a:txBody>
                  <a:tcPr marL="91440" marR="91440" marT="45720" marB="45720" anchor="ctr">
                    <a:lnL w="9525" cap="flat" cmpd="sng" algn="ctr">
                      <a:solidFill>
                        <a:srgbClr val="8DA9C4"/>
                      </a:solidFill>
                      <a:prstDash val="solid"/>
                      <a:round/>
                      <a:headEnd type="none" w="med" len="med"/>
                      <a:tailEnd type="none" w="med" len="med"/>
                    </a:lnL>
                    <a:lnR w="9525" cap="flat" cmpd="sng" algn="ctr">
                      <a:solidFill>
                        <a:srgbClr val="8DA9C4"/>
                      </a:solidFill>
                      <a:prstDash val="solid"/>
                      <a:round/>
                      <a:headEnd type="none" w="med" len="med"/>
                      <a:tailEnd type="none" w="med" len="med"/>
                    </a:lnR>
                    <a:lnT w="9525" cap="flat" cmpd="sng" algn="ctr">
                      <a:solidFill>
                        <a:srgbClr val="8DA9C4"/>
                      </a:solidFill>
                      <a:prstDash val="solid"/>
                      <a:round/>
                      <a:headEnd type="none" w="med" len="med"/>
                      <a:tailEnd type="none" w="med" len="med"/>
                    </a:lnT>
                    <a:lnB w="9525" cap="flat" cmpd="sng" algn="ctr">
                      <a:solidFill>
                        <a:srgbClr val="8DA9C4"/>
                      </a:solidFill>
                      <a:prstDash val="solid"/>
                      <a:round/>
                      <a:headEnd type="none" w="med" len="med"/>
                      <a:tailEnd type="none" w="med" len="med"/>
                    </a:lnB>
                  </a:tcPr>
                </a:tc>
                <a:tc>
                  <a:txBody>
                    <a:bodyPr/>
                    <a:lstStyle/>
                    <a:p>
                      <a:pPr indent="0" marL="0">
                        <a:buNone/>
                      </a:pPr>
                      <a:r>
                        <a:rPr lang="en-US" sz="1400" dirty="0">
                          <a:solidFill>
                            <a:schemeClr val="tx1"/>
                          </a:solidFill>
                        </a:rPr>
                        <a:t>Dip probe tip in water</a:t>
                      </a:r>
                      <a:endParaRPr lang="en-US" sz="1400" dirty="0"/>
                    </a:p>
                  </a:txBody>
                  <a:tcPr marL="91440" marR="91440" marT="45720" marB="45720" anchor="ctr">
                    <a:lnL w="9525" cap="flat" cmpd="sng" algn="ctr">
                      <a:solidFill>
                        <a:srgbClr val="8DA9C4"/>
                      </a:solidFill>
                      <a:prstDash val="solid"/>
                      <a:round/>
                      <a:headEnd type="none" w="med" len="med"/>
                      <a:tailEnd type="none" w="med" len="med"/>
                    </a:lnL>
                    <a:lnR w="9525" cap="flat" cmpd="sng" algn="ctr">
                      <a:solidFill>
                        <a:srgbClr val="8DA9C4"/>
                      </a:solidFill>
                      <a:prstDash val="solid"/>
                      <a:round/>
                      <a:headEnd type="none" w="med" len="med"/>
                      <a:tailEnd type="none" w="med" len="med"/>
                    </a:lnR>
                    <a:lnT w="9525" cap="flat" cmpd="sng" algn="ctr">
                      <a:solidFill>
                        <a:srgbClr val="8DA9C4"/>
                      </a:solidFill>
                      <a:prstDash val="solid"/>
                      <a:round/>
                      <a:headEnd type="none" w="med" len="med"/>
                      <a:tailEnd type="none" w="med" len="med"/>
                    </a:lnT>
                    <a:lnB w="9525" cap="flat" cmpd="sng" algn="ctr">
                      <a:solidFill>
                        <a:srgbClr val="8DA9C4"/>
                      </a:solidFill>
                      <a:prstDash val="solid"/>
                      <a:round/>
                      <a:headEnd type="none" w="med" len="med"/>
                      <a:tailEnd type="none" w="med" len="med"/>
                    </a:lnB>
                  </a:tcPr>
                </a:tc>
                <a:tc>
                  <a:txBody>
                    <a:bodyPr/>
                    <a:lstStyle/>
                    <a:p>
                      <a:pPr indent="0" marL="0">
                        <a:buNone/>
                      </a:pPr>
                      <a:r>
                        <a:rPr lang="en-US" sz="1400" dirty="0">
                          <a:solidFill>
                            <a:schemeClr val="tx1"/>
                          </a:solidFill>
                        </a:rPr>
                        <a:t>Continuous tone</a:t>
                      </a:r>
                      <a:endParaRPr lang="en-US" sz="1400" dirty="0"/>
                    </a:p>
                  </a:txBody>
                  <a:tcPr marL="91440" marR="91440" marT="45720" marB="45720" anchor="ctr">
                    <a:lnL w="9525" cap="flat" cmpd="sng" algn="ctr">
                      <a:solidFill>
                        <a:srgbClr val="8DA9C4"/>
                      </a:solidFill>
                      <a:prstDash val="solid"/>
                      <a:round/>
                      <a:headEnd type="none" w="med" len="med"/>
                      <a:tailEnd type="none" w="med" len="med"/>
                    </a:lnL>
                    <a:lnR w="9525" cap="flat" cmpd="sng" algn="ctr">
                      <a:solidFill>
                        <a:srgbClr val="8DA9C4"/>
                      </a:solidFill>
                      <a:prstDash val="solid"/>
                      <a:round/>
                      <a:headEnd type="none" w="med" len="med"/>
                      <a:tailEnd type="none" w="med" len="med"/>
                    </a:lnR>
                    <a:lnT w="9525" cap="flat" cmpd="sng" algn="ctr">
                      <a:solidFill>
                        <a:srgbClr val="8DA9C4"/>
                      </a:solidFill>
                      <a:prstDash val="solid"/>
                      <a:round/>
                      <a:headEnd type="none" w="med" len="med"/>
                      <a:tailEnd type="none" w="med" len="med"/>
                    </a:lnT>
                    <a:lnB w="9525" cap="flat" cmpd="sng" algn="ctr">
                      <a:solidFill>
                        <a:srgbClr val="8DA9C4"/>
                      </a:solidFill>
                      <a:prstDash val="solid"/>
                      <a:round/>
                      <a:headEnd type="none" w="med" len="med"/>
                      <a:tailEnd type="none" w="med" len="med"/>
                    </a:lnB>
                  </a:tcPr>
                </a:tc>
                <a:tc>
                  <a:txBody>
                    <a:bodyPr/>
                    <a:lstStyle/>
                    <a:p>
                      <a:pPr indent="0" marL="0">
                        <a:buNone/>
                      </a:pPr>
                      <a:r>
                        <a:rPr lang="en-US" sz="1400" b="1" dirty="0">
                          <a:solidFill>
                            <a:schemeClr val="accent1"/>
                          </a:solidFill>
                        </a:rPr>
                        <a:t>Calibrating</a:t>
                      </a:r>
                      <a:endParaRPr lang="en-US" sz="1400" dirty="0"/>
                    </a:p>
                  </a:txBody>
                  <a:tcPr marL="91440" marR="91440" marT="45720" marB="45720" anchor="ctr">
                    <a:lnL w="9525" cap="flat" cmpd="sng" algn="ctr">
                      <a:solidFill>
                        <a:srgbClr val="8DA9C4"/>
                      </a:solidFill>
                      <a:prstDash val="solid"/>
                      <a:round/>
                      <a:headEnd type="none" w="med" len="med"/>
                      <a:tailEnd type="none" w="med" len="med"/>
                    </a:lnL>
                    <a:lnR w="9525" cap="flat" cmpd="sng" algn="ctr">
                      <a:solidFill>
                        <a:srgbClr val="8DA9C4"/>
                      </a:solidFill>
                      <a:prstDash val="solid"/>
                      <a:round/>
                      <a:headEnd type="none" w="med" len="med"/>
                      <a:tailEnd type="none" w="med" len="med"/>
                    </a:lnR>
                    <a:lnT w="9525" cap="flat" cmpd="sng" algn="ctr">
                      <a:solidFill>
                        <a:srgbClr val="8DA9C4"/>
                      </a:solidFill>
                      <a:prstDash val="solid"/>
                      <a:round/>
                      <a:headEnd type="none" w="med" len="med"/>
                      <a:tailEnd type="none" w="med" len="med"/>
                    </a:lnT>
                    <a:lnB w="9525" cap="flat" cmpd="sng" algn="ctr">
                      <a:solidFill>
                        <a:srgbClr val="8DA9C4"/>
                      </a:solidFill>
                      <a:prstDash val="solid"/>
                      <a:round/>
                      <a:headEnd type="none" w="med" len="med"/>
                      <a:tailEnd type="none" w="med" len="med"/>
                    </a:lnB>
                  </a:tcPr>
                </a:tc>
              </a:tr>
              <a:tr h="457200">
                <a:tc>
                  <a:txBody>
                    <a:bodyPr/>
                    <a:lstStyle/>
                    <a:p>
                      <a:pPr indent="0" marL="0">
                        <a:buNone/>
                      </a:pPr>
                      <a:r>
                        <a:rPr lang="en-US" sz="1400" dirty="0">
                          <a:solidFill>
                            <a:schemeClr val="tx1"/>
                          </a:solidFill>
                        </a:rPr>
                        <a:t>Priority</a:t>
                      </a:r>
                      <a:endParaRPr lang="en-US" sz="1400" dirty="0"/>
                    </a:p>
                  </a:txBody>
                  <a:tcPr marL="91440" marR="91440" marT="45720" marB="45720" anchor="ctr">
                    <a:lnL w="9525" cap="flat" cmpd="sng" algn="ctr">
                      <a:solidFill>
                        <a:srgbClr val="8DA9C4"/>
                      </a:solidFill>
                      <a:prstDash val="solid"/>
                      <a:round/>
                      <a:headEnd type="none" w="med" len="med"/>
                      <a:tailEnd type="none" w="med" len="med"/>
                    </a:lnL>
                    <a:lnR w="9525" cap="flat" cmpd="sng" algn="ctr">
                      <a:solidFill>
                        <a:srgbClr val="8DA9C4"/>
                      </a:solidFill>
                      <a:prstDash val="solid"/>
                      <a:round/>
                      <a:headEnd type="none" w="med" len="med"/>
                      <a:tailEnd type="none" w="med" len="med"/>
                    </a:lnR>
                    <a:lnT w="9525" cap="flat" cmpd="sng" algn="ctr">
                      <a:solidFill>
                        <a:srgbClr val="8DA9C4"/>
                      </a:solidFill>
                      <a:prstDash val="solid"/>
                      <a:round/>
                      <a:headEnd type="none" w="med" len="med"/>
                      <a:tailEnd type="none" w="med" len="med"/>
                    </a:lnT>
                    <a:lnB w="9525" cap="flat" cmpd="sng" algn="ctr">
                      <a:solidFill>
                        <a:srgbClr val="8DA9C4"/>
                      </a:solidFill>
                      <a:prstDash val="solid"/>
                      <a:round/>
                      <a:headEnd type="none" w="med" len="med"/>
                      <a:tailEnd type="none" w="med" len="med"/>
                    </a:lnB>
                  </a:tcPr>
                </a:tc>
                <a:tc>
                  <a:txBody>
                    <a:bodyPr/>
                    <a:lstStyle/>
                    <a:p>
                      <a:pPr indent="0" marL="0">
                        <a:buNone/>
                      </a:pPr>
                      <a:r>
                        <a:rPr lang="en-US" sz="1400" dirty="0">
                          <a:solidFill>
                            <a:schemeClr val="tx1"/>
                          </a:solidFill>
                        </a:rPr>
                        <a:t>Water + obstacle together</a:t>
                      </a:r>
                      <a:endParaRPr lang="en-US" sz="1400" dirty="0"/>
                    </a:p>
                  </a:txBody>
                  <a:tcPr marL="91440" marR="91440" marT="45720" marB="45720" anchor="ctr">
                    <a:lnL w="9525" cap="flat" cmpd="sng" algn="ctr">
                      <a:solidFill>
                        <a:srgbClr val="8DA9C4"/>
                      </a:solidFill>
                      <a:prstDash val="solid"/>
                      <a:round/>
                      <a:headEnd type="none" w="med" len="med"/>
                      <a:tailEnd type="none" w="med" len="med"/>
                    </a:lnL>
                    <a:lnR w="9525" cap="flat" cmpd="sng" algn="ctr">
                      <a:solidFill>
                        <a:srgbClr val="8DA9C4"/>
                      </a:solidFill>
                      <a:prstDash val="solid"/>
                      <a:round/>
                      <a:headEnd type="none" w="med" len="med"/>
                      <a:tailEnd type="none" w="med" len="med"/>
                    </a:lnR>
                    <a:lnT w="9525" cap="flat" cmpd="sng" algn="ctr">
                      <a:solidFill>
                        <a:srgbClr val="8DA9C4"/>
                      </a:solidFill>
                      <a:prstDash val="solid"/>
                      <a:round/>
                      <a:headEnd type="none" w="med" len="med"/>
                      <a:tailEnd type="none" w="med" len="med"/>
                    </a:lnT>
                    <a:lnB w="9525" cap="flat" cmpd="sng" algn="ctr">
                      <a:solidFill>
                        <a:srgbClr val="8DA9C4"/>
                      </a:solidFill>
                      <a:prstDash val="solid"/>
                      <a:round/>
                      <a:headEnd type="none" w="med" len="med"/>
                      <a:tailEnd type="none" w="med" len="med"/>
                    </a:lnB>
                  </a:tcPr>
                </a:tc>
                <a:tc>
                  <a:txBody>
                    <a:bodyPr/>
                    <a:lstStyle/>
                    <a:p>
                      <a:pPr indent="0" marL="0">
                        <a:buNone/>
                      </a:pPr>
                      <a:r>
                        <a:rPr lang="en-US" sz="1400" dirty="0">
                          <a:solidFill>
                            <a:schemeClr val="tx1"/>
                          </a:solidFill>
                        </a:rPr>
                        <a:t>Continuous tone (water wins)</a:t>
                      </a:r>
                      <a:endParaRPr lang="en-US" sz="1400" dirty="0"/>
                    </a:p>
                  </a:txBody>
                  <a:tcPr marL="91440" marR="91440" marT="45720" marB="45720" anchor="ctr">
                    <a:lnL w="9525" cap="flat" cmpd="sng" algn="ctr">
                      <a:solidFill>
                        <a:srgbClr val="8DA9C4"/>
                      </a:solidFill>
                      <a:prstDash val="solid"/>
                      <a:round/>
                      <a:headEnd type="none" w="med" len="med"/>
                      <a:tailEnd type="none" w="med" len="med"/>
                    </a:lnL>
                    <a:lnR w="9525" cap="flat" cmpd="sng" algn="ctr">
                      <a:solidFill>
                        <a:srgbClr val="8DA9C4"/>
                      </a:solidFill>
                      <a:prstDash val="solid"/>
                      <a:round/>
                      <a:headEnd type="none" w="med" len="med"/>
                      <a:tailEnd type="none" w="med" len="med"/>
                    </a:lnR>
                    <a:lnT w="9525" cap="flat" cmpd="sng" algn="ctr">
                      <a:solidFill>
                        <a:srgbClr val="8DA9C4"/>
                      </a:solidFill>
                      <a:prstDash val="solid"/>
                      <a:round/>
                      <a:headEnd type="none" w="med" len="med"/>
                      <a:tailEnd type="none" w="med" len="med"/>
                    </a:lnT>
                    <a:lnB w="9525" cap="flat" cmpd="sng" algn="ctr">
                      <a:solidFill>
                        <a:srgbClr val="8DA9C4"/>
                      </a:solidFill>
                      <a:prstDash val="solid"/>
                      <a:round/>
                      <a:headEnd type="none" w="med" len="med"/>
                      <a:tailEnd type="none" w="med" len="med"/>
                    </a:lnB>
                  </a:tcPr>
                </a:tc>
                <a:tc>
                  <a:txBody>
                    <a:bodyPr/>
                    <a:lstStyle/>
                    <a:p>
                      <a:pPr indent="0" marL="0">
                        <a:buNone/>
                      </a:pPr>
                      <a:r>
                        <a:rPr lang="en-US" sz="1400" b="1" dirty="0">
                          <a:solidFill>
                            <a:schemeClr val="accent1"/>
                          </a:solidFill>
                        </a:rPr>
                        <a:t>To confirm</a:t>
                      </a:r>
                      <a:endParaRPr lang="en-US" sz="1400" dirty="0"/>
                    </a:p>
                  </a:txBody>
                  <a:tcPr marL="91440" marR="91440" marT="45720" marB="45720" anchor="ctr">
                    <a:lnL w="9525" cap="flat" cmpd="sng" algn="ctr">
                      <a:solidFill>
                        <a:srgbClr val="8DA9C4"/>
                      </a:solidFill>
                      <a:prstDash val="solid"/>
                      <a:round/>
                      <a:headEnd type="none" w="med" len="med"/>
                      <a:tailEnd type="none" w="med" len="med"/>
                    </a:lnL>
                    <a:lnR w="9525" cap="flat" cmpd="sng" algn="ctr">
                      <a:solidFill>
                        <a:srgbClr val="8DA9C4"/>
                      </a:solidFill>
                      <a:prstDash val="solid"/>
                      <a:round/>
                      <a:headEnd type="none" w="med" len="med"/>
                      <a:tailEnd type="none" w="med" len="med"/>
                    </a:lnR>
                    <a:lnT w="9525" cap="flat" cmpd="sng" algn="ctr">
                      <a:solidFill>
                        <a:srgbClr val="8DA9C4"/>
                      </a:solidFill>
                      <a:prstDash val="solid"/>
                      <a:round/>
                      <a:headEnd type="none" w="med" len="med"/>
                      <a:tailEnd type="none" w="med" len="med"/>
                    </a:lnT>
                    <a:lnB w="9525" cap="flat" cmpd="sng" algn="ctr">
                      <a:solidFill>
                        <a:srgbClr val="8DA9C4"/>
                      </a:solidFill>
                      <a:prstDash val="solid"/>
                      <a:round/>
                      <a:headEnd type="none" w="med" len="med"/>
                      <a:tailEnd type="none" w="med" len="med"/>
                    </a:lnB>
                  </a:tcPr>
                </a:tc>
              </a:tr>
            </a:tbl>
          </a:graphicData>
        </a:graphic>
      </p:graphicFrame>
      <p:sp>
        <p:nvSpPr>
          <p:cNvPr id="4" name="Text 1"/>
          <p:cNvSpPr txBox="1"/>
          <p:nvPr/>
        </p:nvSpPr>
        <p:spPr>
          <a:xfrm>
            <a:off x="457200" y="4160520"/>
            <a:ext cx="8229600" cy="320040"/>
          </a:xfrm>
          <a:prstGeom prst="rect">
            <a:avLst/>
          </a:prstGeom>
          <a:noFill/>
          <a:ln/>
        </p:spPr>
        <p:txBody>
          <a:bodyPr wrap="square" lIns="0" tIns="0" rIns="0" bIns="0" rtlCol="0" anchor="t"/>
          <a:lstStyle/>
          <a:p>
            <a:pPr indent="0" marL="0">
              <a:buNone/>
            </a:pPr>
            <a:r>
              <a:rPr lang="en-US" sz="1200" i="1" dirty="0">
                <a:solidFill>
                  <a:schemeClr val="accent5"/>
                </a:solidFill>
              </a:rPr>
              <a:t>Update the Result column after the Serial Monitor tests (dry and wet readings).</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Cost of the cane hardware</a:t>
            </a:r>
            <a:endParaRPr lang="en-US" sz="3000" dirty="0"/>
          </a:p>
        </p:txBody>
      </p:sp>
      <p:graphicFrame>
        <p:nvGraphicFramePr>
          <p:cNvPr id="3" name="Chart 0" descr=""/>
          <p:cNvGraphicFramePr/>
          <p:nvPr/>
        </p:nvGraphicFramePr>
        <p:xfrm>
          <a:off x="457200" y="1097280"/>
          <a:ext cx="5303520" cy="3474720"/>
        </p:xfrm>
        <a:graphic xmlns:a="http://schemas.openxmlformats.org/drawingml/2006/main">
          <a:graphicData uri="http://schemas.openxmlformats.org/drawingml/2006/chart">
            <c:chart xmlns:c="http://schemas.openxmlformats.org/drawingml/2006/chart" r:id="rId1"/>
          </a:graphicData>
        </a:graphic>
      </p:graphicFrame>
      <p:sp>
        <p:nvSpPr>
          <p:cNvPr id="4" name="total card"/>
          <p:cNvSpPr/>
          <p:nvPr/>
        </p:nvSpPr>
        <p:spPr>
          <a:xfrm>
            <a:off x="6126480" y="1188720"/>
            <a:ext cx="2560320" cy="1554480"/>
          </a:xfrm>
          <a:prstGeom prst="roundRect">
            <a:avLst>
              <a:gd name="adj" fmla="val 7059"/>
            </a:avLst>
          </a:prstGeom>
          <a:solidFill>
            <a:schemeClr val="tx2"/>
          </a:solidFill>
          <a:ln w="12700">
            <a:solidFill>
              <a:schemeClr val="tx2"/>
            </a:solidFill>
            <a:prstDash val="solid"/>
          </a:ln>
          <a:effectLst>
            <a:outerShdw sx="100000" sy="100000" kx="0" ky="0" algn="bl" rotWithShape="0" blurRad="76200" dist="25400" dir="5400000">
              <a:srgbClr val="000000">
                <a:alpha val="15000"/>
              </a:srgbClr>
            </a:outerShdw>
          </a:effectLst>
        </p:spPr>
      </p:sp>
      <p:sp>
        <p:nvSpPr>
          <p:cNvPr id="5" name="Text 2"/>
          <p:cNvSpPr txBox="1"/>
          <p:nvPr/>
        </p:nvSpPr>
        <p:spPr>
          <a:xfrm>
            <a:off x="6309360" y="1325880"/>
            <a:ext cx="2194560" cy="73152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₹876</a:t>
            </a:r>
            <a:endParaRPr lang="en-US" sz="4000" dirty="0"/>
          </a:p>
        </p:txBody>
      </p:sp>
      <p:sp>
        <p:nvSpPr>
          <p:cNvPr id="6" name="Text 3"/>
          <p:cNvSpPr txBox="1"/>
          <p:nvPr/>
        </p:nvSpPr>
        <p:spPr>
          <a:xfrm>
            <a:off x="6309360" y="2103120"/>
            <a:ext cx="2194560" cy="365760"/>
          </a:xfrm>
          <a:prstGeom prst="rect">
            <a:avLst/>
          </a:prstGeom>
          <a:noFill/>
          <a:ln/>
        </p:spPr>
        <p:txBody>
          <a:bodyPr wrap="square" lIns="0" tIns="0" rIns="0" bIns="0" rtlCol="0" anchor="t"/>
          <a:lstStyle/>
          <a:p>
            <a:pPr indent="0" marL="0">
              <a:buNone/>
            </a:pPr>
            <a:r>
              <a:rPr lang="en-US" sz="1400" dirty="0">
                <a:solidFill>
                  <a:schemeClr val="bg1"/>
                </a:solidFill>
              </a:rPr>
              <a:t>total cane hardware</a:t>
            </a:r>
            <a:endParaRPr lang="en-US" sz="1400" dirty="0"/>
          </a:p>
        </p:txBody>
      </p:sp>
      <p:sp>
        <p:nvSpPr>
          <p:cNvPr id="7" name="Text 4"/>
          <p:cNvSpPr txBox="1"/>
          <p:nvPr/>
        </p:nvSpPr>
        <p:spPr>
          <a:xfrm>
            <a:off x="6126480" y="2926080"/>
            <a:ext cx="2560320" cy="1554480"/>
          </a:xfrm>
          <a:prstGeom prst="rect">
            <a:avLst/>
          </a:prstGeom>
          <a:noFill/>
          <a:ln/>
        </p:spPr>
        <p:txBody>
          <a:bodyPr wrap="square" lIns="0" tIns="0" rIns="0" bIns="0" rtlCol="0" anchor="t"/>
          <a:lstStyle/>
          <a:p>
            <a:pPr indent="0" marL="0">
              <a:buNone/>
            </a:pPr>
            <a:r>
              <a:rPr lang="en-US" sz="1300" dirty="0">
                <a:solidFill>
                  <a:schemeClr val="accent5"/>
                </a:solidFill>
              </a:rPr>
              <a:t>₹1,805 including tools (₹660) and parts for planned upgrades (₹269). Prices from the supplier invoice; buzzer and PVC body estimated.</a:t>
            </a:r>
            <a:endParaRPr lang="en-US" sz="13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Advantages and limitations</a:t>
            </a:r>
            <a:endParaRPr lang="en-US" sz="3000" dirty="0"/>
          </a:p>
        </p:txBody>
      </p:sp>
      <p:sp>
        <p:nvSpPr>
          <p:cNvPr id="3" name="advantages"/>
          <p:cNvSpPr/>
          <p:nvPr/>
        </p:nvSpPr>
        <p:spPr>
          <a:xfrm>
            <a:off x="457200" y="1188720"/>
            <a:ext cx="4023360" cy="3383280"/>
          </a:xfrm>
          <a:prstGeom prst="roundRect">
            <a:avLst>
              <a:gd name="adj" fmla="val 3243"/>
            </a:avLst>
          </a:prstGeom>
          <a:solidFill>
            <a:srgbClr val="E6F4EA"/>
          </a:solidFill>
          <a:ln w="12700">
            <a:solidFill>
              <a:srgbClr val="E6F4EA"/>
            </a:solidFill>
            <a:prstDash val="solid"/>
          </a:ln>
          <a:effectLst>
            <a:outerShdw sx="100000" sy="100000" kx="0" ky="0" algn="bl" rotWithShape="0" blurRad="76200" dist="25400" dir="5400000">
              <a:srgbClr val="000000">
                <a:alpha val="15000"/>
              </a:srgbClr>
            </a:outerShdw>
          </a:effectLst>
        </p:spPr>
      </p:sp>
      <p:sp>
        <p:nvSpPr>
          <p:cNvPr id="4" name="limitations"/>
          <p:cNvSpPr/>
          <p:nvPr/>
        </p:nvSpPr>
        <p:spPr>
          <a:xfrm>
            <a:off x="4663440" y="1188720"/>
            <a:ext cx="4023360" cy="3383280"/>
          </a:xfrm>
          <a:prstGeom prst="roundRect">
            <a:avLst>
              <a:gd name="adj" fmla="val 3243"/>
            </a:avLst>
          </a:prstGeom>
          <a:solidFill>
            <a:srgbClr val="FDECEA"/>
          </a:solidFill>
          <a:ln w="12700">
            <a:solidFill>
              <a:srgbClr val="FDECEA"/>
            </a:solidFill>
            <a:prstDash val="solid"/>
          </a:ln>
          <a:effectLst>
            <a:outerShdw sx="100000" sy="100000" kx="0" ky="0" algn="bl" rotWithShape="0" blurRad="76200" dist="25400" dir="5400000">
              <a:srgbClr val="000000">
                <a:alpha val="15000"/>
              </a:srgbClr>
            </a:outerShdw>
          </a:effectLst>
        </p:spPr>
      </p:sp>
      <p:sp>
        <p:nvSpPr>
          <p:cNvPr id="5" name="icon circle"/>
          <p:cNvSpPr/>
          <p:nvPr/>
        </p:nvSpPr>
        <p:spPr>
          <a:xfrm>
            <a:off x="685800" y="1371600"/>
            <a:ext cx="457200" cy="457200"/>
          </a:xfrm>
          <a:prstGeom prst="ellipse">
            <a:avLst/>
          </a:prstGeom>
          <a:solidFill>
            <a:schemeClr val="accent4"/>
          </a:solidFill>
          <a:ln w="12700">
            <a:solidFill>
              <a:schemeClr val="accent4"/>
            </a:solidFill>
            <a:prstDash val="solid"/>
          </a:ln>
        </p:spPr>
      </p:sp>
      <p:pic>
        <p:nvPicPr>
          <p:cNvPr id="6" name="icon" descr="preencoded.png">    </p:cNvPr>
          <p:cNvPicPr>
            <a:picLocks noChangeAspect="1"/>
          </p:cNvPicPr>
          <p:nvPr/>
        </p:nvPicPr>
        <p:blipFill>
          <a:blip r:embed="rId1"/>
          <a:stretch>
            <a:fillRect/>
          </a:stretch>
        </p:blipFill>
        <p:spPr>
          <a:xfrm>
            <a:off x="786384" y="1472184"/>
            <a:ext cx="256032" cy="256032"/>
          </a:xfrm>
          <a:prstGeom prst="rect">
            <a:avLst/>
          </a:prstGeom>
        </p:spPr>
      </p:pic>
      <p:sp>
        <p:nvSpPr>
          <p:cNvPr id="7" name="icon circle"/>
          <p:cNvSpPr/>
          <p:nvPr/>
        </p:nvSpPr>
        <p:spPr>
          <a:xfrm>
            <a:off x="4892040" y="1371600"/>
            <a:ext cx="457200" cy="457200"/>
          </a:xfrm>
          <a:prstGeom prst="ellipse">
            <a:avLst/>
          </a:prstGeom>
          <a:solidFill>
            <a:schemeClr val="accent3"/>
          </a:solidFill>
          <a:ln w="12700">
            <a:solidFill>
              <a:schemeClr val="accent3"/>
            </a:solidFill>
            <a:prstDash val="solid"/>
          </a:ln>
        </p:spPr>
      </p:sp>
      <p:pic>
        <p:nvPicPr>
          <p:cNvPr id="8" name="icon" descr="preencoded.png">    </p:cNvPr>
          <p:cNvPicPr>
            <a:picLocks noChangeAspect="1"/>
          </p:cNvPicPr>
          <p:nvPr/>
        </p:nvPicPr>
        <p:blipFill>
          <a:blip r:embed="rId2"/>
          <a:stretch>
            <a:fillRect/>
          </a:stretch>
        </p:blipFill>
        <p:spPr>
          <a:xfrm>
            <a:off x="4992624" y="1472184"/>
            <a:ext cx="256032" cy="256032"/>
          </a:xfrm>
          <a:prstGeom prst="rect">
            <a:avLst/>
          </a:prstGeom>
        </p:spPr>
      </p:pic>
      <p:sp>
        <p:nvSpPr>
          <p:cNvPr id="9" name="Text 5"/>
          <p:cNvSpPr txBox="1"/>
          <p:nvPr/>
        </p:nvSpPr>
        <p:spPr>
          <a:xfrm>
            <a:off x="1280160" y="1417320"/>
            <a:ext cx="3017520" cy="365760"/>
          </a:xfrm>
          <a:prstGeom prst="rect">
            <a:avLst/>
          </a:prstGeom>
          <a:noFill/>
          <a:ln/>
        </p:spPr>
        <p:txBody>
          <a:bodyPr wrap="square" lIns="0" tIns="0" rIns="0" bIns="0" rtlCol="0" anchor="t"/>
          <a:lstStyle/>
          <a:p>
            <a:pPr indent="0" marL="0">
              <a:buNone/>
            </a:pPr>
            <a:r>
              <a:rPr lang="en-US" sz="1800" b="1" dirty="0">
                <a:solidFill>
                  <a:schemeClr val="tx2"/>
                </a:solidFill>
              </a:rPr>
              <a:t>Advantages</a:t>
            </a:r>
            <a:endParaRPr lang="en-US" sz="1800" dirty="0"/>
          </a:p>
        </p:txBody>
      </p:sp>
      <p:sp>
        <p:nvSpPr>
          <p:cNvPr id="10" name="Text 6"/>
          <p:cNvSpPr txBox="1"/>
          <p:nvPr/>
        </p:nvSpPr>
        <p:spPr>
          <a:xfrm>
            <a:off x="5486400" y="1417320"/>
            <a:ext cx="3017520" cy="365760"/>
          </a:xfrm>
          <a:prstGeom prst="rect">
            <a:avLst/>
          </a:prstGeom>
          <a:noFill/>
          <a:ln/>
        </p:spPr>
        <p:txBody>
          <a:bodyPr wrap="square" lIns="0" tIns="0" rIns="0" bIns="0" rtlCol="0" anchor="t"/>
          <a:lstStyle/>
          <a:p>
            <a:pPr indent="0" marL="0">
              <a:buNone/>
            </a:pPr>
            <a:r>
              <a:rPr lang="en-US" sz="1800" b="1" dirty="0">
                <a:solidFill>
                  <a:schemeClr val="tx2"/>
                </a:solidFill>
              </a:rPr>
              <a:t>Limitations</a:t>
            </a:r>
            <a:endParaRPr lang="en-US" sz="1800" dirty="0"/>
          </a:p>
        </p:txBody>
      </p:sp>
      <p:sp>
        <p:nvSpPr>
          <p:cNvPr id="11" name="Text 7"/>
          <p:cNvSpPr txBox="1"/>
          <p:nvPr/>
        </p:nvSpPr>
        <p:spPr>
          <a:xfrm>
            <a:off x="685800" y="2011680"/>
            <a:ext cx="3611880" cy="24688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Warns before contact; distance shown by beep rate</a:t>
            </a:r>
            <a:endParaRPr lang="en-US" sz="1400" dirty="0"/>
          </a:p>
          <a:p>
            <a:pPr marL="342900" indent="-342900">
              <a:spcAft>
                <a:spcPts val="800"/>
              </a:spcAft>
              <a:buSzPct val="100000"/>
              <a:buChar char="•"/>
            </a:pPr>
            <a:r>
              <a:rPr lang="en-US" sz="1400" dirty="0">
                <a:solidFill>
                  <a:schemeClr val="tx1"/>
                </a:solidFill>
              </a:rPr>
              <a:t>Detects water and wet mud, unlike most basic smart canes</a:t>
            </a:r>
            <a:endParaRPr lang="en-US" sz="1400" dirty="0"/>
          </a:p>
          <a:p>
            <a:pPr marL="342900" indent="-342900">
              <a:spcAft>
                <a:spcPts val="800"/>
              </a:spcAft>
              <a:buSzPct val="100000"/>
              <a:buChar char="•"/>
            </a:pPr>
            <a:r>
              <a:rPr lang="en-US" sz="1400" dirty="0">
                <a:solidFill>
                  <a:schemeClr val="tx1"/>
                </a:solidFill>
              </a:rPr>
              <a:t>Low cost, local parts, easy to repair</a:t>
            </a:r>
            <a:endParaRPr lang="en-US" sz="1400" dirty="0"/>
          </a:p>
          <a:p>
            <a:pPr marL="342900" indent="-342900">
              <a:spcAft>
                <a:spcPts val="800"/>
              </a:spcAft>
              <a:buSzPct val="100000"/>
              <a:buChar char="•"/>
            </a:pPr>
            <a:r>
              <a:rPr lang="en-US" sz="1400" dirty="0">
                <a:solidFill>
                  <a:schemeClr val="tx1"/>
                </a:solidFill>
              </a:rPr>
              <a:t>Rechargeable battery, simple on/off use</a:t>
            </a:r>
            <a:endParaRPr lang="en-US" sz="1400" dirty="0"/>
          </a:p>
        </p:txBody>
      </p:sp>
      <p:sp>
        <p:nvSpPr>
          <p:cNvPr id="12" name="Text 8"/>
          <p:cNvSpPr txBox="1"/>
          <p:nvPr/>
        </p:nvSpPr>
        <p:spPr>
          <a:xfrm>
            <a:off x="4892040" y="2011680"/>
            <a:ext cx="3611880" cy="24688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Narrow ~15° beam misses head-level and thin obstacles</a:t>
            </a:r>
            <a:endParaRPr lang="en-US" sz="1400" dirty="0"/>
          </a:p>
          <a:p>
            <a:pPr marL="342900" indent="-342900">
              <a:spcAft>
                <a:spcPts val="600"/>
              </a:spcAft>
              <a:buSzPct val="100000"/>
              <a:buChar char="•"/>
            </a:pPr>
            <a:r>
              <a:rPr lang="en-US" sz="1400" dirty="0">
                <a:solidFill>
                  <a:schemeClr val="tx1"/>
                </a:solidFill>
              </a:rPr>
              <a:t>Water detected only when the tip touches it</a:t>
            </a:r>
            <a:endParaRPr lang="en-US" sz="1400" dirty="0"/>
          </a:p>
          <a:p>
            <a:pPr marL="342900" indent="-342900">
              <a:spcAft>
                <a:spcPts val="600"/>
              </a:spcAft>
              <a:buSzPct val="100000"/>
              <a:buChar char="•"/>
            </a:pPr>
            <a:r>
              <a:rPr lang="en-US" sz="1400" dirty="0">
                <a:solidFill>
                  <a:schemeClr val="tx1"/>
                </a:solidFill>
              </a:rPr>
              <a:t>Resistive probe corrodes over time</a:t>
            </a:r>
            <a:endParaRPr lang="en-US" sz="1400" dirty="0"/>
          </a:p>
          <a:p>
            <a:pPr marL="342900" indent="-342900">
              <a:spcAft>
                <a:spcPts val="600"/>
              </a:spcAft>
              <a:buSzPct val="100000"/>
              <a:buChar char="•"/>
            </a:pPr>
            <a:r>
              <a:rPr lang="en-US" sz="1400" dirty="0">
                <a:solidFill>
                  <a:schemeClr val="tx1"/>
                </a:solidFill>
              </a:rPr>
              <a:t>Unregulated 3.7 V supply, no low-battery warning</a:t>
            </a:r>
            <a:endParaRPr lang="en-US" sz="1400" dirty="0"/>
          </a:p>
          <a:p>
            <a:pPr marL="342900" indent="-342900">
              <a:spcAft>
                <a:spcPts val="600"/>
              </a:spcAft>
              <a:buSzPct val="100000"/>
              <a:buChar char="•"/>
            </a:pPr>
            <a:r>
              <a:rPr lang="en-US" sz="1400" dirty="0">
                <a:solidFill>
                  <a:schemeClr val="tx1"/>
                </a:solidFill>
              </a:rPr>
              <a:t>Buzzer hard to hear in heavy traffic</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Future scope</a:t>
            </a:r>
            <a:endParaRPr lang="en-US" sz="3000" dirty="0"/>
          </a:p>
        </p:txBody>
      </p:sp>
      <p:sp>
        <p:nvSpPr>
          <p:cNvPr id="3" name="future card"/>
          <p:cNvSpPr/>
          <p:nvPr/>
        </p:nvSpPr>
        <p:spPr>
          <a:xfrm>
            <a:off x="457200" y="1188720"/>
            <a:ext cx="2606040" cy="1463040"/>
          </a:xfrm>
          <a:prstGeom prst="roundRect">
            <a:avLst>
              <a:gd name="adj" fmla="val 7500"/>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4" name="icon circle"/>
          <p:cNvSpPr/>
          <p:nvPr/>
        </p:nvSpPr>
        <p:spPr>
          <a:xfrm>
            <a:off x="640080" y="1371600"/>
            <a:ext cx="502920" cy="502920"/>
          </a:xfrm>
          <a:prstGeom prst="ellipse">
            <a:avLst/>
          </a:prstGeom>
          <a:solidFill>
            <a:schemeClr val="tx2"/>
          </a:solidFill>
          <a:ln w="12700">
            <a:solidFill>
              <a:schemeClr val="tx2"/>
            </a:solidFill>
            <a:prstDash val="solid"/>
          </a:ln>
        </p:spPr>
      </p:sp>
      <p:pic>
        <p:nvPicPr>
          <p:cNvPr id="5" name="icon" descr="preencoded.png">    </p:cNvPr>
          <p:cNvPicPr>
            <a:picLocks noChangeAspect="1"/>
          </p:cNvPicPr>
          <p:nvPr/>
        </p:nvPicPr>
        <p:blipFill>
          <a:blip r:embed="rId1"/>
          <a:stretch>
            <a:fillRect/>
          </a:stretch>
        </p:blipFill>
        <p:spPr>
          <a:xfrm>
            <a:off x="750722" y="1482242"/>
            <a:ext cx="281635" cy="281635"/>
          </a:xfrm>
          <a:prstGeom prst="rect">
            <a:avLst/>
          </a:prstGeom>
        </p:spPr>
      </p:pic>
      <p:sp>
        <p:nvSpPr>
          <p:cNvPr id="6" name="Text 3"/>
          <p:cNvSpPr txBox="1"/>
          <p:nvPr/>
        </p:nvSpPr>
        <p:spPr>
          <a:xfrm>
            <a:off x="1280160" y="1463040"/>
            <a:ext cx="1691640" cy="365760"/>
          </a:xfrm>
          <a:prstGeom prst="rect">
            <a:avLst/>
          </a:prstGeom>
          <a:noFill/>
          <a:ln/>
        </p:spPr>
        <p:txBody>
          <a:bodyPr wrap="square" lIns="0" tIns="0" rIns="0" bIns="0" rtlCol="0" anchor="t"/>
          <a:lstStyle/>
          <a:p>
            <a:pPr indent="0" marL="0">
              <a:buNone/>
            </a:pPr>
            <a:r>
              <a:rPr lang="en-US" sz="1500" b="1" dirty="0">
                <a:solidFill>
                  <a:schemeClr val="tx2"/>
                </a:solidFill>
              </a:rPr>
              <a:t>Vibration motor</a:t>
            </a:r>
            <a:endParaRPr lang="en-US" sz="1500" dirty="0"/>
          </a:p>
        </p:txBody>
      </p:sp>
      <p:sp>
        <p:nvSpPr>
          <p:cNvPr id="7" name="Text 4"/>
          <p:cNvSpPr txBox="1"/>
          <p:nvPr/>
        </p:nvSpPr>
        <p:spPr>
          <a:xfrm>
            <a:off x="640080" y="2011680"/>
            <a:ext cx="2286000" cy="594360"/>
          </a:xfrm>
          <a:prstGeom prst="rect">
            <a:avLst/>
          </a:prstGeom>
          <a:noFill/>
          <a:ln/>
        </p:spPr>
        <p:txBody>
          <a:bodyPr wrap="square" lIns="0" tIns="0" rIns="0" bIns="0" rtlCol="0" anchor="t"/>
          <a:lstStyle/>
          <a:p>
            <a:pPr indent="0" marL="0">
              <a:buNone/>
            </a:pPr>
            <a:r>
              <a:rPr lang="en-US" sz="1300" dirty="0">
                <a:solidFill>
                  <a:schemeClr val="accent5"/>
                </a:solidFill>
              </a:rPr>
              <a:t>Silent haptic alerts via the IRLZ44N MOSFET</a:t>
            </a:r>
            <a:endParaRPr lang="en-US" sz="1300" dirty="0"/>
          </a:p>
        </p:txBody>
      </p:sp>
      <p:sp>
        <p:nvSpPr>
          <p:cNvPr id="8" name="future card"/>
          <p:cNvSpPr/>
          <p:nvPr/>
        </p:nvSpPr>
        <p:spPr>
          <a:xfrm>
            <a:off x="3246120" y="1188720"/>
            <a:ext cx="2606040" cy="1463040"/>
          </a:xfrm>
          <a:prstGeom prst="roundRect">
            <a:avLst>
              <a:gd name="adj" fmla="val 7500"/>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9" name="icon circle"/>
          <p:cNvSpPr/>
          <p:nvPr/>
        </p:nvSpPr>
        <p:spPr>
          <a:xfrm>
            <a:off x="3429000" y="1371600"/>
            <a:ext cx="502920" cy="502920"/>
          </a:xfrm>
          <a:prstGeom prst="ellipse">
            <a:avLst/>
          </a:prstGeom>
          <a:solidFill>
            <a:schemeClr val="tx2"/>
          </a:solidFill>
          <a:ln w="12700">
            <a:solidFill>
              <a:schemeClr val="tx2"/>
            </a:solidFill>
            <a:prstDash val="solid"/>
          </a:ln>
        </p:spPr>
      </p:sp>
      <p:pic>
        <p:nvPicPr>
          <p:cNvPr id="10" name="icon" descr="preencoded.png">    </p:cNvPr>
          <p:cNvPicPr>
            <a:picLocks noChangeAspect="1"/>
          </p:cNvPicPr>
          <p:nvPr/>
        </p:nvPicPr>
        <p:blipFill>
          <a:blip r:embed="rId2"/>
          <a:stretch>
            <a:fillRect/>
          </a:stretch>
        </p:blipFill>
        <p:spPr>
          <a:xfrm>
            <a:off x="3539642" y="1482242"/>
            <a:ext cx="281635" cy="281635"/>
          </a:xfrm>
          <a:prstGeom prst="rect">
            <a:avLst/>
          </a:prstGeom>
        </p:spPr>
      </p:pic>
      <p:sp>
        <p:nvSpPr>
          <p:cNvPr id="11" name="Text 7"/>
          <p:cNvSpPr txBox="1"/>
          <p:nvPr/>
        </p:nvSpPr>
        <p:spPr>
          <a:xfrm>
            <a:off x="4069080" y="1463040"/>
            <a:ext cx="1691640" cy="365760"/>
          </a:xfrm>
          <a:prstGeom prst="rect">
            <a:avLst/>
          </a:prstGeom>
          <a:noFill/>
          <a:ln/>
        </p:spPr>
        <p:txBody>
          <a:bodyPr wrap="square" lIns="0" tIns="0" rIns="0" bIns="0" rtlCol="0" anchor="t"/>
          <a:lstStyle/>
          <a:p>
            <a:pPr indent="0" marL="0">
              <a:buNone/>
            </a:pPr>
            <a:r>
              <a:rPr lang="en-US" sz="1500" b="1" dirty="0">
                <a:solidFill>
                  <a:schemeClr val="tx2"/>
                </a:solidFill>
              </a:rPr>
              <a:t>Regulated power</a:t>
            </a:r>
            <a:endParaRPr lang="en-US" sz="1500" dirty="0"/>
          </a:p>
        </p:txBody>
      </p:sp>
      <p:sp>
        <p:nvSpPr>
          <p:cNvPr id="12" name="Text 8"/>
          <p:cNvSpPr txBox="1"/>
          <p:nvPr/>
        </p:nvSpPr>
        <p:spPr>
          <a:xfrm>
            <a:off x="3429000" y="2011680"/>
            <a:ext cx="2286000" cy="594360"/>
          </a:xfrm>
          <a:prstGeom prst="rect">
            <a:avLst/>
          </a:prstGeom>
          <a:noFill/>
          <a:ln/>
        </p:spPr>
        <p:txBody>
          <a:bodyPr wrap="square" lIns="0" tIns="0" rIns="0" bIns="0" rtlCol="0" anchor="t"/>
          <a:lstStyle/>
          <a:p>
            <a:pPr indent="0" marL="0">
              <a:buNone/>
            </a:pPr>
            <a:r>
              <a:rPr lang="en-US" sz="1300" dirty="0">
                <a:solidFill>
                  <a:schemeClr val="accent5"/>
                </a:solidFill>
              </a:rPr>
              <a:t>5 V boost converter, TP4056 charger, 1 A fuse</a:t>
            </a:r>
            <a:endParaRPr lang="en-US" sz="1300" dirty="0"/>
          </a:p>
        </p:txBody>
      </p:sp>
      <p:sp>
        <p:nvSpPr>
          <p:cNvPr id="13" name="future card"/>
          <p:cNvSpPr/>
          <p:nvPr/>
        </p:nvSpPr>
        <p:spPr>
          <a:xfrm>
            <a:off x="6035040" y="1188720"/>
            <a:ext cx="2606040" cy="1463040"/>
          </a:xfrm>
          <a:prstGeom prst="roundRect">
            <a:avLst>
              <a:gd name="adj" fmla="val 7500"/>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4" name="icon circle"/>
          <p:cNvSpPr/>
          <p:nvPr/>
        </p:nvSpPr>
        <p:spPr>
          <a:xfrm>
            <a:off x="6217920" y="1371600"/>
            <a:ext cx="502920" cy="502920"/>
          </a:xfrm>
          <a:prstGeom prst="ellipse">
            <a:avLst/>
          </a:prstGeom>
          <a:solidFill>
            <a:schemeClr val="tx2"/>
          </a:solidFill>
          <a:ln w="12700">
            <a:solidFill>
              <a:schemeClr val="tx2"/>
            </a:solidFill>
            <a:prstDash val="solid"/>
          </a:ln>
        </p:spPr>
      </p:sp>
      <p:pic>
        <p:nvPicPr>
          <p:cNvPr id="15" name="icon" descr="preencoded.png">    </p:cNvPr>
          <p:cNvPicPr>
            <a:picLocks noChangeAspect="1"/>
          </p:cNvPicPr>
          <p:nvPr/>
        </p:nvPicPr>
        <p:blipFill>
          <a:blip r:embed="rId3"/>
          <a:stretch>
            <a:fillRect/>
          </a:stretch>
        </p:blipFill>
        <p:spPr>
          <a:xfrm>
            <a:off x="6328562" y="1482242"/>
            <a:ext cx="281635" cy="281635"/>
          </a:xfrm>
          <a:prstGeom prst="rect">
            <a:avLst/>
          </a:prstGeom>
        </p:spPr>
      </p:pic>
      <p:sp>
        <p:nvSpPr>
          <p:cNvPr id="16" name="Text 11"/>
          <p:cNvSpPr txBox="1"/>
          <p:nvPr/>
        </p:nvSpPr>
        <p:spPr>
          <a:xfrm>
            <a:off x="6858000" y="1463040"/>
            <a:ext cx="1691640" cy="365760"/>
          </a:xfrm>
          <a:prstGeom prst="rect">
            <a:avLst/>
          </a:prstGeom>
          <a:noFill/>
          <a:ln/>
        </p:spPr>
        <p:txBody>
          <a:bodyPr wrap="square" lIns="0" tIns="0" rIns="0" bIns="0" rtlCol="0" anchor="t"/>
          <a:lstStyle/>
          <a:p>
            <a:pPr indent="0" marL="0">
              <a:buNone/>
            </a:pPr>
            <a:r>
              <a:rPr lang="en-US" sz="1500" b="1" dirty="0">
                <a:solidFill>
                  <a:schemeClr val="tx2"/>
                </a:solidFill>
              </a:rPr>
              <a:t>More sensors</a:t>
            </a:r>
            <a:endParaRPr lang="en-US" sz="1500" dirty="0"/>
          </a:p>
        </p:txBody>
      </p:sp>
      <p:sp>
        <p:nvSpPr>
          <p:cNvPr id="17" name="Text 12"/>
          <p:cNvSpPr txBox="1"/>
          <p:nvPr/>
        </p:nvSpPr>
        <p:spPr>
          <a:xfrm>
            <a:off x="6217920" y="2011680"/>
            <a:ext cx="2286000" cy="594360"/>
          </a:xfrm>
          <a:prstGeom prst="rect">
            <a:avLst/>
          </a:prstGeom>
          <a:noFill/>
          <a:ln/>
        </p:spPr>
        <p:txBody>
          <a:bodyPr wrap="square" lIns="0" tIns="0" rIns="0" bIns="0" rtlCol="0" anchor="t"/>
          <a:lstStyle/>
          <a:p>
            <a:pPr indent="0" marL="0">
              <a:buNone/>
            </a:pPr>
            <a:r>
              <a:rPr lang="en-US" sz="1300" dirty="0">
                <a:solidFill>
                  <a:schemeClr val="accent5"/>
                </a:solidFill>
              </a:rPr>
              <a:t>Angled up for heads, down for steps and potholes</a:t>
            </a:r>
            <a:endParaRPr lang="en-US" sz="1300" dirty="0"/>
          </a:p>
        </p:txBody>
      </p:sp>
      <p:sp>
        <p:nvSpPr>
          <p:cNvPr id="18" name="future card"/>
          <p:cNvSpPr/>
          <p:nvPr/>
        </p:nvSpPr>
        <p:spPr>
          <a:xfrm>
            <a:off x="457200" y="2880360"/>
            <a:ext cx="2606040" cy="1463040"/>
          </a:xfrm>
          <a:prstGeom prst="roundRect">
            <a:avLst>
              <a:gd name="adj" fmla="val 7500"/>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9" name="icon circle"/>
          <p:cNvSpPr/>
          <p:nvPr/>
        </p:nvSpPr>
        <p:spPr>
          <a:xfrm>
            <a:off x="640080" y="3063240"/>
            <a:ext cx="502920" cy="502920"/>
          </a:xfrm>
          <a:prstGeom prst="ellipse">
            <a:avLst/>
          </a:prstGeom>
          <a:solidFill>
            <a:schemeClr val="tx2"/>
          </a:solidFill>
          <a:ln w="12700">
            <a:solidFill>
              <a:schemeClr val="tx2"/>
            </a:solidFill>
            <a:prstDash val="solid"/>
          </a:ln>
        </p:spPr>
      </p:sp>
      <p:pic>
        <p:nvPicPr>
          <p:cNvPr id="20" name="icon" descr="preencoded.png">    </p:cNvPr>
          <p:cNvPicPr>
            <a:picLocks noChangeAspect="1"/>
          </p:cNvPicPr>
          <p:nvPr/>
        </p:nvPicPr>
        <p:blipFill>
          <a:blip r:embed="rId4"/>
          <a:stretch>
            <a:fillRect/>
          </a:stretch>
        </p:blipFill>
        <p:spPr>
          <a:xfrm>
            <a:off x="750722" y="3173882"/>
            <a:ext cx="281635" cy="281635"/>
          </a:xfrm>
          <a:prstGeom prst="rect">
            <a:avLst/>
          </a:prstGeom>
        </p:spPr>
      </p:pic>
      <p:sp>
        <p:nvSpPr>
          <p:cNvPr id="21" name="Text 15"/>
          <p:cNvSpPr txBox="1"/>
          <p:nvPr/>
        </p:nvSpPr>
        <p:spPr>
          <a:xfrm>
            <a:off x="1280160" y="3154680"/>
            <a:ext cx="1691640" cy="365760"/>
          </a:xfrm>
          <a:prstGeom prst="rect">
            <a:avLst/>
          </a:prstGeom>
          <a:noFill/>
          <a:ln/>
        </p:spPr>
        <p:txBody>
          <a:bodyPr wrap="square" lIns="0" tIns="0" rIns="0" bIns="0" rtlCol="0" anchor="t"/>
          <a:lstStyle/>
          <a:p>
            <a:pPr indent="0" marL="0">
              <a:buNone/>
            </a:pPr>
            <a:r>
              <a:rPr lang="en-US" sz="1500" b="1" dirty="0">
                <a:solidFill>
                  <a:schemeClr val="tx2"/>
                </a:solidFill>
              </a:rPr>
              <a:t>Capacitive probe</a:t>
            </a:r>
            <a:endParaRPr lang="en-US" sz="1500" dirty="0"/>
          </a:p>
        </p:txBody>
      </p:sp>
      <p:sp>
        <p:nvSpPr>
          <p:cNvPr id="22" name="Text 16"/>
          <p:cNvSpPr txBox="1"/>
          <p:nvPr/>
        </p:nvSpPr>
        <p:spPr>
          <a:xfrm>
            <a:off x="640080" y="3703320"/>
            <a:ext cx="2286000" cy="594360"/>
          </a:xfrm>
          <a:prstGeom prst="rect">
            <a:avLst/>
          </a:prstGeom>
          <a:noFill/>
          <a:ln/>
        </p:spPr>
        <p:txBody>
          <a:bodyPr wrap="square" lIns="0" tIns="0" rIns="0" bIns="0" rtlCol="0" anchor="t"/>
          <a:lstStyle/>
          <a:p>
            <a:pPr indent="0" marL="0">
              <a:buNone/>
            </a:pPr>
            <a:r>
              <a:rPr lang="en-US" sz="1300" dirty="0">
                <a:solidFill>
                  <a:schemeClr val="accent5"/>
                </a:solidFill>
              </a:rPr>
              <a:t>No exposed metal, so no corrosion</a:t>
            </a:r>
            <a:endParaRPr lang="en-US" sz="1300" dirty="0"/>
          </a:p>
        </p:txBody>
      </p:sp>
      <p:sp>
        <p:nvSpPr>
          <p:cNvPr id="23" name="future card"/>
          <p:cNvSpPr/>
          <p:nvPr/>
        </p:nvSpPr>
        <p:spPr>
          <a:xfrm>
            <a:off x="3246120" y="2880360"/>
            <a:ext cx="2606040" cy="1463040"/>
          </a:xfrm>
          <a:prstGeom prst="roundRect">
            <a:avLst>
              <a:gd name="adj" fmla="val 7500"/>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24" name="icon circle"/>
          <p:cNvSpPr/>
          <p:nvPr/>
        </p:nvSpPr>
        <p:spPr>
          <a:xfrm>
            <a:off x="3429000" y="3063240"/>
            <a:ext cx="502920" cy="502920"/>
          </a:xfrm>
          <a:prstGeom prst="ellipse">
            <a:avLst/>
          </a:prstGeom>
          <a:solidFill>
            <a:schemeClr val="tx2"/>
          </a:solidFill>
          <a:ln w="12700">
            <a:solidFill>
              <a:schemeClr val="tx2"/>
            </a:solidFill>
            <a:prstDash val="solid"/>
          </a:ln>
        </p:spPr>
      </p:sp>
      <p:pic>
        <p:nvPicPr>
          <p:cNvPr id="25" name="icon" descr="preencoded.png">    </p:cNvPr>
          <p:cNvPicPr>
            <a:picLocks noChangeAspect="1"/>
          </p:cNvPicPr>
          <p:nvPr/>
        </p:nvPicPr>
        <p:blipFill>
          <a:blip r:embed="rId5"/>
          <a:stretch>
            <a:fillRect/>
          </a:stretch>
        </p:blipFill>
        <p:spPr>
          <a:xfrm>
            <a:off x="3539642" y="3173882"/>
            <a:ext cx="281635" cy="281635"/>
          </a:xfrm>
          <a:prstGeom prst="rect">
            <a:avLst/>
          </a:prstGeom>
        </p:spPr>
      </p:pic>
      <p:sp>
        <p:nvSpPr>
          <p:cNvPr id="26" name="Text 19"/>
          <p:cNvSpPr txBox="1"/>
          <p:nvPr/>
        </p:nvSpPr>
        <p:spPr>
          <a:xfrm>
            <a:off x="4069080" y="3154680"/>
            <a:ext cx="1691640" cy="365760"/>
          </a:xfrm>
          <a:prstGeom prst="rect">
            <a:avLst/>
          </a:prstGeom>
          <a:noFill/>
          <a:ln/>
        </p:spPr>
        <p:txBody>
          <a:bodyPr wrap="square" lIns="0" tIns="0" rIns="0" bIns="0" rtlCol="0" anchor="t"/>
          <a:lstStyle/>
          <a:p>
            <a:pPr indent="0" marL="0">
              <a:buNone/>
            </a:pPr>
            <a:r>
              <a:rPr lang="en-US" sz="1500" b="1" dirty="0">
                <a:solidFill>
                  <a:schemeClr val="tx2"/>
                </a:solidFill>
              </a:rPr>
              <a:t>GPS + SOS</a:t>
            </a:r>
            <a:endParaRPr lang="en-US" sz="1500" dirty="0"/>
          </a:p>
        </p:txBody>
      </p:sp>
      <p:sp>
        <p:nvSpPr>
          <p:cNvPr id="27" name="Text 20"/>
          <p:cNvSpPr txBox="1"/>
          <p:nvPr/>
        </p:nvSpPr>
        <p:spPr>
          <a:xfrm>
            <a:off x="3429000" y="3703320"/>
            <a:ext cx="2286000" cy="594360"/>
          </a:xfrm>
          <a:prstGeom prst="rect">
            <a:avLst/>
          </a:prstGeom>
          <a:noFill/>
          <a:ln/>
        </p:spPr>
        <p:txBody>
          <a:bodyPr wrap="square" lIns="0" tIns="0" rIns="0" bIns="0" rtlCol="0" anchor="t"/>
          <a:lstStyle/>
          <a:p>
            <a:pPr indent="0" marL="0">
              <a:buNone/>
            </a:pPr>
            <a:r>
              <a:rPr lang="en-US" sz="1300" dirty="0">
                <a:solidFill>
                  <a:schemeClr val="accent5"/>
                </a:solidFill>
              </a:rPr>
              <a:t>Send location to family via GSM or Bluetooth</a:t>
            </a:r>
            <a:endParaRPr lang="en-US" sz="1300" dirty="0"/>
          </a:p>
        </p:txBody>
      </p:sp>
      <p:sp>
        <p:nvSpPr>
          <p:cNvPr id="28" name="future card"/>
          <p:cNvSpPr/>
          <p:nvPr/>
        </p:nvSpPr>
        <p:spPr>
          <a:xfrm>
            <a:off x="6035040" y="2880360"/>
            <a:ext cx="2606040" cy="1463040"/>
          </a:xfrm>
          <a:prstGeom prst="roundRect">
            <a:avLst>
              <a:gd name="adj" fmla="val 7500"/>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29" name="icon circle"/>
          <p:cNvSpPr/>
          <p:nvPr/>
        </p:nvSpPr>
        <p:spPr>
          <a:xfrm>
            <a:off x="6217920" y="3063240"/>
            <a:ext cx="502920" cy="502920"/>
          </a:xfrm>
          <a:prstGeom prst="ellipse">
            <a:avLst/>
          </a:prstGeom>
          <a:solidFill>
            <a:schemeClr val="tx2"/>
          </a:solidFill>
          <a:ln w="12700">
            <a:solidFill>
              <a:schemeClr val="tx2"/>
            </a:solidFill>
            <a:prstDash val="solid"/>
          </a:ln>
        </p:spPr>
      </p:sp>
      <p:pic>
        <p:nvPicPr>
          <p:cNvPr id="30" name="icon" descr="preencoded.png">    </p:cNvPr>
          <p:cNvPicPr>
            <a:picLocks noChangeAspect="1"/>
          </p:cNvPicPr>
          <p:nvPr/>
        </p:nvPicPr>
        <p:blipFill>
          <a:blip r:embed="rId6"/>
          <a:stretch>
            <a:fillRect/>
          </a:stretch>
        </p:blipFill>
        <p:spPr>
          <a:xfrm>
            <a:off x="6328562" y="3173882"/>
            <a:ext cx="281635" cy="281635"/>
          </a:xfrm>
          <a:prstGeom prst="rect">
            <a:avLst/>
          </a:prstGeom>
        </p:spPr>
      </p:pic>
      <p:sp>
        <p:nvSpPr>
          <p:cNvPr id="31" name="Text 23"/>
          <p:cNvSpPr txBox="1"/>
          <p:nvPr/>
        </p:nvSpPr>
        <p:spPr>
          <a:xfrm>
            <a:off x="6858000" y="3154680"/>
            <a:ext cx="1691640" cy="365760"/>
          </a:xfrm>
          <a:prstGeom prst="rect">
            <a:avLst/>
          </a:prstGeom>
          <a:noFill/>
          <a:ln/>
        </p:spPr>
        <p:txBody>
          <a:bodyPr wrap="square" lIns="0" tIns="0" rIns="0" bIns="0" rtlCol="0" anchor="t"/>
          <a:lstStyle/>
          <a:p>
            <a:pPr indent="0" marL="0">
              <a:buNone/>
            </a:pPr>
            <a:r>
              <a:rPr lang="en-US" sz="1500" b="1" dirty="0">
                <a:solidFill>
                  <a:schemeClr val="tx2"/>
                </a:solidFill>
              </a:rPr>
              <a:t>PCB + enclosure</a:t>
            </a:r>
            <a:endParaRPr lang="en-US" sz="1500" dirty="0"/>
          </a:p>
        </p:txBody>
      </p:sp>
      <p:sp>
        <p:nvSpPr>
          <p:cNvPr id="32" name="Text 24"/>
          <p:cNvSpPr txBox="1"/>
          <p:nvPr/>
        </p:nvSpPr>
        <p:spPr>
          <a:xfrm>
            <a:off x="6217920" y="3703320"/>
            <a:ext cx="2286000" cy="594360"/>
          </a:xfrm>
          <a:prstGeom prst="rect">
            <a:avLst/>
          </a:prstGeom>
          <a:noFill/>
          <a:ln/>
        </p:spPr>
        <p:txBody>
          <a:bodyPr wrap="square" lIns="0" tIns="0" rIns="0" bIns="0" rtlCol="0" anchor="t"/>
          <a:lstStyle/>
          <a:p>
            <a:pPr indent="0" marL="0">
              <a:buNone/>
            </a:pPr>
            <a:r>
              <a:rPr lang="en-US" sz="1300" dirty="0">
                <a:solidFill>
                  <a:schemeClr val="accent5"/>
                </a:solidFill>
              </a:rPr>
              <a:t>Waterproof, robust, ready for field trials</a:t>
            </a:r>
            <a:endParaRPr lang="en-US" sz="13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References</a:t>
            </a:r>
            <a:endParaRPr lang="en-US" sz="3000" dirty="0"/>
          </a:p>
        </p:txBody>
      </p:sp>
      <p:sp>
        <p:nvSpPr>
          <p:cNvPr id="3" name="Text 1"/>
          <p:cNvSpPr txBox="1"/>
          <p:nvPr/>
        </p:nvSpPr>
        <p:spPr>
          <a:xfrm>
            <a:off x="457200" y="1188720"/>
            <a:ext cx="8229600" cy="3383280"/>
          </a:xfrm>
          <a:prstGeom prst="rect">
            <a:avLst/>
          </a:prstGeom>
          <a:noFill/>
          <a:ln/>
        </p:spPr>
        <p:txBody>
          <a:bodyPr wrap="square" lIns="0" tIns="0" rIns="0" bIns="0" rtlCol="0" anchor="t"/>
          <a:lstStyle/>
          <a:p>
            <a:pPr indent="0" marL="0">
              <a:spcAft>
                <a:spcPts val="1200"/>
              </a:spcAft>
              <a:buNone/>
            </a:pPr>
            <a:r>
              <a:rPr lang="en-US" sz="1500" dirty="0">
                <a:solidFill>
                  <a:schemeClr val="tx1"/>
                </a:solidFill>
              </a:rPr>
              <a:t>[1] Elecfreaks, “Ultrasonic Ranging Module HC-SR04,” datasheet, 2011.</a:t>
            </a:r>
            <a:endParaRPr lang="en-US" sz="1500" dirty="0"/>
          </a:p>
          <a:p>
            <a:pPr indent="0" marL="0">
              <a:spcAft>
                <a:spcPts val="1200"/>
              </a:spcAft>
              <a:buNone/>
            </a:pPr>
            <a:r>
              <a:rPr lang="en-US" sz="1500" dirty="0">
                <a:solidFill>
                  <a:schemeClr val="tx1"/>
                </a:solidFill>
              </a:rPr>
              <a:t>[2] Microchip Technology, “ATmega328P megaAVR Data Sheet,” DS40002061, 2020.</a:t>
            </a:r>
            <a:endParaRPr lang="en-US" sz="1500" dirty="0"/>
          </a:p>
          <a:p>
            <a:pPr indent="0" marL="0">
              <a:spcAft>
                <a:spcPts val="1200"/>
              </a:spcAft>
              <a:buNone/>
            </a:pPr>
            <a:r>
              <a:rPr lang="en-US" sz="1500" dirty="0">
                <a:solidFill>
                  <a:schemeClr val="tx1"/>
                </a:solidFill>
              </a:rPr>
              <a:t>[3] Arduino, “Arduino Nano,” docs.arduino.cc/hardware/nano</a:t>
            </a:r>
            <a:endParaRPr lang="en-US" sz="1500" dirty="0"/>
          </a:p>
          <a:p>
            <a:pPr indent="0" marL="0">
              <a:spcAft>
                <a:spcPts val="1200"/>
              </a:spcAft>
              <a:buNone/>
            </a:pPr>
            <a:r>
              <a:rPr lang="en-US" sz="1500" dirty="0">
                <a:solidFill>
                  <a:schemeClr val="tx1"/>
                </a:solidFill>
              </a:rPr>
              <a:t>[4] Arduino, “Language Reference: pulseIn(), analogRead(), map(),” arduino.cc/reference</a:t>
            </a:r>
            <a:endParaRPr lang="en-US" sz="1500" dirty="0"/>
          </a:p>
          <a:p>
            <a:pPr indent="0" marL="0">
              <a:spcAft>
                <a:spcPts val="1200"/>
              </a:spcAft>
              <a:buNone/>
            </a:pPr>
            <a:r>
              <a:rPr lang="en-US" sz="1500" dirty="0">
                <a:solidFill>
                  <a:schemeClr val="tx1"/>
                </a:solidFill>
              </a:rPr>
              <a:t>[5] Texas Instruments, “LM393 Dual Comparator,” datasheet, ti.com/product/LM393</a:t>
            </a:r>
            <a:endParaRPr lang="en-US" sz="1500" dirty="0"/>
          </a:p>
          <a:p>
            <a:pPr indent="0" marL="0">
              <a:spcAft>
                <a:spcPts val="1200"/>
              </a:spcAft>
              <a:buNone/>
            </a:pPr>
            <a:r>
              <a:rPr lang="en-US" sz="1500" dirty="0">
                <a:solidFill>
                  <a:schemeClr val="tx1"/>
                </a:solidFill>
              </a:rPr>
              <a:t>[6] World Health Organization, “World Report on Vision,” Geneva, 2019.</a:t>
            </a:r>
            <a:endParaRPr lang="en-US" sz="15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4572000" cy="1097280"/>
          </a:xfrm>
          <a:prstGeom prst="rect">
            <a:avLst/>
          </a:prstGeom>
          <a:noFill/>
          <a:ln/>
        </p:spPr>
        <p:txBody>
          <a:bodyPr wrap="square" lIns="0" tIns="0" rIns="0" bIns="0" rtlCol="0" anchor="b"/>
          <a:lstStyle/>
          <a:p>
            <a:pPr algn="l" indent="0" marL="0">
              <a:buNone/>
            </a:pPr>
            <a:r>
              <a:rPr lang="en-US" sz="4400" b="1" dirty="0">
                <a:solidFill>
                  <a:schemeClr val="bg1"/>
                </a:solidFill>
              </a:rPr>
              <a:t>Thank you</a:t>
            </a:r>
            <a:endParaRPr lang="en-US" sz="4400" dirty="0"/>
          </a:p>
        </p:txBody>
      </p:sp>
      <p:sp>
        <p:nvSpPr>
          <p:cNvPr id="3" name="Text 0"/>
          <p:cNvSpPr/>
          <p:nvPr>
            <p:ph idx="101" type="body" hasCustomPrompt="1"/>
          </p:nvPr>
        </p:nvSpPr>
        <p:spPr>
          <a:xfrm>
            <a:off x="548640" y="2423160"/>
            <a:ext cx="4572000" cy="1188720"/>
          </a:xfrm>
          <a:prstGeom prst="rect">
            <a:avLst/>
          </a:prstGeom>
          <a:noFill/>
          <a:ln/>
        </p:spPr>
        <p:txBody>
          <a:bodyPr wrap="square" lIns="0" tIns="0" rIns="0" bIns="0" rtlCol="0" anchor="t"/>
          <a:lstStyle/>
          <a:p>
            <a:pPr algn="l" indent="0" marL="0">
              <a:buNone/>
            </a:pPr>
            <a:r>
              <a:rPr lang="en-US" sz="1800" dirty="0">
                <a:solidFill>
                  <a:schemeClr val="accent6"/>
                </a:solidFill>
              </a:rPr>
              <a:t>Questions?</a:t>
            </a:r>
            <a:endParaRPr lang="en-US" sz="1800" dirty="0"/>
          </a:p>
        </p:txBody>
      </p:sp>
      <p:sp>
        <p:nvSpPr>
          <p:cNvPr id="4" name="conclusion card"/>
          <p:cNvSpPr/>
          <p:nvPr/>
        </p:nvSpPr>
        <p:spPr>
          <a:xfrm>
            <a:off x="5120640" y="822960"/>
            <a:ext cx="3566160" cy="3566160"/>
          </a:xfrm>
          <a:prstGeom prst="roundRect">
            <a:avLst>
              <a:gd name="adj" fmla="val 3077"/>
            </a:avLst>
          </a:prstGeom>
          <a:solidFill>
            <a:srgbClr val="1F2E52"/>
          </a:solidFill>
          <a:ln w="12700">
            <a:solidFill>
              <a:srgbClr val="1F2E52"/>
            </a:solidFill>
            <a:prstDash val="solid"/>
          </a:ln>
          <a:effectLst>
            <a:outerShdw sx="100000" sy="100000" kx="0" ky="0" algn="bl" rotWithShape="0" blurRad="76200" dist="25400" dir="5400000">
              <a:srgbClr val="000000">
                <a:alpha val="15000"/>
              </a:srgbClr>
            </a:outerShdw>
          </a:effectLst>
        </p:spPr>
      </p:sp>
      <p:sp>
        <p:nvSpPr>
          <p:cNvPr id="5" name="Text 3"/>
          <p:cNvSpPr txBox="1"/>
          <p:nvPr/>
        </p:nvSpPr>
        <p:spPr>
          <a:xfrm>
            <a:off x="5349240" y="1005840"/>
            <a:ext cx="3108960" cy="411480"/>
          </a:xfrm>
          <a:prstGeom prst="rect">
            <a:avLst/>
          </a:prstGeom>
          <a:noFill/>
          <a:ln/>
        </p:spPr>
        <p:txBody>
          <a:bodyPr wrap="square" lIns="0" tIns="0" rIns="0" bIns="0" rtlCol="0" anchor="t"/>
          <a:lstStyle/>
          <a:p>
            <a:pPr indent="0" marL="0">
              <a:buNone/>
            </a:pPr>
            <a:r>
              <a:rPr lang="en-US" sz="1800" b="1" dirty="0">
                <a:solidFill>
                  <a:schemeClr val="accent1"/>
                </a:solidFill>
              </a:rPr>
              <a:t>Conclusion</a:t>
            </a:r>
            <a:endParaRPr lang="en-US" sz="1800" dirty="0"/>
          </a:p>
        </p:txBody>
      </p:sp>
      <p:sp>
        <p:nvSpPr>
          <p:cNvPr id="6" name="Text 4"/>
          <p:cNvSpPr txBox="1"/>
          <p:nvPr/>
        </p:nvSpPr>
        <p:spPr>
          <a:xfrm>
            <a:off x="5349240" y="1508760"/>
            <a:ext cx="315468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rPr>
              <a:t>A plain cane becomes a low-cost electronic travel aid</a:t>
            </a:r>
            <a:endParaRPr lang="en-US" sz="1400" dirty="0"/>
          </a:p>
          <a:p>
            <a:pPr marL="342900" indent="-342900">
              <a:spcAft>
                <a:spcPts val="800"/>
              </a:spcAft>
              <a:buSzPct val="100000"/>
              <a:buChar char="•"/>
            </a:pPr>
            <a:r>
              <a:rPr lang="en-US" sz="1400" dirty="0">
                <a:solidFill>
                  <a:schemeClr val="bg1"/>
                </a:solidFill>
              </a:rPr>
              <a:t>Warns about obstacles before contact, with distance in the beep rate</a:t>
            </a:r>
            <a:endParaRPr lang="en-US" sz="1400" dirty="0"/>
          </a:p>
          <a:p>
            <a:pPr marL="342900" indent="-342900">
              <a:spcAft>
                <a:spcPts val="800"/>
              </a:spcAft>
              <a:buSzPct val="100000"/>
              <a:buChar char="•"/>
            </a:pPr>
            <a:r>
              <a:rPr lang="en-US" sz="1400" dirty="0">
                <a:solidFill>
                  <a:schemeClr val="bg1"/>
                </a:solidFill>
              </a:rPr>
              <a:t>Gives priority warnings for water underfoot</a:t>
            </a:r>
            <a:endParaRPr lang="en-US" sz="1400" dirty="0"/>
          </a:p>
          <a:p>
            <a:pPr marL="342900" indent="-342900">
              <a:spcAft>
                <a:spcPts val="800"/>
              </a:spcAft>
              <a:buSzPct val="100000"/>
              <a:buChar char="•"/>
            </a:pPr>
            <a:r>
              <a:rPr lang="en-US" sz="1400" dirty="0">
                <a:solidFill>
                  <a:schemeClr val="bg1"/>
                </a:solidFill>
              </a:rPr>
              <a:t>Runs from one rechargeable cell for about ₹876</a:t>
            </a:r>
            <a:endParaRPr lang="en-US" sz="1400" dirty="0"/>
          </a:p>
        </p:txBody>
      </p:sp>
    </p:spTree>
  </p:cSld>
  <p:clrMapOvr>
    <a:masterClrMapping/>
  </p:clrMapOvr>
</p:sld>
</file>

<file path=ppt/theme/theme1.xml><?xml version="1.0" encoding="utf-8"?>
<a:theme xmlns:a="http://schemas.openxmlformats.org/drawingml/2006/main" name="VisionGuard">
  <a:themeElements>
    <a:clrScheme name="VisionGuard">
      <a:dk1>
        <a:srgbClr val="1B1B1F"/>
      </a:dk1>
      <a:lt1>
        <a:srgbClr val="FFFFFF"/>
      </a:lt1>
      <a:dk2>
        <a:srgbClr val="14213D"/>
      </a:dk2>
      <a:lt2>
        <a:srgbClr val="EEF2F7"/>
      </a:lt2>
      <a:accent1>
        <a:srgbClr val="FCA311"/>
      </a:accent1>
      <a:accent2>
        <a:srgbClr val="1F7A8C"/>
      </a:accent2>
      <a:accent3>
        <a:srgbClr val="D62828"/>
      </a:accent3>
      <a:accent4>
        <a:srgbClr val="2A9D8F"/>
      </a:accent4>
      <a:accent5>
        <a:srgbClr val="5C677D"/>
      </a:accent5>
      <a:accent6>
        <a:srgbClr val="8DA9C4"/>
      </a:accent6>
      <a:hlink>
        <a:srgbClr val="1F7A8C"/>
      </a:hlink>
      <a:folHlink>
        <a:srgbClr val="5C677D"/>
      </a:folHlink>
    </a:clrScheme>
    <a:fontScheme name="VisionGuar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VisionGuard Smart Cane</dc:title>
  <dc:subject>PptxGenJS Presentation</dc:subject>
  <dc:creator>Darshan S</dc:creator>
  <cp:lastModifiedBy>Darshan S</cp:lastModifiedBy>
  <cp:revision>1</cp:revision>
  <dcterms:created xsi:type="dcterms:W3CDTF">2026-10-26T12:25:05Z</dcterms:created>
  <dcterms:modified xsi:type="dcterms:W3CDTF">2026-10-26T12:25:05Z</dcterms:modified>
</cp:coreProperties>
</file>