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9c36b42-e81a-b415-26de-f744d6cf8b86}">
          <p14:sldIdLst>
            <p14:sldId id="256"/>
            <p14:sldId id="257"/>
            <p14:sldId id="258"/>
            <p14:sldId id="259"/>
            <p14:sldId id="260"/>
            <p14:sldId id="261"/>
          </p14:sldIdLst>
        </p14:section>
        <p14:section name="System Design" id="{6add6ddb-72fd-7030-5904-b2d9b0901845}">
          <p14:sldIdLst>
            <p14:sldId id="262"/>
            <p14:sldId id="263"/>
            <p14:sldId id="264"/>
            <p14:sldId id="265"/>
            <p14:sldId id="266"/>
            <p14:sldId id="267"/>
            <p14:sldId id="268"/>
            <p14:sldId id="269"/>
          </p14:sldIdLst>
        </p14:section>
        <p14:section name="Software" id="{8d0f1fa0-b823-0a71-b809-c68edfb3c920}">
          <p14:sldIdLst>
            <p14:sldId id="270"/>
            <p14:sldId id="271"/>
            <p14:sldId id="272"/>
            <p14:sldId id="273"/>
          </p14:sldIdLst>
        </p14:section>
        <p14:section name="Results and Conclusion" id="{28423bf7-b9b9-f09d-55c0-820fe8060926}">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S Darshan and Tanay Agarwal. Our project is VisionGuard, a smart cane for visually impaired people. It warns the user about obstacles in front and about water or wet ground at the tip, using an Arduino Nano, an ultrasonic sensor and a moisture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talk: the problem, our objectives, the system design, the software, the results, and finally the limitations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Millions of people depend on the white cane. Its limits: it detects an obstacle only on contact, it cannot warn about water or open drains, and it gives no idea of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white cane is cheap but contact-only. Guide dogs are excellent but expensive and scarce. Commercial smart canes are costly and imported. Our project targets the gap: a low-cost cane that warns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measurable objectives: detect obstacles within 50 cm; show distance through the beep gap, from 50 ms when very close to 400 ms at 50 cm; detect water when the moisture reading drops below 500 out of 1023, with priority; and keep the cane cheap and portable, about 876 rupees of hardware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adds three things to a PVC cane: an ultrasonic sensor as its eyes, a moisture probe at the tip, and a buzzer that gives prioritised alerts. An Arduino Nano runs it all from a single 18650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on the left: the ultrasonic sensor on D5 and D6, and the moisture probe through the LM393 module on A0. The Nano in the middle decides. The output is the buzzer on D2. Power comes from the battery through the switch to the 5V pin. The dashed vibration motor is planned,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electronic parts. The Nano is the brain, the HC-SR04 measures distance, the probe and LM393 module sense water, the buzzer alerts, and the battery, switch and capacitor make up the power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the Arduino Nano because it is small enough for a cane, cheap, uses 5 volt logic like our sensors, has a built-in 10-bit ADC for the moisture probe, and is easy to program over USB. A Raspberry Pi would be overkill in cost, power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Nano sends a 10 microsecond pulse on Trig. The sensor emits eight 40 kHz pulses and holds Echo high until the echo returns. Distance equals speed of sound times time, divided by two because the sound goes there and back. For example, 1000 microseconds gives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probe has two copper tracks. Dry air does not conduct, so the reading is near 1023. Water conducts, the resistance drops, and the voltage on A0 falls. Below 500 we treat it as water. Because the ADC reference and the divider use the same supply, the reading does not depend on the battery voltage.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18650 lithium-ion cell powers everything through a rocker switch connected to the Nano's 5V pin. Total draw is about 40 mA, so the 1200 mAh cell lasts roughly 30 hours in theory. A capacitor smooths the supply. Important: switch off before connecting USB, because the battery is wired directly to the 5V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modules share the 5 volt and ground rails. Trig goes to D5, Echo to D6, the moisture output to A0 and the buzzer to D2. D3 is reserved for a vibration motor in the next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every connection. Note that the moisture module's digital output D0 is not used; we read the analog value so we can set the threshold in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initialise once, then measure distance, read moisture, and decide. Water has first priority with a continuous tone. Otherwise, if an obstacle is within 50 cm, it beeps with a gap from 50 to 400 ms depending on distance. Otherwise it is silent. Then it waits 30 ms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flow graph shows the computation: the echo time is multiplied by 0.034 and divided by 2 to get distance. Distance goes to a comparison for 'near' and to constrain and map to get the beep gap. The moisture value is compared with 500 to get 'wet'. The priority select combines them to drive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switch-on, the system initialises and then senses. From SENSE it goes into exactly one state: water alert, obstacle alert or clear. Each returns to SENSE after 30 milliseconds. Switching off returns it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code, simplified. readDistanceCm sends the trigger pulse and measures the echo with a 30 ms timeout. Then the if-else chain implements the priority: water first, then obstacle with map() giving the beep gap, otherwise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built prototype. From the tip: the moisture probe, the LM393 module, the ultrasonic sensor facing forward, then the Nano with the buzzer, the switch and the battery near the handle, which keeps it easy to swing.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so far: the cane runs on battery and the obstacle alert works, with beeps getting faster as the obstacle approaches. The water alert is implemented and we are calibrating the threshold from the dry and wet readings on the Serial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cane hardware costs about 876 rupees. The full project spend was 1,805 rupees, but that includes the soldering iron and other tools, and parts kept for the next version such as the MOSFET and fuse. That is far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 early warning with distance information, water detection, low cost and easy repair. Limitations: the narrow beam misses head-level obstacles, water is detected only on contact, the probe corrodes, the supply is unregulated, and a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final version we plan a vibration motor for silent alerts, regulated power with charging and a fuse, extra sensors for head-level obstacles and steps, a capacitive moisture sensor, GPS with an SOS message, and a PCB in a waterproof enclosure.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datasheets and documentation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VisionGuard turns a plain cane into a low-cost electronic travel aid that warns about obstacles before contact, shows distance through the beep rate, and gives priority warnings for water, all for under 900 rupees.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B.Tech CSE, VIT Vellore</a:t>
            </a:r>
            <a:endParaRPr lang="en-US" sz="1300" dirty="0"/>
          </a:p>
        </p:txBody>
      </p:sp>
      <p:sp>
        <p:nvSpPr>
          <p:cNvPr id="5" name="tag"/>
          <p:cNvSpPr/>
          <p:nvPr/>
        </p:nvSpPr>
        <p:spPr>
          <a:xfrm>
            <a:off x="548640" y="548640"/>
            <a:ext cx="146304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overview.jpg">    </p:cNvPr>
          <p:cNvPicPr>
            <a:picLocks noChangeAspect="1"/>
          </p:cNvPicPr>
          <p:nvPr/>
        </p:nvPicPr>
        <p:blipFill>
          <a:blip r:embed="rId1"/>
          <a:stretch>
            <a:fillRect/>
          </a:stretch>
        </p:blipFill>
        <p:spPr>
          <a:xfrm>
            <a:off x="5394960" y="1320394"/>
            <a:ext cx="3291840" cy="24798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oundRect">
            <a:avLst>
              <a:gd name="adj" fmla="val 3429"/>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sp>
        <p:nvSpPr>
          <p:cNvPr id="7" name="icon circle"/>
          <p:cNvSpPr/>
          <p:nvPr/>
        </p:nvSpPr>
        <p:spPr>
          <a:xfrm>
            <a:off x="4069080" y="1234440"/>
            <a:ext cx="640080" cy="640080"/>
          </a:xfrm>
          <a:prstGeom prst="ellipse">
            <a:avLst/>
          </a:prstGeom>
          <a:solidFill>
            <a:schemeClr val="accent1"/>
          </a:solidFill>
          <a:ln w="12700">
            <a:solidFill>
              <a:schemeClr val="accent1"/>
            </a:solidFill>
            <a:prstDash val="solid"/>
          </a:ln>
        </p:spPr>
      </p:sp>
      <p:pic>
        <p:nvPicPr>
          <p:cNvPr id="8" name="icon" descr="preencoded.png">    </p:cNvPr>
          <p:cNvPicPr>
            <a:picLocks noChangeAspect="1"/>
          </p:cNvPicPr>
          <p:nvPr/>
        </p:nvPicPr>
        <p:blipFill>
          <a:blip r:embed="rId1"/>
          <a:stretch>
            <a:fillRect/>
          </a:stretch>
        </p:blipFill>
        <p:spPr>
          <a:xfrm>
            <a:off x="4209898" y="1375258"/>
            <a:ext cx="358445" cy="358445"/>
          </a:xfrm>
          <a:prstGeom prst="rect">
            <a:avLst/>
          </a:prstGeom>
        </p:spPr>
      </p:pic>
      <p:sp>
        <p:nvSpPr>
          <p:cNvPr id="9" name="Text 6"/>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10" name="Text 7"/>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sp>
        <p:nvSpPr>
          <p:cNvPr id="11" name="icon circle"/>
          <p:cNvSpPr/>
          <p:nvPr/>
        </p:nvSpPr>
        <p:spPr>
          <a:xfrm>
            <a:off x="4069080" y="2331720"/>
            <a:ext cx="640080" cy="640080"/>
          </a:xfrm>
          <a:prstGeom prst="ellipse">
            <a:avLst/>
          </a:prstGeom>
          <a:solidFill>
            <a:schemeClr val="accent1"/>
          </a:solidFill>
          <a:ln w="12700">
            <a:solidFill>
              <a:schemeClr val="accent1"/>
            </a:solidFill>
            <a:prstDash val="solid"/>
          </a:ln>
        </p:spPr>
      </p:sp>
      <p:pic>
        <p:nvPicPr>
          <p:cNvPr id="12" name="icon" descr="preencoded.png">    </p:cNvPr>
          <p:cNvPicPr>
            <a:picLocks noChangeAspect="1"/>
          </p:cNvPicPr>
          <p:nvPr/>
        </p:nvPicPr>
        <p:blipFill>
          <a:blip r:embed="rId2"/>
          <a:stretch>
            <a:fillRect/>
          </a:stretch>
        </p:blipFill>
        <p:spPr>
          <a:xfrm>
            <a:off x="4209898" y="2472538"/>
            <a:ext cx="358445" cy="358445"/>
          </a:xfrm>
          <a:prstGeom prst="rect">
            <a:avLst/>
          </a:prstGeom>
        </p:spPr>
      </p:pic>
      <p:sp>
        <p:nvSpPr>
          <p:cNvPr id="13" name="Text 9"/>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4" name="Text 10"/>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sp>
        <p:nvSpPr>
          <p:cNvPr id="15" name="icon circle"/>
          <p:cNvSpPr/>
          <p:nvPr/>
        </p:nvSpPr>
        <p:spPr>
          <a:xfrm>
            <a:off x="4069080" y="3429000"/>
            <a:ext cx="640080" cy="640080"/>
          </a:xfrm>
          <a:prstGeom prst="ellipse">
            <a:avLst/>
          </a:prstGeom>
          <a:solidFill>
            <a:schemeClr val="accent1"/>
          </a:solidFill>
          <a:ln w="12700">
            <a:solidFill>
              <a:schemeClr val="accent1"/>
            </a:solidFill>
            <a:prstDash val="solid"/>
          </a:ln>
        </p:spPr>
      </p:sp>
      <p:pic>
        <p:nvPicPr>
          <p:cNvPr id="16" name="icon" descr="preencoded.png">    </p:cNvPr>
          <p:cNvPicPr>
            <a:picLocks noChangeAspect="1"/>
          </p:cNvPicPr>
          <p:nvPr/>
        </p:nvPicPr>
        <p:blipFill>
          <a:blip r:embed="rId3"/>
          <a:stretch>
            <a:fillRect/>
          </a:stretch>
        </p:blipFill>
        <p:spPr>
          <a:xfrm>
            <a:off x="4209898" y="3569818"/>
            <a:ext cx="358445" cy="358445"/>
          </a:xfrm>
          <a:prstGeom prst="rect">
            <a:avLst/>
          </a:prstGeom>
        </p:spPr>
      </p:pic>
      <p:sp>
        <p:nvSpPr>
          <p:cNvPr id="17" name="Text 12"/>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8" name="Text 13"/>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685800" y="1371600"/>
            <a:ext cx="548640" cy="548640"/>
          </a:xfrm>
          <a:prstGeom prst="ellipse">
            <a:avLst/>
          </a:prstGeom>
          <a:solidFill>
            <a:schemeClr val="tx2"/>
          </a:solidFill>
          <a:ln w="12700">
            <a:solidFill>
              <a:schemeClr val="tx2"/>
            </a:solidFill>
            <a:prstDash val="solid"/>
          </a:ln>
        </p:spPr>
      </p:sp>
      <p:pic>
        <p:nvPicPr>
          <p:cNvPr id="5" name="icon" descr="preencoded.png">    </p:cNvPr>
          <p:cNvPicPr>
            <a:picLocks noChangeAspect="1"/>
          </p:cNvPicPr>
          <p:nvPr/>
        </p:nvPicPr>
        <p:blipFill>
          <a:blip r:embed="rId1"/>
          <a:stretch>
            <a:fillRect/>
          </a:stretch>
        </p:blipFill>
        <p:spPr>
          <a:xfrm>
            <a:off x="806501" y="1492301"/>
            <a:ext cx="307238" cy="307238"/>
          </a:xfrm>
          <a:prstGeom prst="rect">
            <a:avLst/>
          </a:prstGeom>
        </p:spPr>
      </p:pic>
      <p:sp>
        <p:nvSpPr>
          <p:cNvPr id="6" name="Text 3"/>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7" name="Text 4"/>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8" name="Text 5"/>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9" name="solution card"/>
          <p:cNvSpPr/>
          <p:nvPr/>
        </p:nvSpPr>
        <p:spPr>
          <a:xfrm>
            <a:off x="3246120" y="1188720"/>
            <a:ext cx="2606040"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icon circle"/>
          <p:cNvSpPr/>
          <p:nvPr/>
        </p:nvSpPr>
        <p:spPr>
          <a:xfrm>
            <a:off x="3474720" y="1371600"/>
            <a:ext cx="548640" cy="548640"/>
          </a:xfrm>
          <a:prstGeom prst="ellipse">
            <a:avLst/>
          </a:prstGeom>
          <a:solidFill>
            <a:schemeClr val="tx2"/>
          </a:solidFill>
          <a:ln w="12700">
            <a:solidFill>
              <a:schemeClr val="tx2"/>
            </a:solidFill>
            <a:prstDash val="solid"/>
          </a:ln>
        </p:spPr>
      </p:sp>
      <p:pic>
        <p:nvPicPr>
          <p:cNvPr id="11" name="icon" descr="preencoded.png">    </p:cNvPr>
          <p:cNvPicPr>
            <a:picLocks noChangeAspect="1"/>
          </p:cNvPicPr>
          <p:nvPr/>
        </p:nvPicPr>
        <p:blipFill>
          <a:blip r:embed="rId2"/>
          <a:stretch>
            <a:fillRect/>
          </a:stretch>
        </p:blipFill>
        <p:spPr>
          <a:xfrm>
            <a:off x="3595421" y="1492301"/>
            <a:ext cx="307238" cy="307238"/>
          </a:xfrm>
          <a:prstGeom prst="rect">
            <a:avLst/>
          </a:prstGeom>
        </p:spPr>
      </p:pic>
      <p:sp>
        <p:nvSpPr>
          <p:cNvPr id="12" name="Text 8"/>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3" name="Text 9"/>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4" name="Text 10"/>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5" name="solution card"/>
          <p:cNvSpPr/>
          <p:nvPr/>
        </p:nvSpPr>
        <p:spPr>
          <a:xfrm>
            <a:off x="6035040" y="1188720"/>
            <a:ext cx="2606040"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icon circle"/>
          <p:cNvSpPr/>
          <p:nvPr/>
        </p:nvSpPr>
        <p:spPr>
          <a:xfrm>
            <a:off x="6263640" y="1371600"/>
            <a:ext cx="548640" cy="548640"/>
          </a:xfrm>
          <a:prstGeom prst="ellipse">
            <a:avLst/>
          </a:prstGeom>
          <a:solidFill>
            <a:schemeClr val="tx2"/>
          </a:solidFill>
          <a:ln w="12700">
            <a:solidFill>
              <a:schemeClr val="tx2"/>
            </a:solidFill>
            <a:prstDash val="solid"/>
          </a:ln>
        </p:spPr>
      </p:sp>
      <p:pic>
        <p:nvPicPr>
          <p:cNvPr id="17" name="icon" descr="preencoded.png">    </p:cNvPr>
          <p:cNvPicPr>
            <a:picLocks noChangeAspect="1"/>
          </p:cNvPicPr>
          <p:nvPr/>
        </p:nvPicPr>
        <p:blipFill>
          <a:blip r:embed="rId3"/>
          <a:stretch>
            <a:fillRect/>
          </a:stretch>
        </p:blipFill>
        <p:spPr>
          <a:xfrm>
            <a:off x="6384341" y="1492301"/>
            <a:ext cx="307238" cy="307238"/>
          </a:xfrm>
          <a:prstGeom prst="rect">
            <a:avLst/>
          </a:prstGeom>
        </p:spPr>
      </p:pic>
      <p:sp>
        <p:nvSpPr>
          <p:cNvPr id="18" name="Text 13"/>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smart canes</a:t>
            </a:r>
            <a:endParaRPr lang="en-US" sz="1700" dirty="0"/>
          </a:p>
        </p:txBody>
      </p:sp>
      <p:sp>
        <p:nvSpPr>
          <p:cNvPr id="19" name="Text 14"/>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20" name="Text 15"/>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21" name="gap banner"/>
          <p:cNvSpPr/>
          <p:nvPr/>
        </p:nvSpPr>
        <p:spPr>
          <a:xfrm>
            <a:off x="457200" y="3931920"/>
            <a:ext cx="8229600" cy="640080"/>
          </a:xfrm>
          <a:prstGeom prst="roundRect">
            <a:avLst>
              <a:gd name="adj" fmla="val 17143"/>
            </a:avLst>
          </a:prstGeom>
          <a:solidFill>
            <a:schemeClr val="accent1"/>
          </a:solidFill>
          <a:ln w="12700">
            <a:solidFill>
              <a:schemeClr val="accent1"/>
            </a:solidFill>
            <a:prstDash val="solid"/>
          </a:ln>
          <a:effectLst>
            <a:outerShdw sx="100000" sy="100000" kx="0" ky="0" algn="bl" rotWithShape="0" blurRad="76200" dist="25400" dir="5400000">
              <a:srgbClr val="000000">
                <a:alpha val="15000"/>
              </a:srgbClr>
            </a:outerShdw>
          </a:effectLst>
        </p:spPr>
      </p:sp>
      <p:sp>
        <p:nvSpPr>
          <p:cNvPr id="22" name="Text 17"/>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prototype photo" descr="img/overview.jpg">    </p:cNvPr>
          <p:cNvPicPr>
            <a:picLocks noChangeAspect="1"/>
          </p:cNvPicPr>
          <p:nvPr/>
        </p:nvPicPr>
        <p:blipFill>
          <a:blip r:embed="rId1"/>
          <a:stretch>
            <a:fillRect/>
          </a:stretch>
        </p:blipFill>
        <p:spPr>
          <a:xfrm>
            <a:off x="457200" y="1364894"/>
            <a:ext cx="4023360" cy="3030931"/>
          </a:xfrm>
          <a:prstGeom prst="rect">
            <a:avLst/>
          </a:prstGeom>
        </p:spPr>
      </p:pic>
      <p:sp>
        <p:nvSpPr>
          <p:cNvPr id="4" name="icon circle"/>
          <p:cNvSpPr/>
          <p:nvPr/>
        </p:nvSpPr>
        <p:spPr>
          <a:xfrm>
            <a:off x="4754880" y="1234440"/>
            <a:ext cx="640080" cy="64008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2"/>
          <a:stretch>
            <a:fillRect/>
          </a:stretch>
        </p:blipFill>
        <p:spPr>
          <a:xfrm>
            <a:off x="4895698" y="1375258"/>
            <a:ext cx="358445" cy="358445"/>
          </a:xfrm>
          <a:prstGeom prst="rect">
            <a:avLst/>
          </a:prstGeom>
        </p:spPr>
      </p:pic>
      <p:sp>
        <p:nvSpPr>
          <p:cNvPr id="6" name="Text 2"/>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7" name="Text 3"/>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sp>
        <p:nvSpPr>
          <p:cNvPr id="8" name="icon circle"/>
          <p:cNvSpPr/>
          <p:nvPr/>
        </p:nvSpPr>
        <p:spPr>
          <a:xfrm>
            <a:off x="4754880" y="2331720"/>
            <a:ext cx="640080" cy="640080"/>
          </a:xfrm>
          <a:prstGeom prst="ellipse">
            <a:avLst/>
          </a:prstGeom>
          <a:solidFill>
            <a:schemeClr val="accent1"/>
          </a:solidFill>
          <a:ln w="12700">
            <a:solidFill>
              <a:schemeClr val="accent1"/>
            </a:solidFill>
            <a:prstDash val="solid"/>
          </a:ln>
        </p:spPr>
      </p:sp>
      <p:pic>
        <p:nvPicPr>
          <p:cNvPr id="9" name="icon" descr="preencoded.png">    </p:cNvPr>
          <p:cNvPicPr>
            <a:picLocks noChangeAspect="1"/>
          </p:cNvPicPr>
          <p:nvPr/>
        </p:nvPicPr>
        <p:blipFill>
          <a:blip r:embed="rId3"/>
          <a:stretch>
            <a:fillRect/>
          </a:stretch>
        </p:blipFill>
        <p:spPr>
          <a:xfrm>
            <a:off x="4895698" y="2472538"/>
            <a:ext cx="358445" cy="358445"/>
          </a:xfrm>
          <a:prstGeom prst="rect">
            <a:avLst/>
          </a:prstGeom>
        </p:spPr>
      </p:pic>
      <p:sp>
        <p:nvSpPr>
          <p:cNvPr id="10" name="Text 5"/>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11" name="Text 6"/>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sp>
        <p:nvSpPr>
          <p:cNvPr id="12" name="icon circle"/>
          <p:cNvSpPr/>
          <p:nvPr/>
        </p:nvSpPr>
        <p:spPr>
          <a:xfrm>
            <a:off x="4754880" y="3429000"/>
            <a:ext cx="640080" cy="640080"/>
          </a:xfrm>
          <a:prstGeom prst="ellipse">
            <a:avLst/>
          </a:prstGeom>
          <a:solidFill>
            <a:schemeClr val="accent1"/>
          </a:solidFill>
          <a:ln w="12700">
            <a:solidFill>
              <a:schemeClr val="accent1"/>
            </a:solidFill>
            <a:prstDash val="solid"/>
          </a:ln>
        </p:spPr>
      </p:sp>
      <p:pic>
        <p:nvPicPr>
          <p:cNvPr id="13" name="icon" descr="preencoded.png">    </p:cNvPr>
          <p:cNvPicPr>
            <a:picLocks noChangeAspect="1"/>
          </p:cNvPicPr>
          <p:nvPr/>
        </p:nvPicPr>
        <p:blipFill>
          <a:blip r:embed="rId4"/>
          <a:stretch>
            <a:fillRect/>
          </a:stretch>
        </p:blipFill>
        <p:spPr>
          <a:xfrm>
            <a:off x="4895698" y="3569818"/>
            <a:ext cx="358445" cy="358445"/>
          </a:xfrm>
          <a:prstGeom prst="rect">
            <a:avLst/>
          </a:prstGeom>
        </p:spPr>
      </p:pic>
      <p:sp>
        <p:nvSpPr>
          <p:cNvPr id="14" name="Text 8"/>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5" name="Text 9"/>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640080" y="1371600"/>
            <a:ext cx="502920" cy="50292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750722" y="1482242"/>
            <a:ext cx="281635" cy="281635"/>
          </a:xfrm>
          <a:prstGeom prst="rect">
            <a:avLst/>
          </a:prstGeom>
        </p:spPr>
      </p:pic>
      <p:sp>
        <p:nvSpPr>
          <p:cNvPr id="6" name="Text 3"/>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7" name="Text 4"/>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8" name="component card"/>
          <p:cNvSpPr/>
          <p:nvPr/>
        </p:nvSpPr>
        <p:spPr>
          <a:xfrm>
            <a:off x="256032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icon circle"/>
          <p:cNvSpPr/>
          <p:nvPr/>
        </p:nvSpPr>
        <p:spPr>
          <a:xfrm>
            <a:off x="2743200" y="1371600"/>
            <a:ext cx="502920" cy="502920"/>
          </a:xfrm>
          <a:prstGeom prst="ellipse">
            <a:avLst/>
          </a:prstGeom>
          <a:solidFill>
            <a:schemeClr val="accent1"/>
          </a:solidFill>
          <a:ln w="12700">
            <a:solidFill>
              <a:schemeClr val="accent1"/>
            </a:solidFill>
            <a:prstDash val="solid"/>
          </a:ln>
        </p:spPr>
      </p:sp>
      <p:pic>
        <p:nvPicPr>
          <p:cNvPr id="10" name="icon" descr="preencoded.png">    </p:cNvPr>
          <p:cNvPicPr>
            <a:picLocks noChangeAspect="1"/>
          </p:cNvPicPr>
          <p:nvPr/>
        </p:nvPicPr>
        <p:blipFill>
          <a:blip r:embed="rId2"/>
          <a:stretch>
            <a:fillRect/>
          </a:stretch>
        </p:blipFill>
        <p:spPr>
          <a:xfrm>
            <a:off x="2853842" y="1482242"/>
            <a:ext cx="281635" cy="281635"/>
          </a:xfrm>
          <a:prstGeom prst="rect">
            <a:avLst/>
          </a:prstGeom>
        </p:spPr>
      </p:pic>
      <p:sp>
        <p:nvSpPr>
          <p:cNvPr id="11" name="Text 7"/>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2" name="Text 8"/>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3" name="component card"/>
          <p:cNvSpPr/>
          <p:nvPr/>
        </p:nvSpPr>
        <p:spPr>
          <a:xfrm>
            <a:off x="466344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icon circle"/>
          <p:cNvSpPr/>
          <p:nvPr/>
        </p:nvSpPr>
        <p:spPr>
          <a:xfrm>
            <a:off x="4846320" y="1371600"/>
            <a:ext cx="502920" cy="502920"/>
          </a:xfrm>
          <a:prstGeom prst="ellipse">
            <a:avLst/>
          </a:prstGeom>
          <a:solidFill>
            <a:schemeClr val="accent1"/>
          </a:solidFill>
          <a:ln w="12700">
            <a:solidFill>
              <a:schemeClr val="accent1"/>
            </a:solidFill>
            <a:prstDash val="solid"/>
          </a:ln>
        </p:spPr>
      </p:sp>
      <p:pic>
        <p:nvPicPr>
          <p:cNvPr id="15" name="icon" descr="preencoded.png">    </p:cNvPr>
          <p:cNvPicPr>
            <a:picLocks noChangeAspect="1"/>
          </p:cNvPicPr>
          <p:nvPr/>
        </p:nvPicPr>
        <p:blipFill>
          <a:blip r:embed="rId3"/>
          <a:stretch>
            <a:fillRect/>
          </a:stretch>
        </p:blipFill>
        <p:spPr>
          <a:xfrm>
            <a:off x="4956962" y="1482242"/>
            <a:ext cx="281635" cy="281635"/>
          </a:xfrm>
          <a:prstGeom prst="rect">
            <a:avLst/>
          </a:prstGeom>
        </p:spPr>
      </p:pic>
      <p:sp>
        <p:nvSpPr>
          <p:cNvPr id="16" name="Text 11"/>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7" name="Text 12"/>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8" name="component card"/>
          <p:cNvSpPr/>
          <p:nvPr/>
        </p:nvSpPr>
        <p:spPr>
          <a:xfrm>
            <a:off x="676656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icon circle"/>
          <p:cNvSpPr/>
          <p:nvPr/>
        </p:nvSpPr>
        <p:spPr>
          <a:xfrm>
            <a:off x="6949440" y="1371600"/>
            <a:ext cx="502920" cy="502920"/>
          </a:xfrm>
          <a:prstGeom prst="ellipse">
            <a:avLst/>
          </a:prstGeom>
          <a:solidFill>
            <a:schemeClr val="accent1"/>
          </a:solidFill>
          <a:ln w="12700">
            <a:solidFill>
              <a:schemeClr val="accent1"/>
            </a:solidFill>
            <a:prstDash val="solid"/>
          </a:ln>
        </p:spPr>
      </p:sp>
      <p:pic>
        <p:nvPicPr>
          <p:cNvPr id="20" name="icon" descr="preencoded.png">    </p:cNvPr>
          <p:cNvPicPr>
            <a:picLocks noChangeAspect="1"/>
          </p:cNvPicPr>
          <p:nvPr/>
        </p:nvPicPr>
        <p:blipFill>
          <a:blip r:embed="rId4"/>
          <a:stretch>
            <a:fillRect/>
          </a:stretch>
        </p:blipFill>
        <p:spPr>
          <a:xfrm>
            <a:off x="7060082" y="1482242"/>
            <a:ext cx="281635" cy="281635"/>
          </a:xfrm>
          <a:prstGeom prst="rect">
            <a:avLst/>
          </a:prstGeom>
        </p:spPr>
      </p:pic>
      <p:sp>
        <p:nvSpPr>
          <p:cNvPr id="21" name="Text 15"/>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22" name="Text 16"/>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23" name="component card"/>
          <p:cNvSpPr/>
          <p:nvPr/>
        </p:nvSpPr>
        <p:spPr>
          <a:xfrm>
            <a:off x="45720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icon circle"/>
          <p:cNvSpPr/>
          <p:nvPr/>
        </p:nvSpPr>
        <p:spPr>
          <a:xfrm>
            <a:off x="640080" y="3063240"/>
            <a:ext cx="502920" cy="502920"/>
          </a:xfrm>
          <a:prstGeom prst="ellipse">
            <a:avLst/>
          </a:prstGeom>
          <a:solidFill>
            <a:schemeClr val="accent1"/>
          </a:solidFill>
          <a:ln w="12700">
            <a:solidFill>
              <a:schemeClr val="accent1"/>
            </a:solidFill>
            <a:prstDash val="solid"/>
          </a:ln>
        </p:spPr>
      </p:sp>
      <p:pic>
        <p:nvPicPr>
          <p:cNvPr id="25" name="icon" descr="preencoded.png">    </p:cNvPr>
          <p:cNvPicPr>
            <a:picLocks noChangeAspect="1"/>
          </p:cNvPicPr>
          <p:nvPr/>
        </p:nvPicPr>
        <p:blipFill>
          <a:blip r:embed="rId5"/>
          <a:stretch>
            <a:fillRect/>
          </a:stretch>
        </p:blipFill>
        <p:spPr>
          <a:xfrm>
            <a:off x="750722" y="3173882"/>
            <a:ext cx="281635" cy="281635"/>
          </a:xfrm>
          <a:prstGeom prst="rect">
            <a:avLst/>
          </a:prstGeom>
        </p:spPr>
      </p:pic>
      <p:sp>
        <p:nvSpPr>
          <p:cNvPr id="26" name="Text 19"/>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7" name="Text 20"/>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8" name="component card"/>
          <p:cNvSpPr/>
          <p:nvPr/>
        </p:nvSpPr>
        <p:spPr>
          <a:xfrm>
            <a:off x="256032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9" name="icon circle"/>
          <p:cNvSpPr/>
          <p:nvPr/>
        </p:nvSpPr>
        <p:spPr>
          <a:xfrm>
            <a:off x="2743200" y="3063240"/>
            <a:ext cx="502920" cy="502920"/>
          </a:xfrm>
          <a:prstGeom prst="ellipse">
            <a:avLst/>
          </a:prstGeom>
          <a:solidFill>
            <a:schemeClr val="accent1"/>
          </a:solidFill>
          <a:ln w="12700">
            <a:solidFill>
              <a:schemeClr val="accent1"/>
            </a:solidFill>
            <a:prstDash val="solid"/>
          </a:ln>
        </p:spPr>
      </p:sp>
      <p:pic>
        <p:nvPicPr>
          <p:cNvPr id="30" name="icon" descr="preencoded.png">    </p:cNvPr>
          <p:cNvPicPr>
            <a:picLocks noChangeAspect="1"/>
          </p:cNvPicPr>
          <p:nvPr/>
        </p:nvPicPr>
        <p:blipFill>
          <a:blip r:embed="rId6"/>
          <a:stretch>
            <a:fillRect/>
          </a:stretch>
        </p:blipFill>
        <p:spPr>
          <a:xfrm>
            <a:off x="2853842" y="3173882"/>
            <a:ext cx="281635" cy="281635"/>
          </a:xfrm>
          <a:prstGeom prst="rect">
            <a:avLst/>
          </a:prstGeom>
        </p:spPr>
      </p:pic>
      <p:sp>
        <p:nvSpPr>
          <p:cNvPr id="31" name="Text 23"/>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32" name="Text 24"/>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33" name="component card"/>
          <p:cNvSpPr/>
          <p:nvPr/>
        </p:nvSpPr>
        <p:spPr>
          <a:xfrm>
            <a:off x="466344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4" name="icon circle"/>
          <p:cNvSpPr/>
          <p:nvPr/>
        </p:nvSpPr>
        <p:spPr>
          <a:xfrm>
            <a:off x="4846320" y="3063240"/>
            <a:ext cx="502920" cy="502920"/>
          </a:xfrm>
          <a:prstGeom prst="ellipse">
            <a:avLst/>
          </a:prstGeom>
          <a:solidFill>
            <a:schemeClr val="accent1"/>
          </a:solidFill>
          <a:ln w="12700">
            <a:solidFill>
              <a:schemeClr val="accent1"/>
            </a:solidFill>
            <a:prstDash val="solid"/>
          </a:ln>
        </p:spPr>
      </p:sp>
      <p:pic>
        <p:nvPicPr>
          <p:cNvPr id="35" name="icon" descr="preencoded.png">    </p:cNvPr>
          <p:cNvPicPr>
            <a:picLocks noChangeAspect="1"/>
          </p:cNvPicPr>
          <p:nvPr/>
        </p:nvPicPr>
        <p:blipFill>
          <a:blip r:embed="rId7"/>
          <a:stretch>
            <a:fillRect/>
          </a:stretch>
        </p:blipFill>
        <p:spPr>
          <a:xfrm>
            <a:off x="4956962" y="3173882"/>
            <a:ext cx="281635" cy="281635"/>
          </a:xfrm>
          <a:prstGeom prst="rect">
            <a:avLst/>
          </a:prstGeom>
        </p:spPr>
      </p:pic>
      <p:sp>
        <p:nvSpPr>
          <p:cNvPr id="36" name="Text 27"/>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7" name="Text 28"/>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8" name="component card"/>
          <p:cNvSpPr/>
          <p:nvPr/>
        </p:nvSpPr>
        <p:spPr>
          <a:xfrm>
            <a:off x="676656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9" name="icon circle"/>
          <p:cNvSpPr/>
          <p:nvPr/>
        </p:nvSpPr>
        <p:spPr>
          <a:xfrm>
            <a:off x="6949440" y="3063240"/>
            <a:ext cx="502920" cy="502920"/>
          </a:xfrm>
          <a:prstGeom prst="ellipse">
            <a:avLst/>
          </a:prstGeom>
          <a:solidFill>
            <a:schemeClr val="accent1"/>
          </a:solidFill>
          <a:ln w="12700">
            <a:solidFill>
              <a:schemeClr val="accent1"/>
            </a:solidFill>
            <a:prstDash val="solid"/>
          </a:ln>
        </p:spPr>
      </p:sp>
      <p:pic>
        <p:nvPicPr>
          <p:cNvPr id="40" name="icon" descr="preencoded.png">    </p:cNvPr>
          <p:cNvPicPr>
            <a:picLocks noChangeAspect="1"/>
          </p:cNvPicPr>
          <p:nvPr/>
        </p:nvPicPr>
        <p:blipFill>
          <a:blip r:embed="rId8"/>
          <a:stretch>
            <a:fillRect/>
          </a:stretch>
        </p:blipFill>
        <p:spPr>
          <a:xfrm>
            <a:off x="7060082" y="3173882"/>
            <a:ext cx="281635" cy="281635"/>
          </a:xfrm>
          <a:prstGeom prst="rect">
            <a:avLst/>
          </a:prstGeom>
        </p:spPr>
      </p:pic>
      <p:sp>
        <p:nvSpPr>
          <p:cNvPr id="41" name="Text 31"/>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42" name="Text 32"/>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220–470 µF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oundRect">
            <a:avLst>
              <a:gd name="adj" fmla="val 333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probe.jpg">    </p:cNvPr>
          <p:cNvPicPr>
            <a:picLocks noChangeAspect="1"/>
          </p:cNvPicPr>
          <p:nvPr/>
        </p:nvPicPr>
        <p:blipFill>
          <a:blip r:embed="rId1"/>
          <a:stretch>
            <a:fillRect/>
          </a:stretch>
        </p:blipFill>
        <p:spPr>
          <a:xfrm>
            <a:off x="465292" y="1188720"/>
            <a:ext cx="3641416" cy="274320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Moisture probe glued at the cane tip</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V_A0 = Vcc × Rp / (Rp + Rf)</a:t>
            </a:r>
            <a:endParaRPr lang="en-US" sz="1800" dirty="0"/>
          </a:p>
        </p:txBody>
      </p:sp>
      <p:sp>
        <p:nvSpPr>
          <p:cNvPr id="8" name="reading card"/>
          <p:cNvSpPr/>
          <p:nvPr/>
        </p:nvSpPr>
        <p:spPr>
          <a:xfrm>
            <a:off x="4480560" y="2834640"/>
            <a:ext cx="2057400" cy="1051560"/>
          </a:xfrm>
          <a:prstGeom prst="roundRect">
            <a:avLst>
              <a:gd name="adj" fmla="val 10435"/>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oundRect">
            <a:avLst>
              <a:gd name="adj" fmla="val 10435"/>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1024128" y="1325880"/>
            <a:ext cx="548640" cy="54864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1144829" y="1446581"/>
            <a:ext cx="307238" cy="307238"/>
          </a:xfrm>
          <a:prstGeom prst="rect">
            <a:avLst/>
          </a:prstGeom>
        </p:spPr>
      </p:pic>
      <p:sp>
        <p:nvSpPr>
          <p:cNvPr id="6" name="Text 3"/>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7" name="Text 4"/>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8"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9" name="power block"/>
          <p:cNvSpPr/>
          <p:nvPr/>
        </p:nvSpPr>
        <p:spPr>
          <a:xfrm>
            <a:off x="2423160" y="1188720"/>
            <a:ext cx="169164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icon circle"/>
          <p:cNvSpPr/>
          <p:nvPr/>
        </p:nvSpPr>
        <p:spPr>
          <a:xfrm>
            <a:off x="2990088" y="1325880"/>
            <a:ext cx="548640" cy="548640"/>
          </a:xfrm>
          <a:prstGeom prst="ellipse">
            <a:avLst/>
          </a:prstGeom>
          <a:solidFill>
            <a:schemeClr val="accent1"/>
          </a:solidFill>
          <a:ln w="12700">
            <a:solidFill>
              <a:schemeClr val="accent1"/>
            </a:solidFill>
            <a:prstDash val="solid"/>
          </a:ln>
        </p:spPr>
      </p:sp>
      <p:pic>
        <p:nvPicPr>
          <p:cNvPr id="11" name="icon" descr="preencoded.png">    </p:cNvPr>
          <p:cNvPicPr>
            <a:picLocks noChangeAspect="1"/>
          </p:cNvPicPr>
          <p:nvPr/>
        </p:nvPicPr>
        <p:blipFill>
          <a:blip r:embed="rId2"/>
          <a:stretch>
            <a:fillRect/>
          </a:stretch>
        </p:blipFill>
        <p:spPr>
          <a:xfrm>
            <a:off x="3110789" y="1446581"/>
            <a:ext cx="307238" cy="307238"/>
          </a:xfrm>
          <a:prstGeom prst="rect">
            <a:avLst/>
          </a:prstGeom>
        </p:spPr>
      </p:pic>
      <p:sp>
        <p:nvSpPr>
          <p:cNvPr id="12" name="Text 8"/>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3" name="Text 9"/>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4"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5" name="power block"/>
          <p:cNvSpPr/>
          <p:nvPr/>
        </p:nvSpPr>
        <p:spPr>
          <a:xfrm>
            <a:off x="4389120" y="1188720"/>
            <a:ext cx="169164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icon circle"/>
          <p:cNvSpPr/>
          <p:nvPr/>
        </p:nvSpPr>
        <p:spPr>
          <a:xfrm>
            <a:off x="4956048" y="1325880"/>
            <a:ext cx="548640" cy="548640"/>
          </a:xfrm>
          <a:prstGeom prst="ellipse">
            <a:avLst/>
          </a:prstGeom>
          <a:solidFill>
            <a:schemeClr val="accent1"/>
          </a:solidFill>
          <a:ln w="12700">
            <a:solidFill>
              <a:schemeClr val="accent1"/>
            </a:solidFill>
            <a:prstDash val="solid"/>
          </a:ln>
        </p:spPr>
      </p:sp>
      <p:pic>
        <p:nvPicPr>
          <p:cNvPr id="17" name="icon" descr="preencoded.png">    </p:cNvPr>
          <p:cNvPicPr>
            <a:picLocks noChangeAspect="1"/>
          </p:cNvPicPr>
          <p:nvPr/>
        </p:nvPicPr>
        <p:blipFill>
          <a:blip r:embed="rId3"/>
          <a:stretch>
            <a:fillRect/>
          </a:stretch>
        </p:blipFill>
        <p:spPr>
          <a:xfrm>
            <a:off x="5076749" y="1446581"/>
            <a:ext cx="307238" cy="307238"/>
          </a:xfrm>
          <a:prstGeom prst="rect">
            <a:avLst/>
          </a:prstGeom>
        </p:spPr>
      </p:pic>
      <p:sp>
        <p:nvSpPr>
          <p:cNvPr id="18" name="Text 13"/>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9" name="Text 14"/>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20" name="Text 15"/>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~40 mA</a:t>
            </a:r>
            <a:endParaRPr lang="en-US" sz="3000" dirty="0"/>
          </a:p>
        </p:txBody>
      </p:sp>
      <p:sp>
        <p:nvSpPr>
          <p:cNvPr id="21" name="Text 16"/>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22" name="Text 17"/>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 30 h</a:t>
            </a:r>
            <a:endParaRPr lang="en-US" sz="3000" dirty="0"/>
          </a:p>
        </p:txBody>
      </p:sp>
      <p:sp>
        <p:nvSpPr>
          <p:cNvPr id="23" name="Text 18"/>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4" name="warning"/>
          <p:cNvSpPr/>
          <p:nvPr/>
        </p:nvSpPr>
        <p:spPr>
          <a:xfrm>
            <a:off x="457200" y="3977640"/>
            <a:ext cx="5669280" cy="594360"/>
          </a:xfrm>
          <a:prstGeom prst="roundRect">
            <a:avLst>
              <a:gd name="adj" fmla="val 18462"/>
            </a:avLst>
          </a:prstGeom>
          <a:solidFill>
            <a:srgbClr val="FDECEA"/>
          </a:solidFill>
          <a:ln w="12700">
            <a:solidFill>
              <a:srgbClr val="FDECEA"/>
            </a:solidFill>
            <a:prstDash val="solid"/>
          </a:ln>
          <a:effectLst>
            <a:outerShdw sx="100000" sy="100000" kx="0" ky="0" algn="bl" rotWithShape="0" blurRad="76200" dist="25400" dir="5400000">
              <a:srgbClr val="000000">
                <a:alpha val="15000"/>
              </a:srgbClr>
            </a:outerShdw>
          </a:effectLst>
        </p:spPr>
      </p:sp>
      <p:sp>
        <p:nvSpPr>
          <p:cNvPr id="25" name="Text 20"/>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6" name="battery photo" descr="img/battery.jpg">    </p:cNvPr>
          <p:cNvPicPr>
            <a:picLocks noChangeAspect="1"/>
          </p:cNvPicPr>
          <p:nvPr/>
        </p:nvPicPr>
        <p:blipFill>
          <a:blip r:embed="rId4"/>
          <a:stretch>
            <a:fillRect/>
          </a:stretch>
        </p:blipFill>
        <p:spPr>
          <a:xfrm>
            <a:off x="6400800" y="1363103"/>
            <a:ext cx="2286000" cy="303451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oundRect">
            <a:avLst>
              <a:gd name="adj" fmla="val 7500"/>
            </a:avLst>
          </a:prstGeom>
          <a:solidFill>
            <a:srgbClr val="EEF2F7"/>
          </a:solidFill>
          <a:ln w="12700">
            <a:solidFill>
              <a:srgbClr val="EEF2F7"/>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oundRect">
            <a:avLst>
              <a:gd name="adj" fmla="val 7500"/>
            </a:avLst>
          </a:prstGeom>
          <a:solidFill>
            <a:srgbClr val="EEF2F7"/>
          </a:solidFill>
          <a:ln w="12700">
            <a:solidFill>
              <a:srgbClr val="EEF2F7"/>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oundRect">
            <a:avLst>
              <a:gd name="adj" fmla="val 7500"/>
            </a:avLst>
          </a:prstGeom>
          <a:solidFill>
            <a:srgbClr val="EEF2F7"/>
          </a:solidFill>
          <a:ln w="12700">
            <a:solidFill>
              <a:srgbClr val="EEF2F7"/>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oundRect">
            <a:avLst>
              <a:gd name="adj" fmla="val 7500"/>
            </a:avLst>
          </a:prstGeom>
          <a:solidFill>
            <a:srgbClr val="FDECEA"/>
          </a:solidFill>
          <a:ln w="12700">
            <a:solidFill>
              <a:srgbClr val="FDECEA"/>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oundRect">
            <a:avLst>
              <a:gd name="adj" fmla="val 7500"/>
            </a:avLst>
          </a:prstGeom>
          <a:solidFill>
            <a:srgbClr val="FFF3E0"/>
          </a:solidFill>
          <a:ln w="12700">
            <a:solidFill>
              <a:srgbClr val="FFF3E0"/>
            </a:solidFill>
            <a:prstDash val="solid"/>
          </a:ln>
          <a:effectLst>
            <a:outerShdw sx="100000" sy="100000" kx="0" ky="0" algn="bl" rotWithShape="0" blurRad="76200" dist="25400" dir="5400000">
              <a:srgbClr val="000000">
                <a:alpha val="15000"/>
              </a:srgbClr>
            </a:outerShdw>
          </a:effectLst>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oundRect">
            <a:avLst>
              <a:gd name="adj" fmla="val 7500"/>
            </a:avLst>
          </a:prstGeom>
          <a:solidFill>
            <a:srgbClr val="E6F4EA"/>
          </a:solidFill>
          <a:ln w="12700">
            <a:solidFill>
              <a:srgbClr val="E6F4EA"/>
            </a:solidFill>
            <a:prstDash val="solid"/>
          </a:ln>
          <a:effectLst>
            <a:outerShdw sx="100000" sy="100000" kx="0" ky="0" algn="bl" rotWithShape="0" blurRad="76200" dist="25400" dir="5400000">
              <a:srgbClr val="000000">
                <a:alpha val="15000"/>
              </a:srgbClr>
            </a:outerShdw>
          </a:effectLst>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oundRect">
            <a:avLst>
              <a:gd name="adj" fmla="val 324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oundRect">
            <a:avLst>
              <a:gd name="adj" fmla="val 1090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oundRect">
            <a:avLst>
              <a:gd name="adj" fmla="val 1090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oundRect">
            <a:avLst>
              <a:gd name="adj" fmla="val 1090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prototype</a:t>
            </a:r>
            <a:endParaRPr lang="en-US" sz="3000" dirty="0"/>
          </a:p>
        </p:txBody>
      </p:sp>
      <p:pic>
        <p:nvPicPr>
          <p:cNvPr id="3" name="prototype photo" descr="img/overview.jpg">    </p:cNvPr>
          <p:cNvPicPr>
            <a:picLocks noChangeAspect="1"/>
          </p:cNvPicPr>
          <p:nvPr/>
        </p:nvPicPr>
        <p:blipFill>
          <a:blip r:embed="rId1"/>
          <a:stretch>
            <a:fillRect/>
          </a:stretch>
        </p:blipFill>
        <p:spPr>
          <a:xfrm>
            <a:off x="467315" y="1097280"/>
            <a:ext cx="4551770" cy="3429000"/>
          </a:xfrm>
          <a:prstGeom prst="rect">
            <a:avLst/>
          </a:prstGeom>
        </p:spPr>
      </p:pic>
      <p:pic>
        <p:nvPicPr>
          <p:cNvPr id="4" name="probe photo" descr="img/probe.jpg">    </p:cNvPr>
          <p:cNvPicPr>
            <a:picLocks noChangeAspect="1"/>
          </p:cNvPicPr>
          <p:nvPr/>
        </p:nvPicPr>
        <p:blipFill>
          <a:blip r:embed="rId2"/>
          <a:stretch>
            <a:fillRect/>
          </a:stretch>
        </p:blipFill>
        <p:spPr>
          <a:xfrm>
            <a:off x="5303520" y="1317498"/>
            <a:ext cx="1600200" cy="1205484"/>
          </a:xfrm>
          <a:prstGeom prst="rect">
            <a:avLst/>
          </a:prstGeom>
        </p:spPr>
      </p:pic>
      <p:pic>
        <p:nvPicPr>
          <p:cNvPr id="5" name="LM393 photo" descr="img/lm393.jpg">    </p:cNvPr>
          <p:cNvPicPr>
            <a:picLocks noChangeAspect="1"/>
          </p:cNvPicPr>
          <p:nvPr/>
        </p:nvPicPr>
        <p:blipFill>
          <a:blip r:embed="rId3"/>
          <a:stretch>
            <a:fillRect/>
          </a:stretch>
        </p:blipFill>
        <p:spPr>
          <a:xfrm>
            <a:off x="7086600" y="1317498"/>
            <a:ext cx="1600200" cy="1205484"/>
          </a:xfrm>
          <a:prstGeom prst="rect">
            <a:avLst/>
          </a:prstGeom>
        </p:spPr>
      </p:pic>
      <p:pic>
        <p:nvPicPr>
          <p:cNvPr id="6" name="battery photo" descr="img/battery.jpg">    </p:cNvPr>
          <p:cNvPicPr>
            <a:picLocks noChangeAspect="1"/>
          </p:cNvPicPr>
          <p:nvPr/>
        </p:nvPicPr>
        <p:blipFill>
          <a:blip r:embed="rId4"/>
          <a:stretch>
            <a:fillRect/>
          </a:stretch>
        </p:blipFill>
        <p:spPr>
          <a:xfrm>
            <a:off x="5483657" y="2880360"/>
            <a:ext cx="1239926" cy="1645920"/>
          </a:xfrm>
          <a:prstGeom prst="rect">
            <a:avLst/>
          </a:prstGeom>
        </p:spPr>
      </p:pic>
      <p:pic>
        <p:nvPicPr>
          <p:cNvPr id="7" name="switch photo" descr="img/switch.jpg">    </p:cNvPr>
          <p:cNvPicPr>
            <a:picLocks noChangeAspect="1"/>
          </p:cNvPicPr>
          <p:nvPr/>
        </p:nvPicPr>
        <p:blipFill>
          <a:blip r:embed="rId5"/>
          <a:stretch>
            <a:fillRect/>
          </a:stretch>
        </p:blipFill>
        <p:spPr>
          <a:xfrm>
            <a:off x="7086600" y="3100578"/>
            <a:ext cx="1600200" cy="1205484"/>
          </a:xfrm>
          <a:prstGeom prst="rect">
            <a:avLst/>
          </a:prstGeom>
        </p:spPr>
      </p:pic>
      <p:sp>
        <p:nvSpPr>
          <p:cNvPr id="8" name="Text 1"/>
          <p:cNvSpPr txBox="1"/>
          <p:nvPr/>
        </p:nvSpPr>
        <p:spPr>
          <a:xfrm>
            <a:off x="457200" y="4544568"/>
            <a:ext cx="8229600" cy="228600"/>
          </a:xfrm>
          <a:prstGeom prst="rect">
            <a:avLst/>
          </a:prstGeom>
          <a:noFill/>
          <a:ln/>
        </p:spPr>
        <p:txBody>
          <a:bodyPr wrap="square" lIns="0" tIns="0" rIns="0" bIns="0" rtlCol="0" anchor="t"/>
          <a:lstStyle/>
          <a:p>
            <a:pPr indent="0" marL="0">
              <a:buNone/>
            </a:pPr>
            <a:r>
              <a:rPr lang="en-US" sz="1100" i="1" dirty="0">
                <a:solidFill>
                  <a:schemeClr val="accent5"/>
                </a:solidFill>
              </a:rPr>
              <a:t>Sensors, Nano, buzzer and power are mounted along a PVC pipe; the probe sits at the tip</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oundRect">
            <a:avLst>
              <a:gd name="adj" fmla="val 7059"/>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oundRect">
            <a:avLst>
              <a:gd name="adj" fmla="val 3243"/>
            </a:avLst>
          </a:prstGeom>
          <a:solidFill>
            <a:srgbClr val="E6F4EA"/>
          </a:solidFill>
          <a:ln w="12700">
            <a:solidFill>
              <a:srgbClr val="E6F4EA"/>
            </a:solidFill>
            <a:prstDash val="solid"/>
          </a:ln>
          <a:effectLst>
            <a:outerShdw sx="100000" sy="100000" kx="0" ky="0" algn="bl" rotWithShape="0" blurRad="76200" dist="25400" dir="5400000">
              <a:srgbClr val="000000">
                <a:alpha val="15000"/>
              </a:srgbClr>
            </a:outerShdw>
          </a:effectLst>
        </p:spPr>
      </p:sp>
      <p:sp>
        <p:nvSpPr>
          <p:cNvPr id="4" name="limitations"/>
          <p:cNvSpPr/>
          <p:nvPr/>
        </p:nvSpPr>
        <p:spPr>
          <a:xfrm>
            <a:off x="4663440" y="1188720"/>
            <a:ext cx="4023360" cy="3383280"/>
          </a:xfrm>
          <a:prstGeom prst="roundRect">
            <a:avLst>
              <a:gd name="adj" fmla="val 3243"/>
            </a:avLst>
          </a:prstGeom>
          <a:solidFill>
            <a:srgbClr val="FDECEA"/>
          </a:solidFill>
          <a:ln w="12700">
            <a:solidFill>
              <a:srgbClr val="FDECEA"/>
            </a:solidFill>
            <a:prstDash val="solid"/>
          </a:ln>
          <a:effectLst>
            <a:outerShdw sx="100000" sy="100000" kx="0" ky="0" algn="bl" rotWithShape="0" blurRad="76200" dist="25400" dir="5400000">
              <a:srgbClr val="000000">
                <a:alpha val="15000"/>
              </a:srgbClr>
            </a:outerShdw>
          </a:effectLst>
        </p:spPr>
      </p:sp>
      <p:sp>
        <p:nvSpPr>
          <p:cNvPr id="5" name="icon circle"/>
          <p:cNvSpPr/>
          <p:nvPr/>
        </p:nvSpPr>
        <p:spPr>
          <a:xfrm>
            <a:off x="685800" y="1371600"/>
            <a:ext cx="457200" cy="457200"/>
          </a:xfrm>
          <a:prstGeom prst="ellipse">
            <a:avLst/>
          </a:prstGeom>
          <a:solidFill>
            <a:schemeClr val="accent4"/>
          </a:solidFill>
          <a:ln w="12700">
            <a:solidFill>
              <a:schemeClr val="accent4"/>
            </a:solidFill>
            <a:prstDash val="solid"/>
          </a:ln>
        </p:spPr>
      </p:sp>
      <p:pic>
        <p:nvPicPr>
          <p:cNvPr id="6" name="icon" descr="preencoded.png">    </p:cNvPr>
          <p:cNvPicPr>
            <a:picLocks noChangeAspect="1"/>
          </p:cNvPicPr>
          <p:nvPr/>
        </p:nvPicPr>
        <p:blipFill>
          <a:blip r:embed="rId1"/>
          <a:stretch>
            <a:fillRect/>
          </a:stretch>
        </p:blipFill>
        <p:spPr>
          <a:xfrm>
            <a:off x="786384" y="1472184"/>
            <a:ext cx="256032" cy="256032"/>
          </a:xfrm>
          <a:prstGeom prst="rect">
            <a:avLst/>
          </a:prstGeom>
        </p:spPr>
      </p:pic>
      <p:sp>
        <p:nvSpPr>
          <p:cNvPr id="7" name="icon circle"/>
          <p:cNvSpPr/>
          <p:nvPr/>
        </p:nvSpPr>
        <p:spPr>
          <a:xfrm>
            <a:off x="4892040" y="1371600"/>
            <a:ext cx="457200" cy="457200"/>
          </a:xfrm>
          <a:prstGeom prst="ellipse">
            <a:avLst/>
          </a:prstGeom>
          <a:solidFill>
            <a:schemeClr val="accent3"/>
          </a:solidFill>
          <a:ln w="12700">
            <a:solidFill>
              <a:schemeClr val="accent3"/>
            </a:solidFill>
            <a:prstDash val="solid"/>
          </a:ln>
        </p:spPr>
      </p:sp>
      <p:pic>
        <p:nvPicPr>
          <p:cNvPr id="8" name="icon" descr="preencoded.png">    </p:cNvPr>
          <p:cNvPicPr>
            <a:picLocks noChangeAspect="1"/>
          </p:cNvPicPr>
          <p:nvPr/>
        </p:nvPicPr>
        <p:blipFill>
          <a:blip r:embed="rId2"/>
          <a:stretch>
            <a:fillRect/>
          </a:stretch>
        </p:blipFill>
        <p:spPr>
          <a:xfrm>
            <a:off x="4992624" y="1472184"/>
            <a:ext cx="256032" cy="256032"/>
          </a:xfrm>
          <a:prstGeom prst="rect">
            <a:avLst/>
          </a:prstGeom>
        </p:spPr>
      </p:pic>
      <p:sp>
        <p:nvSpPr>
          <p:cNvPr id="9" name="Text 5"/>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10" name="Text 6"/>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11" name="Text 7"/>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2" name="Text 8"/>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640080" y="1371600"/>
            <a:ext cx="502920" cy="502920"/>
          </a:xfrm>
          <a:prstGeom prst="ellipse">
            <a:avLst/>
          </a:prstGeom>
          <a:solidFill>
            <a:schemeClr val="tx2"/>
          </a:solidFill>
          <a:ln w="12700">
            <a:solidFill>
              <a:schemeClr val="tx2"/>
            </a:solidFill>
            <a:prstDash val="solid"/>
          </a:ln>
        </p:spPr>
      </p:sp>
      <p:pic>
        <p:nvPicPr>
          <p:cNvPr id="5" name="icon" descr="preencoded.png">    </p:cNvPr>
          <p:cNvPicPr>
            <a:picLocks noChangeAspect="1"/>
          </p:cNvPicPr>
          <p:nvPr/>
        </p:nvPicPr>
        <p:blipFill>
          <a:blip r:embed="rId1"/>
          <a:stretch>
            <a:fillRect/>
          </a:stretch>
        </p:blipFill>
        <p:spPr>
          <a:xfrm>
            <a:off x="750722" y="1482242"/>
            <a:ext cx="281635" cy="281635"/>
          </a:xfrm>
          <a:prstGeom prst="rect">
            <a:avLst/>
          </a:prstGeom>
        </p:spPr>
      </p:pic>
      <p:sp>
        <p:nvSpPr>
          <p:cNvPr id="6" name="Text 3"/>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7" name="Text 4"/>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8" name="future card"/>
          <p:cNvSpPr/>
          <p:nvPr/>
        </p:nvSpPr>
        <p:spPr>
          <a:xfrm>
            <a:off x="3246120" y="118872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icon circle"/>
          <p:cNvSpPr/>
          <p:nvPr/>
        </p:nvSpPr>
        <p:spPr>
          <a:xfrm>
            <a:off x="3429000" y="1371600"/>
            <a:ext cx="502920" cy="502920"/>
          </a:xfrm>
          <a:prstGeom prst="ellipse">
            <a:avLst/>
          </a:prstGeom>
          <a:solidFill>
            <a:schemeClr val="tx2"/>
          </a:solidFill>
          <a:ln w="12700">
            <a:solidFill>
              <a:schemeClr val="tx2"/>
            </a:solidFill>
            <a:prstDash val="solid"/>
          </a:ln>
        </p:spPr>
      </p:sp>
      <p:pic>
        <p:nvPicPr>
          <p:cNvPr id="10" name="icon" descr="preencoded.png">    </p:cNvPr>
          <p:cNvPicPr>
            <a:picLocks noChangeAspect="1"/>
          </p:cNvPicPr>
          <p:nvPr/>
        </p:nvPicPr>
        <p:blipFill>
          <a:blip r:embed="rId2"/>
          <a:stretch>
            <a:fillRect/>
          </a:stretch>
        </p:blipFill>
        <p:spPr>
          <a:xfrm>
            <a:off x="3539642" y="1482242"/>
            <a:ext cx="281635" cy="281635"/>
          </a:xfrm>
          <a:prstGeom prst="rect">
            <a:avLst/>
          </a:prstGeom>
        </p:spPr>
      </p:pic>
      <p:sp>
        <p:nvSpPr>
          <p:cNvPr id="11" name="Text 7"/>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2" name="Text 8"/>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3" name="future card"/>
          <p:cNvSpPr/>
          <p:nvPr/>
        </p:nvSpPr>
        <p:spPr>
          <a:xfrm>
            <a:off x="6035040" y="118872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icon circle"/>
          <p:cNvSpPr/>
          <p:nvPr/>
        </p:nvSpPr>
        <p:spPr>
          <a:xfrm>
            <a:off x="6217920" y="1371600"/>
            <a:ext cx="502920" cy="502920"/>
          </a:xfrm>
          <a:prstGeom prst="ellipse">
            <a:avLst/>
          </a:prstGeom>
          <a:solidFill>
            <a:schemeClr val="tx2"/>
          </a:solidFill>
          <a:ln w="12700">
            <a:solidFill>
              <a:schemeClr val="tx2"/>
            </a:solidFill>
            <a:prstDash val="solid"/>
          </a:ln>
        </p:spPr>
      </p:sp>
      <p:pic>
        <p:nvPicPr>
          <p:cNvPr id="15" name="icon" descr="preencoded.png">    </p:cNvPr>
          <p:cNvPicPr>
            <a:picLocks noChangeAspect="1"/>
          </p:cNvPicPr>
          <p:nvPr/>
        </p:nvPicPr>
        <p:blipFill>
          <a:blip r:embed="rId3"/>
          <a:stretch>
            <a:fillRect/>
          </a:stretch>
        </p:blipFill>
        <p:spPr>
          <a:xfrm>
            <a:off x="6328562" y="1482242"/>
            <a:ext cx="281635" cy="281635"/>
          </a:xfrm>
          <a:prstGeom prst="rect">
            <a:avLst/>
          </a:prstGeom>
        </p:spPr>
      </p:pic>
      <p:sp>
        <p:nvSpPr>
          <p:cNvPr id="16" name="Text 11"/>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7" name="Text 12"/>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8" name="future card"/>
          <p:cNvSpPr/>
          <p:nvPr/>
        </p:nvSpPr>
        <p:spPr>
          <a:xfrm>
            <a:off x="457200" y="288036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icon circle"/>
          <p:cNvSpPr/>
          <p:nvPr/>
        </p:nvSpPr>
        <p:spPr>
          <a:xfrm>
            <a:off x="640080" y="3063240"/>
            <a:ext cx="502920" cy="502920"/>
          </a:xfrm>
          <a:prstGeom prst="ellipse">
            <a:avLst/>
          </a:prstGeom>
          <a:solidFill>
            <a:schemeClr val="tx2"/>
          </a:solidFill>
          <a:ln w="12700">
            <a:solidFill>
              <a:schemeClr val="tx2"/>
            </a:solidFill>
            <a:prstDash val="solid"/>
          </a:ln>
        </p:spPr>
      </p:sp>
      <p:pic>
        <p:nvPicPr>
          <p:cNvPr id="20" name="icon" descr="preencoded.png">    </p:cNvPr>
          <p:cNvPicPr>
            <a:picLocks noChangeAspect="1"/>
          </p:cNvPicPr>
          <p:nvPr/>
        </p:nvPicPr>
        <p:blipFill>
          <a:blip r:embed="rId4"/>
          <a:stretch>
            <a:fillRect/>
          </a:stretch>
        </p:blipFill>
        <p:spPr>
          <a:xfrm>
            <a:off x="750722" y="3173882"/>
            <a:ext cx="281635" cy="281635"/>
          </a:xfrm>
          <a:prstGeom prst="rect">
            <a:avLst/>
          </a:prstGeom>
        </p:spPr>
      </p:pic>
      <p:sp>
        <p:nvSpPr>
          <p:cNvPr id="21" name="Text 15"/>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22" name="Text 16"/>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23" name="future card"/>
          <p:cNvSpPr/>
          <p:nvPr/>
        </p:nvSpPr>
        <p:spPr>
          <a:xfrm>
            <a:off x="3246120" y="288036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icon circle"/>
          <p:cNvSpPr/>
          <p:nvPr/>
        </p:nvSpPr>
        <p:spPr>
          <a:xfrm>
            <a:off x="3429000" y="3063240"/>
            <a:ext cx="502920" cy="502920"/>
          </a:xfrm>
          <a:prstGeom prst="ellipse">
            <a:avLst/>
          </a:prstGeom>
          <a:solidFill>
            <a:schemeClr val="tx2"/>
          </a:solidFill>
          <a:ln w="12700">
            <a:solidFill>
              <a:schemeClr val="tx2"/>
            </a:solidFill>
            <a:prstDash val="solid"/>
          </a:ln>
        </p:spPr>
      </p:sp>
      <p:pic>
        <p:nvPicPr>
          <p:cNvPr id="25" name="icon" descr="preencoded.png">    </p:cNvPr>
          <p:cNvPicPr>
            <a:picLocks noChangeAspect="1"/>
          </p:cNvPicPr>
          <p:nvPr/>
        </p:nvPicPr>
        <p:blipFill>
          <a:blip r:embed="rId5"/>
          <a:stretch>
            <a:fillRect/>
          </a:stretch>
        </p:blipFill>
        <p:spPr>
          <a:xfrm>
            <a:off x="3539642" y="3173882"/>
            <a:ext cx="281635" cy="281635"/>
          </a:xfrm>
          <a:prstGeom prst="rect">
            <a:avLst/>
          </a:prstGeom>
        </p:spPr>
      </p:pic>
      <p:sp>
        <p:nvSpPr>
          <p:cNvPr id="26" name="Text 19"/>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7" name="Text 20"/>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8" name="future card"/>
          <p:cNvSpPr/>
          <p:nvPr/>
        </p:nvSpPr>
        <p:spPr>
          <a:xfrm>
            <a:off x="6035040" y="288036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9" name="icon circle"/>
          <p:cNvSpPr/>
          <p:nvPr/>
        </p:nvSpPr>
        <p:spPr>
          <a:xfrm>
            <a:off x="6217920" y="3063240"/>
            <a:ext cx="502920" cy="502920"/>
          </a:xfrm>
          <a:prstGeom prst="ellipse">
            <a:avLst/>
          </a:prstGeom>
          <a:solidFill>
            <a:schemeClr val="tx2"/>
          </a:solidFill>
          <a:ln w="12700">
            <a:solidFill>
              <a:schemeClr val="tx2"/>
            </a:solidFill>
            <a:prstDash val="solid"/>
          </a:ln>
        </p:spPr>
      </p:sp>
      <p:pic>
        <p:nvPicPr>
          <p:cNvPr id="30" name="icon" descr="preencoded.png">    </p:cNvPr>
          <p:cNvPicPr>
            <a:picLocks noChangeAspect="1"/>
          </p:cNvPicPr>
          <p:nvPr/>
        </p:nvPicPr>
        <p:blipFill>
          <a:blip r:embed="rId6"/>
          <a:stretch>
            <a:fillRect/>
          </a:stretch>
        </p:blipFill>
        <p:spPr>
          <a:xfrm>
            <a:off x="6328562" y="3173882"/>
            <a:ext cx="281635" cy="281635"/>
          </a:xfrm>
          <a:prstGeom prst="rect">
            <a:avLst/>
          </a:prstGeom>
        </p:spPr>
      </p:pic>
      <p:sp>
        <p:nvSpPr>
          <p:cNvPr id="31" name="Text 23"/>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32" name="Text 24"/>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oundRect">
            <a:avLst>
              <a:gd name="adj" fmla="val 3077"/>
            </a:avLst>
          </a:prstGeom>
          <a:solidFill>
            <a:srgbClr val="1F2E52"/>
          </a:solidFill>
          <a:ln w="12700">
            <a:solidFill>
              <a:srgbClr val="1F2E52"/>
            </a:solidFill>
            <a:prstDash val="solid"/>
          </a:ln>
          <a:effectLst>
            <a:outerShdw sx="100000" sy="100000" kx="0" ky="0" algn="bl" rotWithShape="0" blurRad="76200" dist="25400" dir="5400000">
              <a:srgbClr val="000000">
                <a:alpha val="15000"/>
              </a:srgbClr>
            </a:outerShdw>
          </a:effectLst>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2026-10-26T14:31:47Z</dcterms:created>
  <dcterms:modified xsi:type="dcterms:W3CDTF">2026-10-26T14:31:47Z</dcterms:modified>
</cp:coreProperties>
</file>