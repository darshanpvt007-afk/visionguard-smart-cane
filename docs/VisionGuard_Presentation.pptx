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9b87343-c8d3-aa62-0ae5-02d6b066e33c}">
          <p14:sldIdLst>
            <p14:sldId id="256"/>
            <p14:sldId id="257"/>
            <p14:sldId id="258"/>
            <p14:sldId id="259"/>
            <p14:sldId id="260"/>
            <p14:sldId id="261"/>
          </p14:sldIdLst>
        </p14:section>
        <p14:section name="System Design" id="{4d06a7a3-2fac-ee51-d85e-cc654896d100}">
          <p14:sldIdLst>
            <p14:sldId id="262"/>
            <p14:sldId id="263"/>
            <p14:sldId id="264"/>
            <p14:sldId id="265"/>
            <p14:sldId id="266"/>
            <p14:sldId id="267"/>
            <p14:sldId id="268"/>
            <p14:sldId id="269"/>
          </p14:sldIdLst>
        </p14:section>
        <p14:section name="Software" id="{3cd56ecf-efb0-a6d4-3b85-39fe3bdb0ba1}">
          <p14:sldIdLst>
            <p14:sldId id="270"/>
            <p14:sldId id="271"/>
            <p14:sldId id="272"/>
            <p14:sldId id="273"/>
          </p14:sldIdLst>
        </p14:section>
        <p14:section name="Results and Conclusion" id="{4545a690-9b43-736d-ac8d-371e736616dd}">
          <p14:sldIdLst>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Cost breakdown (₹, incl. GST)</a:t>
            </a:r>
          </a:p>
        </c:rich>
      </c:tx>
      <c:layout/>
      <c:overlay val="0"/>
    </c:title>
    <c:autoTitleDeleted val="0"/>
    <c:plotArea>
      <c:layout/>
      <c:barChart>
        <c:barDir val="bar"/>
        <c:grouping val="clustered"/>
        <c:varyColors val="0"/>
        <c:ser>
          <c:idx val="0"/>
          <c:order val="0"/>
          <c:tx>
            <c:strRef>
              <c:f>Sheet1!$B$1</c:f>
              <c:strCache>
                <c:ptCount val="1"/>
                <c:pt idx="0">
                  <c:v>Cost (₹)</c:v>
                </c:pt>
              </c:strCache>
            </c:strRef>
          </c:tx>
          <c:spPr>
            <a:solidFill>
              <a:srgbClr val="1F7A8C"/>
            </a:solidFill>
            <a:effectLst/>
          </c:spPr>
          <c:invertIfNegative val="0"/>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cat>
            <c:multiLvlStrRef>
              <c:f>Sheet1!$A$2:$A$6</c:f>
              <c:multiLvlStrCache>
                <c:ptCount val="5"/>
                <c:lvl>
                  <c:pt idx="0">
                    <c:v>Controller</c:v>
                  </c:pt>
                  <c:pt idx="1">
                    <c:v>Power</c:v>
                  </c:pt>
                  <c:pt idx="2">
                    <c:v>Wiring &amp; passives</c:v>
                  </c:pt>
                  <c:pt idx="3">
                    <c:v>Sensors</c:v>
                  </c:pt>
                  <c:pt idx="4">
                    <c:v>Cable, buzzer, body</c:v>
                  </c:pt>
                </c:lvl>
              </c:multiLvlStrCache>
            </c:multiLvlStrRef>
          </c:cat>
          <c:val>
            <c:numRef>
              <c:f>Sheet1!$B$2:$B$6</c:f>
              <c:numCache>
                <c:formatCode>General</c:formatCode>
                <c:ptCount val="5"/>
                <c:pt idx="0">
                  <c:v>250</c:v>
                </c:pt>
                <c:pt idx="1">
                  <c:v>175</c:v>
                </c:pt>
                <c:pt idx="2">
                  <c:v>191</c:v>
                </c:pt>
                <c:pt idx="3">
                  <c:v>150</c:v>
                </c:pt>
                <c:pt idx="4">
                  <c:v>110</c:v>
                </c:pt>
              </c:numCache>
            </c:numRef>
          </c:val>
        </c:ser>
        <c:dLbls>
          <c:numFmt formatCode="#,##0" sourceLinked="0"/>
          <c:txPr>
            <a:bodyPr/>
            <a:lstStyle/>
            <a:p>
              <a:pPr>
                <a:defRPr b="0" i="0" strike="noStrike" sz="1200" u="none">
                  <a:solidFill>
                    <a:srgbClr val="1B1B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C677D"/>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S Darshan and Tanay Agarwal. Our project is VisionGuard, a smart cane for visually impaired people. It warns the user about obstacles in front and about water or wet ground at the tip, using an Arduino Nano, an ultrasonic sensor and a moisture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talk: the problem, our objectives, the system design, the software, the results, and finally the limitations and future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Millions of people depend on the white cane. Its limits: it detects an obstacle only on contact, it cannot warn about water or open drains, and it gives no idea of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white cane is cheap but contact-only. Guide dogs are excellent but expensive and scarce. Commercial smart canes are costly and imported. Our project targets the gap: a low-cost cane that warns about both obstacles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measurable objectives: detect obstacles within 50 cm; show distance through the beep gap, from 50 ms when very close to 400 ms at 50 cm; detect water when the moisture reading drops below 500 out of 1023, with priority; and keep the cane cheap and portable, about 876 rupees of hardware on one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adds three things to a PVC cane: an ultrasonic sensor as its eyes, a moisture probe at the tip, and a buzzer that gives prioritised alerts. An Arduino Nano runs it all from a single 18650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on the left: the ultrasonic sensor on D5 and D6, and the moisture probe through the LM393 module on A0. The Nano in the middle decides. The output is the buzzer on D2. Power comes from the battery through the switch to the 5V pin. The dashed vibration motor is planned, not built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electronic parts. The Nano is the brain, the HC-SR04 measures distance, the probe and LM393 module sense water, the buzzer alerts, and the battery, switch and capacitor make up the power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the Arduino Nano because it is small enough for a cane, cheap, uses 5 volt logic like our sensors, has a built-in 10-bit ADC for the moisture probe, and is easy to program over USB. A Raspberry Pi would be overkill in cost, power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Nano sends a 10 microsecond pulse on Trig. The sensor emits eight 40 kHz pulses and holds Echo high until the echo returns. Distance equals speed of sound times time, divided by two because the sound goes there and back. For example, 1000 microseconds gives 17 centimetres.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probe has two copper tracks. Dry air does not conduct, so the reading is near 1023. Water conducts, the resistance drops, and the voltage on A0 falls. Below 500 we treat it as water. Because the ADC reference and the divider use the same supply, the reading does not depend on the battery voltage.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18650 lithium-ion cell powers everything through a rocker switch connected to the Nano's 5V pin. Total draw is about 40 mA, so the 1200 mAh cell lasts roughly 30 hours in theory. A capacitor smooths the supply. Important: switch off before connecting USB, because the battery is wired directly to the 5V 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modules share the 5 volt and ground rails. Trig goes to D5, Echo to D6, the moisture output to A0 and the buzzer to D2. D3 is reserved for a vibration motor in the next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every connection. Note that the moisture module's digital output D0 is not used; we read the analog value so we can set the threshold in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initialise once, then measure distance, read moisture, and decide. Water has first priority with a continuous tone. Otherwise, if an obstacle is within 50 cm, it beeps with a gap from 50 to 400 ms depending on distance. Otherwise it is silent. Then it waits 30 ms and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flow graph shows the computation: the echo time is multiplied by 0.034 and divided by 2 to get distance. Distance goes to a comparison for 'near' and to constrain and map to get the beep gap. The moisture value is compared with 500 to get 'wet'. The priority select combines them to drive the buzzer.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switch-on, the system initialises and then senses. From SENSE it goes into exactly one state: water alert, obstacle alert or clear. Each returns to SENSE after 30 milliseconds. Switching off returns it to OFF from any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code, simplified. readDistanceCm sends the trigger pulse and measures the echo with a 30 ms timeout. Then the if-else chain implements the priority: water first, then obstacle with map() giving the beep gap, otherwise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built prototype. From the tip: the moisture probe, the LM393 module, the ultrasonic sensor facing forward, then the Nano with the buzzer, the switch and the battery near the handle, which keeps it easy to swing.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so far: the cane runs on battery and the obstacle alert works, with beeps getting faster as the obstacle approaches. The water alert is implemented and we are calibrating the threshold from the dry and wet readings on the Serial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cane hardware costs about 876 rupees. The full project spend was 1,805 rupees, but that includes the soldering iron and other tools, and parts kept for the next version such as the MOSFET and fuse. That is far cheaper than commercial smart 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Advantages: early warning with distance information, water detection, low cost and easy repair. Limitations: the narrow beam misses head-level obstacles, water is detected only on contact, the probe corrodes, the supply is unregulated, and a buzzer can be hard to hear in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final version we plan a vibration motor for silent alerts, regulated power with charging and a fuse, extra sensors for head-level obstacles and steps, a capacitive moisture sensor, GPS with an SOS message, and a PCB in a waterproof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datasheets and documentation we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VisionGuard turns a plain cane into a low-cost electronic travel aid that warns about obstacles before contact, shows distance through the beep rate, and gives priority warnings for water, all for under 900 rupees.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457200" y="4773168"/>
            <a:ext cx="6858000" cy="274320"/>
          </a:xfrm>
          <a:prstGeom prst="rect">
            <a:avLst/>
          </a:prstGeom>
          <a:noFill/>
          <a:ln/>
        </p:spPr>
        <p:txBody>
          <a:bodyPr wrap="square" lIns="0" tIns="0" rIns="0" bIns="0" rtlCol="0" anchor="ctr"/>
          <a:lstStyle/>
          <a:p>
            <a:pPr indent="0" marL="0">
              <a:buNone/>
            </a:pPr>
            <a:r>
              <a:rPr lang="en-US" sz="1000" dirty="0">
                <a:solidFill>
                  <a:schemeClr val="accent5"/>
                </a:solidFill>
              </a:rPr>
              <a:t>VisionGuard Smart Cane  |  BACSE324 Embedded Systems Architecture</a:t>
            </a:r>
            <a:endParaRPr lang="en-US" sz="10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jpg"/><Relationship Id="rId5" Type="http://schemas.openxmlformats.org/officeDocument/2006/relationships/image" Target="../media/image-19-5.jp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3.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VisionGuard</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Smart cane for visually impaired people: obstacle and wet-surface warning with an Arduino Nano</a:t>
            </a:r>
            <a:endParaRPr lang="en-US" sz="1800" dirty="0"/>
          </a:p>
        </p:txBody>
      </p:sp>
      <p:sp>
        <p:nvSpPr>
          <p:cNvPr id="4" name="Text 2"/>
          <p:cNvSpPr txBox="1"/>
          <p:nvPr/>
        </p:nvSpPr>
        <p:spPr>
          <a:xfrm>
            <a:off x="548640" y="3840480"/>
            <a:ext cx="4754880" cy="594360"/>
          </a:xfrm>
          <a:prstGeom prst="rect">
            <a:avLst/>
          </a:prstGeom>
          <a:noFill/>
          <a:ln/>
        </p:spPr>
        <p:txBody>
          <a:bodyPr wrap="square" lIns="0" tIns="0" rIns="0" bIns="0" rtlCol="0" anchor="t"/>
          <a:lstStyle/>
          <a:p>
            <a:pPr indent="0" marL="0">
              <a:buNone/>
            </a:pPr>
            <a:r>
              <a:rPr lang="en-US" sz="1300" b="1" dirty="0">
                <a:solidFill>
                  <a:schemeClr val="bg1"/>
                </a:solidFill>
              </a:rPr>
              <a:t>S Darshan (25BCE2883)  ·  Tanay Agarwal (25BCE2475)</a:t>
            </a:r>
            <a:endParaRPr lang="en-US" sz="1300" dirty="0"/>
          </a:p>
          <a:p>
            <a:pPr indent="0" marL="0">
              <a:buNone/>
            </a:pPr>
            <a:r>
              <a:rPr lang="en-US" sz="1300" dirty="0">
                <a:solidFill>
                  <a:schemeClr val="bg1"/>
                </a:solidFill>
              </a:rPr>
              <a:t>BACSE324 Embedded Systems Architecture  |  B.Tech CSE, VIT Vellore</a:t>
            </a:r>
            <a:endParaRPr lang="en-US" sz="1300" dirty="0"/>
          </a:p>
        </p:txBody>
      </p:sp>
      <p:sp>
        <p:nvSpPr>
          <p:cNvPr id="5" name="tag"/>
          <p:cNvSpPr/>
          <p:nvPr/>
        </p:nvSpPr>
        <p:spPr>
          <a:xfrm>
            <a:off x="548640" y="548640"/>
            <a:ext cx="1463040" cy="329184"/>
          </a:xfrm>
          <a:prstGeom prst="rect">
            <a:avLst/>
          </a:prstGeom>
          <a:solidFill>
            <a:schemeClr val="accent1"/>
          </a:solidFill>
          <a:ln w="12700">
            <a:solidFill>
              <a:schemeClr val="accent1"/>
            </a:solidFill>
            <a:prstDash val="solid"/>
          </a:ln>
        </p:spPr>
      </p:sp>
      <p:sp>
        <p:nvSpPr>
          <p:cNvPr id="6" name="Text 4"/>
          <p:cNvSpPr txBox="1"/>
          <p:nvPr/>
        </p:nvSpPr>
        <p:spPr>
          <a:xfrm>
            <a:off x="548640" y="548640"/>
            <a:ext cx="1463040" cy="329184"/>
          </a:xfrm>
          <a:prstGeom prst="rect">
            <a:avLst/>
          </a:prstGeom>
          <a:noFill/>
          <a:ln/>
        </p:spPr>
        <p:txBody>
          <a:bodyPr wrap="square" lIns="0" tIns="0" rIns="0" bIns="0" rtlCol="0" anchor="ctr"/>
          <a:lstStyle/>
          <a:p>
            <a:pPr algn="ctr" indent="0" marL="0">
              <a:buNone/>
            </a:pPr>
            <a:r>
              <a:rPr lang="en-US" sz="1100" b="1" dirty="0">
                <a:solidFill>
                  <a:schemeClr val="tx2"/>
                </a:solidFill>
              </a:rPr>
              <a:t>COURSE PROJECT</a:t>
            </a:r>
            <a:endParaRPr lang="en-US" sz="1100" dirty="0"/>
          </a:p>
        </p:txBody>
      </p:sp>
      <p:pic>
        <p:nvPicPr>
          <p:cNvPr id="7" name="prototype photo" descr="img/overview.jpg">    </p:cNvPr>
          <p:cNvPicPr>
            <a:picLocks noChangeAspect="1"/>
          </p:cNvPicPr>
          <p:nvPr/>
        </p:nvPicPr>
        <p:blipFill>
          <a:blip r:embed="rId1"/>
          <a:stretch>
            <a:fillRect/>
          </a:stretch>
        </p:blipFill>
        <p:spPr>
          <a:xfrm>
            <a:off x="5394960" y="1320394"/>
            <a:ext cx="3291840" cy="24798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What this presentation covers</a:t>
            </a:r>
            <a:endParaRPr lang="en-US" sz="3000" dirty="0"/>
          </a:p>
        </p:txBody>
      </p:sp>
      <p:sp>
        <p:nvSpPr>
          <p:cNvPr id="3" name="agenda card"/>
          <p:cNvSpPr/>
          <p:nvPr/>
        </p:nvSpPr>
        <p:spPr>
          <a:xfrm>
            <a:off x="457200" y="1234440"/>
            <a:ext cx="2606040" cy="1463040"/>
          </a:xfrm>
          <a:prstGeom prst="rect">
            <a:avLst/>
          </a:prstGeom>
          <a:solidFill>
            <a:schemeClr val="bg2"/>
          </a:solidFill>
          <a:ln w="9525">
            <a:solidFill>
              <a:srgbClr val="B8C4D6"/>
            </a:solidFill>
            <a:prstDash val="solid"/>
          </a:ln>
        </p:spPr>
      </p:sp>
      <p:sp>
        <p:nvSpPr>
          <p:cNvPr id="4" name="Text 2"/>
          <p:cNvSpPr txBox="1"/>
          <p:nvPr/>
        </p:nvSpPr>
        <p:spPr>
          <a:xfrm>
            <a:off x="68580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01</a:t>
            </a:r>
            <a:endParaRPr lang="en-US" sz="2600" dirty="0"/>
          </a:p>
        </p:txBody>
      </p:sp>
      <p:sp>
        <p:nvSpPr>
          <p:cNvPr id="5" name="Text 3"/>
          <p:cNvSpPr txBox="1"/>
          <p:nvPr/>
        </p:nvSpPr>
        <p:spPr>
          <a:xfrm>
            <a:off x="68580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Problem</a:t>
            </a:r>
            <a:endParaRPr lang="en-US" sz="1700" dirty="0"/>
          </a:p>
        </p:txBody>
      </p:sp>
      <p:sp>
        <p:nvSpPr>
          <p:cNvPr id="6" name="Text 4"/>
          <p:cNvSpPr txBox="1"/>
          <p:nvPr/>
        </p:nvSpPr>
        <p:spPr>
          <a:xfrm>
            <a:off x="68580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Why a normal cane is not enough</a:t>
            </a:r>
            <a:endParaRPr lang="en-US" sz="1300" dirty="0"/>
          </a:p>
        </p:txBody>
      </p:sp>
      <p:sp>
        <p:nvSpPr>
          <p:cNvPr id="7" name="agenda card"/>
          <p:cNvSpPr/>
          <p:nvPr/>
        </p:nvSpPr>
        <p:spPr>
          <a:xfrm>
            <a:off x="3246120" y="1234440"/>
            <a:ext cx="2606040" cy="1463040"/>
          </a:xfrm>
          <a:prstGeom prst="rect">
            <a:avLst/>
          </a:prstGeom>
          <a:solidFill>
            <a:schemeClr val="bg2"/>
          </a:solidFill>
          <a:ln w="9525">
            <a:solidFill>
              <a:srgbClr val="B8C4D6"/>
            </a:solidFill>
            <a:prstDash val="solid"/>
          </a:ln>
        </p:spPr>
      </p:sp>
      <p:sp>
        <p:nvSpPr>
          <p:cNvPr id="8" name="Text 6"/>
          <p:cNvSpPr txBox="1"/>
          <p:nvPr/>
        </p:nvSpPr>
        <p:spPr>
          <a:xfrm>
            <a:off x="347472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02</a:t>
            </a:r>
            <a:endParaRPr lang="en-US" sz="2600" dirty="0"/>
          </a:p>
        </p:txBody>
      </p:sp>
      <p:sp>
        <p:nvSpPr>
          <p:cNvPr id="9" name="Text 7"/>
          <p:cNvSpPr txBox="1"/>
          <p:nvPr/>
        </p:nvSpPr>
        <p:spPr>
          <a:xfrm>
            <a:off x="347472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Objectives</a:t>
            </a:r>
            <a:endParaRPr lang="en-US" sz="1700" dirty="0"/>
          </a:p>
        </p:txBody>
      </p:sp>
      <p:sp>
        <p:nvSpPr>
          <p:cNvPr id="10" name="Text 8"/>
          <p:cNvSpPr txBox="1"/>
          <p:nvPr/>
        </p:nvSpPr>
        <p:spPr>
          <a:xfrm>
            <a:off x="347472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What the cane must achieve</a:t>
            </a:r>
            <a:endParaRPr lang="en-US" sz="1300" dirty="0"/>
          </a:p>
        </p:txBody>
      </p:sp>
      <p:sp>
        <p:nvSpPr>
          <p:cNvPr id="11" name="agenda card"/>
          <p:cNvSpPr/>
          <p:nvPr/>
        </p:nvSpPr>
        <p:spPr>
          <a:xfrm>
            <a:off x="6035040" y="1234440"/>
            <a:ext cx="2606040" cy="1463040"/>
          </a:xfrm>
          <a:prstGeom prst="rect">
            <a:avLst/>
          </a:prstGeom>
          <a:solidFill>
            <a:schemeClr val="bg2"/>
          </a:solidFill>
          <a:ln w="9525">
            <a:solidFill>
              <a:srgbClr val="B8C4D6"/>
            </a:solidFill>
            <a:prstDash val="solid"/>
          </a:ln>
        </p:spPr>
      </p:sp>
      <p:sp>
        <p:nvSpPr>
          <p:cNvPr id="12" name="Text 10"/>
          <p:cNvSpPr txBox="1"/>
          <p:nvPr/>
        </p:nvSpPr>
        <p:spPr>
          <a:xfrm>
            <a:off x="6263640" y="141732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03</a:t>
            </a:r>
            <a:endParaRPr lang="en-US" sz="2600" dirty="0"/>
          </a:p>
        </p:txBody>
      </p:sp>
      <p:sp>
        <p:nvSpPr>
          <p:cNvPr id="13" name="Text 11"/>
          <p:cNvSpPr txBox="1"/>
          <p:nvPr/>
        </p:nvSpPr>
        <p:spPr>
          <a:xfrm>
            <a:off x="6263640" y="189280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System design</a:t>
            </a:r>
            <a:endParaRPr lang="en-US" sz="1700" dirty="0"/>
          </a:p>
        </p:txBody>
      </p:sp>
      <p:sp>
        <p:nvSpPr>
          <p:cNvPr id="14" name="Text 12"/>
          <p:cNvSpPr txBox="1"/>
          <p:nvPr/>
        </p:nvSpPr>
        <p:spPr>
          <a:xfrm>
            <a:off x="6263640" y="221284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Block diagram, hardware, circuit</a:t>
            </a:r>
            <a:endParaRPr lang="en-US" sz="1300" dirty="0"/>
          </a:p>
        </p:txBody>
      </p:sp>
      <p:sp>
        <p:nvSpPr>
          <p:cNvPr id="15" name="agenda card"/>
          <p:cNvSpPr/>
          <p:nvPr/>
        </p:nvSpPr>
        <p:spPr>
          <a:xfrm>
            <a:off x="457200" y="2926080"/>
            <a:ext cx="2606040" cy="1463040"/>
          </a:xfrm>
          <a:prstGeom prst="rect">
            <a:avLst/>
          </a:prstGeom>
          <a:solidFill>
            <a:schemeClr val="bg2"/>
          </a:solidFill>
          <a:ln w="9525">
            <a:solidFill>
              <a:srgbClr val="B8C4D6"/>
            </a:solidFill>
            <a:prstDash val="solid"/>
          </a:ln>
        </p:spPr>
      </p:sp>
      <p:sp>
        <p:nvSpPr>
          <p:cNvPr id="16" name="Text 14"/>
          <p:cNvSpPr txBox="1"/>
          <p:nvPr/>
        </p:nvSpPr>
        <p:spPr>
          <a:xfrm>
            <a:off x="68580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04</a:t>
            </a:r>
            <a:endParaRPr lang="en-US" sz="2600" dirty="0"/>
          </a:p>
        </p:txBody>
      </p:sp>
      <p:sp>
        <p:nvSpPr>
          <p:cNvPr id="17" name="Text 15"/>
          <p:cNvSpPr txBox="1"/>
          <p:nvPr/>
        </p:nvSpPr>
        <p:spPr>
          <a:xfrm>
            <a:off x="68580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Software</a:t>
            </a:r>
            <a:endParaRPr lang="en-US" sz="1700" dirty="0"/>
          </a:p>
        </p:txBody>
      </p:sp>
      <p:sp>
        <p:nvSpPr>
          <p:cNvPr id="18" name="Text 16"/>
          <p:cNvSpPr txBox="1"/>
          <p:nvPr/>
        </p:nvSpPr>
        <p:spPr>
          <a:xfrm>
            <a:off x="68580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Algorithm, DFG, state diagram, code</a:t>
            </a:r>
            <a:endParaRPr lang="en-US" sz="1300" dirty="0"/>
          </a:p>
        </p:txBody>
      </p:sp>
      <p:sp>
        <p:nvSpPr>
          <p:cNvPr id="19" name="agenda card"/>
          <p:cNvSpPr/>
          <p:nvPr/>
        </p:nvSpPr>
        <p:spPr>
          <a:xfrm>
            <a:off x="3246120" y="2926080"/>
            <a:ext cx="2606040" cy="1463040"/>
          </a:xfrm>
          <a:prstGeom prst="rect">
            <a:avLst/>
          </a:prstGeom>
          <a:solidFill>
            <a:schemeClr val="bg2"/>
          </a:solidFill>
          <a:ln w="9525">
            <a:solidFill>
              <a:srgbClr val="B8C4D6"/>
            </a:solidFill>
            <a:prstDash val="solid"/>
          </a:ln>
        </p:spPr>
      </p:sp>
      <p:sp>
        <p:nvSpPr>
          <p:cNvPr id="20" name="Text 18"/>
          <p:cNvSpPr txBox="1"/>
          <p:nvPr/>
        </p:nvSpPr>
        <p:spPr>
          <a:xfrm>
            <a:off x="347472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05</a:t>
            </a:r>
            <a:endParaRPr lang="en-US" sz="2600" dirty="0"/>
          </a:p>
        </p:txBody>
      </p:sp>
      <p:sp>
        <p:nvSpPr>
          <p:cNvPr id="21" name="Text 19"/>
          <p:cNvSpPr txBox="1"/>
          <p:nvPr/>
        </p:nvSpPr>
        <p:spPr>
          <a:xfrm>
            <a:off x="347472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Results</a:t>
            </a:r>
            <a:endParaRPr lang="en-US" sz="1700" dirty="0"/>
          </a:p>
        </p:txBody>
      </p:sp>
      <p:sp>
        <p:nvSpPr>
          <p:cNvPr id="22" name="Text 20"/>
          <p:cNvSpPr txBox="1"/>
          <p:nvPr/>
        </p:nvSpPr>
        <p:spPr>
          <a:xfrm>
            <a:off x="347472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Prototype, tests and cost</a:t>
            </a:r>
            <a:endParaRPr lang="en-US" sz="1300" dirty="0"/>
          </a:p>
        </p:txBody>
      </p:sp>
      <p:sp>
        <p:nvSpPr>
          <p:cNvPr id="23" name="agenda card"/>
          <p:cNvSpPr/>
          <p:nvPr/>
        </p:nvSpPr>
        <p:spPr>
          <a:xfrm>
            <a:off x="6035040" y="2926080"/>
            <a:ext cx="2606040" cy="1463040"/>
          </a:xfrm>
          <a:prstGeom prst="rect">
            <a:avLst/>
          </a:prstGeom>
          <a:solidFill>
            <a:schemeClr val="bg2"/>
          </a:solidFill>
          <a:ln w="9525">
            <a:solidFill>
              <a:srgbClr val="B8C4D6"/>
            </a:solidFill>
            <a:prstDash val="solid"/>
          </a:ln>
        </p:spPr>
      </p:sp>
      <p:sp>
        <p:nvSpPr>
          <p:cNvPr id="24" name="Text 22"/>
          <p:cNvSpPr txBox="1"/>
          <p:nvPr/>
        </p:nvSpPr>
        <p:spPr>
          <a:xfrm>
            <a:off x="6263640" y="3108960"/>
            <a:ext cx="914400" cy="457200"/>
          </a:xfrm>
          <a:prstGeom prst="rect">
            <a:avLst/>
          </a:prstGeom>
          <a:noFill/>
          <a:ln/>
        </p:spPr>
        <p:txBody>
          <a:bodyPr wrap="square" lIns="0" tIns="0" rIns="0" bIns="0" rtlCol="0" anchor="t"/>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06</a:t>
            </a:r>
            <a:endParaRPr lang="en-US" sz="2600" dirty="0"/>
          </a:p>
        </p:txBody>
      </p:sp>
      <p:sp>
        <p:nvSpPr>
          <p:cNvPr id="25" name="Text 23"/>
          <p:cNvSpPr txBox="1"/>
          <p:nvPr/>
        </p:nvSpPr>
        <p:spPr>
          <a:xfrm>
            <a:off x="6263640" y="3584448"/>
            <a:ext cx="2194560" cy="320040"/>
          </a:xfrm>
          <a:prstGeom prst="rect">
            <a:avLst/>
          </a:prstGeom>
          <a:noFill/>
          <a:ln/>
        </p:spPr>
        <p:txBody>
          <a:bodyPr wrap="square" lIns="0" tIns="0" rIns="0" bIns="0" rtlCol="0" anchor="t"/>
          <a:lstStyle/>
          <a:p>
            <a:pPr indent="0" marL="0">
              <a:buNone/>
            </a:pPr>
            <a:r>
              <a:rPr lang="en-US" sz="1700" b="1" dirty="0">
                <a:solidFill>
                  <a:schemeClr val="tx2"/>
                </a:solidFill>
              </a:rPr>
              <a:t>Way forward</a:t>
            </a:r>
            <a:endParaRPr lang="en-US" sz="1700" dirty="0"/>
          </a:p>
        </p:txBody>
      </p:sp>
      <p:sp>
        <p:nvSpPr>
          <p:cNvPr id="26" name="Text 24"/>
          <p:cNvSpPr txBox="1"/>
          <p:nvPr/>
        </p:nvSpPr>
        <p:spPr>
          <a:xfrm>
            <a:off x="6263640" y="3904488"/>
            <a:ext cx="2240280" cy="365760"/>
          </a:xfrm>
          <a:prstGeom prst="rect">
            <a:avLst/>
          </a:prstGeom>
          <a:noFill/>
          <a:ln/>
        </p:spPr>
        <p:txBody>
          <a:bodyPr wrap="square" lIns="0" tIns="0" rIns="0" bIns="0" rtlCol="0" anchor="t"/>
          <a:lstStyle/>
          <a:p>
            <a:pPr indent="0" marL="0">
              <a:buNone/>
            </a:pPr>
            <a:r>
              <a:rPr lang="en-US" sz="1300" dirty="0">
                <a:solidFill>
                  <a:schemeClr val="accent5"/>
                </a:solidFill>
              </a:rPr>
              <a:t>Limitations and future scope</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problem with a white cane</a:t>
            </a:r>
            <a:endParaRPr lang="en-US" sz="3000" dirty="0"/>
          </a:p>
        </p:txBody>
      </p:sp>
      <p:sp>
        <p:nvSpPr>
          <p:cNvPr id="3" name="stat card"/>
          <p:cNvSpPr/>
          <p:nvPr/>
        </p:nvSpPr>
        <p:spPr>
          <a:xfrm>
            <a:off x="457200" y="1188720"/>
            <a:ext cx="3200400" cy="3291840"/>
          </a:xfrm>
          <a:prstGeom prst="rect">
            <a:avLst/>
          </a:prstGeom>
          <a:solidFill>
            <a:schemeClr val="tx2"/>
          </a:solidFill>
          <a:ln w="9525">
            <a:solidFill>
              <a:srgbClr val="B8C4D6"/>
            </a:solidFill>
            <a:prstDash val="solid"/>
          </a:ln>
        </p:spPr>
      </p:sp>
      <p:sp>
        <p:nvSpPr>
          <p:cNvPr id="4" name="Text 2"/>
          <p:cNvSpPr txBox="1"/>
          <p:nvPr/>
        </p:nvSpPr>
        <p:spPr>
          <a:xfrm>
            <a:off x="685800" y="1600200"/>
            <a:ext cx="2834640" cy="82296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2.2 billion</a:t>
            </a:r>
            <a:endParaRPr lang="en-US" sz="4000" dirty="0"/>
          </a:p>
        </p:txBody>
      </p:sp>
      <p:sp>
        <p:nvSpPr>
          <p:cNvPr id="5" name="Text 3"/>
          <p:cNvSpPr txBox="1"/>
          <p:nvPr/>
        </p:nvSpPr>
        <p:spPr>
          <a:xfrm>
            <a:off x="685800" y="2468880"/>
            <a:ext cx="2743200" cy="914400"/>
          </a:xfrm>
          <a:prstGeom prst="rect">
            <a:avLst/>
          </a:prstGeom>
          <a:noFill/>
          <a:ln/>
        </p:spPr>
        <p:txBody>
          <a:bodyPr wrap="square" lIns="0" tIns="0" rIns="0" bIns="0" rtlCol="0" anchor="t"/>
          <a:lstStyle/>
          <a:p>
            <a:pPr indent="0" marL="0">
              <a:buNone/>
            </a:pPr>
            <a:r>
              <a:rPr lang="en-US" sz="1600" dirty="0">
                <a:solidFill>
                  <a:schemeClr val="bg1"/>
                </a:solidFill>
              </a:rPr>
              <a:t>people worldwide live with a near or distance vision impairment</a:t>
            </a:r>
            <a:endParaRPr lang="en-US" sz="1600" dirty="0"/>
          </a:p>
        </p:txBody>
      </p:sp>
      <p:sp>
        <p:nvSpPr>
          <p:cNvPr id="6" name="Text 4"/>
          <p:cNvSpPr txBox="1"/>
          <p:nvPr/>
        </p:nvSpPr>
        <p:spPr>
          <a:xfrm>
            <a:off x="685800" y="3886200"/>
            <a:ext cx="2743200" cy="365760"/>
          </a:xfrm>
          <a:prstGeom prst="rect">
            <a:avLst/>
          </a:prstGeom>
          <a:noFill/>
          <a:ln/>
        </p:spPr>
        <p:txBody>
          <a:bodyPr wrap="square" lIns="0" tIns="0" rIns="0" bIns="0" rtlCol="0" anchor="t"/>
          <a:lstStyle/>
          <a:p>
            <a:pPr indent="0" marL="0">
              <a:buNone/>
            </a:pPr>
            <a:r>
              <a:rPr lang="en-US" sz="1000" dirty="0">
                <a:solidFill>
                  <a:schemeClr val="accent6"/>
                </a:solidFill>
              </a:rPr>
              <a:t>Source: WHO, World Report on Vision, 2019</a:t>
            </a:r>
            <a:endParaRPr lang="en-US" sz="1000" dirty="0"/>
          </a:p>
        </p:txBody>
      </p:sp>
      <p:pic>
        <p:nvPicPr>
          <p:cNvPr id="7" name="icon" descr="preencoded.png">    </p:cNvPr>
          <p:cNvPicPr>
            <a:picLocks noChangeAspect="1"/>
          </p:cNvPicPr>
          <p:nvPr/>
        </p:nvPicPr>
        <p:blipFill>
          <a:blip r:embed="rId1"/>
          <a:stretch>
            <a:fillRect/>
          </a:stretch>
        </p:blipFill>
        <p:spPr>
          <a:xfrm>
            <a:off x="4133088" y="1298448"/>
            <a:ext cx="480060" cy="480060"/>
          </a:xfrm>
          <a:prstGeom prst="rect">
            <a:avLst/>
          </a:prstGeom>
        </p:spPr>
      </p:pic>
      <p:sp>
        <p:nvSpPr>
          <p:cNvPr id="8" name="Text 5"/>
          <p:cNvSpPr txBox="1"/>
          <p:nvPr/>
        </p:nvSpPr>
        <p:spPr>
          <a:xfrm>
            <a:off x="4892040" y="1234440"/>
            <a:ext cx="3749040" cy="320040"/>
          </a:xfrm>
          <a:prstGeom prst="rect">
            <a:avLst/>
          </a:prstGeom>
          <a:noFill/>
          <a:ln/>
        </p:spPr>
        <p:txBody>
          <a:bodyPr wrap="square" lIns="0" tIns="0" rIns="0" bIns="0" rtlCol="0" anchor="t"/>
          <a:lstStyle/>
          <a:p>
            <a:pPr indent="0" marL="0">
              <a:buNone/>
            </a:pPr>
            <a:r>
              <a:rPr lang="en-US" sz="1700" b="1" dirty="0">
                <a:solidFill>
                  <a:schemeClr val="tx2"/>
                </a:solidFill>
              </a:rPr>
              <a:t>Contact-only detection</a:t>
            </a:r>
            <a:endParaRPr lang="en-US" sz="1700" dirty="0"/>
          </a:p>
        </p:txBody>
      </p:sp>
      <p:sp>
        <p:nvSpPr>
          <p:cNvPr id="9" name="Text 6"/>
          <p:cNvSpPr txBox="1"/>
          <p:nvPr/>
        </p:nvSpPr>
        <p:spPr>
          <a:xfrm>
            <a:off x="4892040" y="158191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Obstacles are found only when the cane hits them, about 1 m ahead</a:t>
            </a:r>
            <a:endParaRPr lang="en-US" sz="1400" dirty="0"/>
          </a:p>
        </p:txBody>
      </p:sp>
      <p:pic>
        <p:nvPicPr>
          <p:cNvPr id="10" name="icon" descr="preencoded.png">    </p:cNvPr>
          <p:cNvPicPr>
            <a:picLocks noChangeAspect="1"/>
          </p:cNvPicPr>
          <p:nvPr/>
        </p:nvPicPr>
        <p:blipFill>
          <a:blip r:embed="rId2"/>
          <a:stretch>
            <a:fillRect/>
          </a:stretch>
        </p:blipFill>
        <p:spPr>
          <a:xfrm>
            <a:off x="4133088" y="2395728"/>
            <a:ext cx="480060" cy="480060"/>
          </a:xfrm>
          <a:prstGeom prst="rect">
            <a:avLst/>
          </a:prstGeom>
        </p:spPr>
      </p:pic>
      <p:sp>
        <p:nvSpPr>
          <p:cNvPr id="11" name="Text 7"/>
          <p:cNvSpPr txBox="1"/>
          <p:nvPr/>
        </p:nvSpPr>
        <p:spPr>
          <a:xfrm>
            <a:off x="4892040" y="233172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water warning</a:t>
            </a:r>
            <a:endParaRPr lang="en-US" sz="1700" dirty="0"/>
          </a:p>
        </p:txBody>
      </p:sp>
      <p:sp>
        <p:nvSpPr>
          <p:cNvPr id="12" name="Text 8"/>
          <p:cNvSpPr txBox="1"/>
          <p:nvPr/>
        </p:nvSpPr>
        <p:spPr>
          <a:xfrm>
            <a:off x="4892040" y="267919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Puddles, open drains and wet mud go unnoticed until stepped in</a:t>
            </a:r>
            <a:endParaRPr lang="en-US" sz="1400" dirty="0"/>
          </a:p>
        </p:txBody>
      </p:sp>
      <p:pic>
        <p:nvPicPr>
          <p:cNvPr id="13" name="icon" descr="preencoded.png">    </p:cNvPr>
          <p:cNvPicPr>
            <a:picLocks noChangeAspect="1"/>
          </p:cNvPicPr>
          <p:nvPr/>
        </p:nvPicPr>
        <p:blipFill>
          <a:blip r:embed="rId3"/>
          <a:stretch>
            <a:fillRect/>
          </a:stretch>
        </p:blipFill>
        <p:spPr>
          <a:xfrm>
            <a:off x="4133088" y="3493008"/>
            <a:ext cx="480060" cy="480060"/>
          </a:xfrm>
          <a:prstGeom prst="rect">
            <a:avLst/>
          </a:prstGeom>
        </p:spPr>
      </p:pic>
      <p:sp>
        <p:nvSpPr>
          <p:cNvPr id="14" name="Text 9"/>
          <p:cNvSpPr txBox="1"/>
          <p:nvPr/>
        </p:nvSpPr>
        <p:spPr>
          <a:xfrm>
            <a:off x="4892040" y="3429000"/>
            <a:ext cx="3749040" cy="320040"/>
          </a:xfrm>
          <a:prstGeom prst="rect">
            <a:avLst/>
          </a:prstGeom>
          <a:noFill/>
          <a:ln/>
        </p:spPr>
        <p:txBody>
          <a:bodyPr wrap="square" lIns="0" tIns="0" rIns="0" bIns="0" rtlCol="0" anchor="t"/>
          <a:lstStyle/>
          <a:p>
            <a:pPr indent="0" marL="0">
              <a:buNone/>
            </a:pPr>
            <a:r>
              <a:rPr lang="en-US" sz="1700" b="1" dirty="0">
                <a:solidFill>
                  <a:schemeClr val="tx2"/>
                </a:solidFill>
              </a:rPr>
              <a:t>No distance information</a:t>
            </a:r>
            <a:endParaRPr lang="en-US" sz="1700" dirty="0"/>
          </a:p>
        </p:txBody>
      </p:sp>
      <p:sp>
        <p:nvSpPr>
          <p:cNvPr id="15" name="Text 10"/>
          <p:cNvSpPr txBox="1"/>
          <p:nvPr/>
        </p:nvSpPr>
        <p:spPr>
          <a:xfrm>
            <a:off x="4892040" y="3776472"/>
            <a:ext cx="3749040" cy="548640"/>
          </a:xfrm>
          <a:prstGeom prst="rect">
            <a:avLst/>
          </a:prstGeom>
          <a:noFill/>
          <a:ln/>
        </p:spPr>
        <p:txBody>
          <a:bodyPr wrap="square" lIns="0" tIns="0" rIns="0" bIns="0" rtlCol="0" anchor="t"/>
          <a:lstStyle/>
          <a:p>
            <a:pPr indent="0" marL="0">
              <a:buNone/>
            </a:pPr>
            <a:r>
              <a:rPr lang="en-US" sz="1400" dirty="0">
                <a:solidFill>
                  <a:schemeClr val="accent5"/>
                </a:solidFill>
              </a:rPr>
              <a:t>The user cannot tell how close an obstacle is</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Existing solutions and their limits</a:t>
            </a:r>
            <a:endParaRPr lang="en-US" sz="3000" dirty="0"/>
          </a:p>
        </p:txBody>
      </p:sp>
      <p:sp>
        <p:nvSpPr>
          <p:cNvPr id="3" name="solution card"/>
          <p:cNvSpPr/>
          <p:nvPr/>
        </p:nvSpPr>
        <p:spPr>
          <a:xfrm>
            <a:off x="457200" y="1188720"/>
            <a:ext cx="2606040" cy="25146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740664" y="1426464"/>
            <a:ext cx="411480" cy="411480"/>
          </a:xfrm>
          <a:prstGeom prst="rect">
            <a:avLst/>
          </a:prstGeom>
        </p:spPr>
      </p:pic>
      <p:sp>
        <p:nvSpPr>
          <p:cNvPr id="5" name="Text 2"/>
          <p:cNvSpPr txBox="1"/>
          <p:nvPr/>
        </p:nvSpPr>
        <p:spPr>
          <a:xfrm>
            <a:off x="68580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White cane</a:t>
            </a:r>
            <a:endParaRPr lang="en-US" sz="1700" dirty="0"/>
          </a:p>
        </p:txBody>
      </p:sp>
      <p:sp>
        <p:nvSpPr>
          <p:cNvPr id="6" name="Text 3"/>
          <p:cNvSpPr txBox="1"/>
          <p:nvPr/>
        </p:nvSpPr>
        <p:spPr>
          <a:xfrm>
            <a:off x="68580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Cheap and simple</a:t>
            </a:r>
            <a:endParaRPr lang="en-US" sz="1400" dirty="0"/>
          </a:p>
        </p:txBody>
      </p:sp>
      <p:sp>
        <p:nvSpPr>
          <p:cNvPr id="7" name="Text 4"/>
          <p:cNvSpPr txBox="1"/>
          <p:nvPr/>
        </p:nvSpPr>
        <p:spPr>
          <a:xfrm>
            <a:off x="68580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Contact-only, no water or distance warning</a:t>
            </a:r>
            <a:endParaRPr lang="en-US" sz="1400" dirty="0"/>
          </a:p>
        </p:txBody>
      </p:sp>
      <p:sp>
        <p:nvSpPr>
          <p:cNvPr id="8" name="solution card"/>
          <p:cNvSpPr/>
          <p:nvPr/>
        </p:nvSpPr>
        <p:spPr>
          <a:xfrm>
            <a:off x="3246120" y="1188720"/>
            <a:ext cx="2606040" cy="25146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529584" y="1426464"/>
            <a:ext cx="411480" cy="411480"/>
          </a:xfrm>
          <a:prstGeom prst="rect">
            <a:avLst/>
          </a:prstGeom>
        </p:spPr>
      </p:pic>
      <p:sp>
        <p:nvSpPr>
          <p:cNvPr id="10" name="Text 6"/>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Guide dog</a:t>
            </a:r>
            <a:endParaRPr lang="en-US" sz="1700" dirty="0"/>
          </a:p>
        </p:txBody>
      </p:sp>
      <p:sp>
        <p:nvSpPr>
          <p:cNvPr id="11" name="Text 7"/>
          <p:cNvSpPr txBox="1"/>
          <p:nvPr/>
        </p:nvSpPr>
        <p:spPr>
          <a:xfrm>
            <a:off x="347472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Excellent navigation</a:t>
            </a:r>
            <a:endParaRPr lang="en-US" sz="1400" dirty="0"/>
          </a:p>
        </p:txBody>
      </p:sp>
      <p:sp>
        <p:nvSpPr>
          <p:cNvPr id="12" name="Text 8"/>
          <p:cNvSpPr txBox="1"/>
          <p:nvPr/>
        </p:nvSpPr>
        <p:spPr>
          <a:xfrm>
            <a:off x="347472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Expensive, long training, not widely available</a:t>
            </a:r>
            <a:endParaRPr lang="en-US" sz="1400" dirty="0"/>
          </a:p>
        </p:txBody>
      </p:sp>
      <p:sp>
        <p:nvSpPr>
          <p:cNvPr id="13" name="solution card"/>
          <p:cNvSpPr/>
          <p:nvPr/>
        </p:nvSpPr>
        <p:spPr>
          <a:xfrm>
            <a:off x="6035040" y="1188720"/>
            <a:ext cx="2606040" cy="25146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6318504" y="1426464"/>
            <a:ext cx="411480" cy="411480"/>
          </a:xfrm>
          <a:prstGeom prst="rect">
            <a:avLst/>
          </a:prstGeom>
        </p:spPr>
      </p:pic>
      <p:sp>
        <p:nvSpPr>
          <p:cNvPr id="15" name="Text 10"/>
          <p:cNvSpPr txBox="1"/>
          <p:nvPr/>
        </p:nvSpPr>
        <p:spPr>
          <a:xfrm>
            <a:off x="6263640" y="2011680"/>
            <a:ext cx="2194560" cy="320040"/>
          </a:xfrm>
          <a:prstGeom prst="rect">
            <a:avLst/>
          </a:prstGeom>
          <a:noFill/>
          <a:ln/>
        </p:spPr>
        <p:txBody>
          <a:bodyPr wrap="square" lIns="0" tIns="0" rIns="0" bIns="0" rtlCol="0" anchor="t"/>
          <a:lstStyle/>
          <a:p>
            <a:pPr indent="0" marL="0">
              <a:buNone/>
            </a:pPr>
            <a:r>
              <a:rPr lang="en-US" sz="1700" b="1" dirty="0">
                <a:solidFill>
                  <a:schemeClr val="tx2"/>
                </a:solidFill>
              </a:rPr>
              <a:t>Commercial canes</a:t>
            </a:r>
            <a:endParaRPr lang="en-US" sz="1700" dirty="0"/>
          </a:p>
        </p:txBody>
      </p:sp>
      <p:sp>
        <p:nvSpPr>
          <p:cNvPr id="16" name="Text 11"/>
          <p:cNvSpPr txBox="1"/>
          <p:nvPr/>
        </p:nvSpPr>
        <p:spPr>
          <a:xfrm>
            <a:off x="6263640" y="2423160"/>
            <a:ext cx="2240280" cy="457200"/>
          </a:xfrm>
          <a:prstGeom prst="rect">
            <a:avLst/>
          </a:prstGeom>
          <a:noFill/>
          <a:ln/>
        </p:spPr>
        <p:txBody>
          <a:bodyPr wrap="square" lIns="0" tIns="0" rIns="0" bIns="0" rtlCol="0" anchor="t"/>
          <a:lstStyle/>
          <a:p>
            <a:pPr indent="0" marL="0">
              <a:buNone/>
            </a:pPr>
            <a:r>
              <a:rPr lang="en-US" sz="1400" b="1" dirty="0">
                <a:solidFill>
                  <a:schemeClr val="accent4"/>
                </a:solidFill>
              </a:rPr>
              <a:t>+ </a:t>
            </a:r>
            <a:pPr indent="0" marL="0">
              <a:buNone/>
            </a:pPr>
            <a:r>
              <a:rPr lang="en-US" sz="1400" dirty="0">
                <a:solidFill>
                  <a:schemeClr val="tx1"/>
                </a:solidFill>
              </a:rPr>
              <a:t>Electronic early warning</a:t>
            </a:r>
            <a:endParaRPr lang="en-US" sz="1400" dirty="0"/>
          </a:p>
        </p:txBody>
      </p:sp>
      <p:sp>
        <p:nvSpPr>
          <p:cNvPr id="17" name="Text 12"/>
          <p:cNvSpPr txBox="1"/>
          <p:nvPr/>
        </p:nvSpPr>
        <p:spPr>
          <a:xfrm>
            <a:off x="6263640" y="2926080"/>
            <a:ext cx="2240280" cy="685800"/>
          </a:xfrm>
          <a:prstGeom prst="rect">
            <a:avLst/>
          </a:prstGeom>
          <a:noFill/>
          <a:ln/>
        </p:spPr>
        <p:txBody>
          <a:bodyPr wrap="square" lIns="0" tIns="0" rIns="0" bIns="0" rtlCol="0" anchor="t"/>
          <a:lstStyle/>
          <a:p>
            <a:pPr indent="0" marL="0">
              <a:buNone/>
            </a:pPr>
            <a:r>
              <a:rPr lang="en-US" sz="1400" b="1" dirty="0">
                <a:solidFill>
                  <a:schemeClr val="accent3"/>
                </a:solidFill>
              </a:rPr>
              <a:t>− </a:t>
            </a:r>
            <a:pPr indent="0" marL="0">
              <a:buNone/>
            </a:pPr>
            <a:r>
              <a:rPr lang="en-US" sz="1400" dirty="0">
                <a:solidFill>
                  <a:schemeClr val="tx1"/>
                </a:solidFill>
              </a:rPr>
              <a:t>High cost, imported, hard to repair locally</a:t>
            </a:r>
            <a:endParaRPr lang="en-US" sz="1400" dirty="0"/>
          </a:p>
        </p:txBody>
      </p:sp>
      <p:sp>
        <p:nvSpPr>
          <p:cNvPr id="18" name="gap banner"/>
          <p:cNvSpPr/>
          <p:nvPr/>
        </p:nvSpPr>
        <p:spPr>
          <a:xfrm>
            <a:off x="457200" y="3931920"/>
            <a:ext cx="8229600" cy="640080"/>
          </a:xfrm>
          <a:prstGeom prst="rect">
            <a:avLst/>
          </a:prstGeom>
          <a:solidFill>
            <a:schemeClr val="accent1"/>
          </a:solidFill>
          <a:ln w="9525">
            <a:solidFill>
              <a:srgbClr val="B8C4D6"/>
            </a:solidFill>
            <a:prstDash val="solid"/>
          </a:ln>
        </p:spPr>
      </p:sp>
      <p:sp>
        <p:nvSpPr>
          <p:cNvPr id="19" name="Text 14"/>
          <p:cNvSpPr txBox="1"/>
          <p:nvPr/>
        </p:nvSpPr>
        <p:spPr>
          <a:xfrm>
            <a:off x="685800" y="3931920"/>
            <a:ext cx="7772400" cy="640080"/>
          </a:xfrm>
          <a:prstGeom prst="rect">
            <a:avLst/>
          </a:prstGeom>
          <a:noFill/>
          <a:ln/>
        </p:spPr>
        <p:txBody>
          <a:bodyPr wrap="square" lIns="0" tIns="0" rIns="0" bIns="0" rtlCol="0" anchor="ctr"/>
          <a:lstStyle/>
          <a:p>
            <a:pPr indent="0" marL="0">
              <a:buNone/>
            </a:pPr>
            <a:r>
              <a:rPr lang="en-US" sz="1600" b="1" dirty="0">
                <a:solidFill>
                  <a:schemeClr val="tx2"/>
                </a:solidFill>
              </a:rPr>
              <a:t>The gap: </a:t>
            </a:r>
            <a:pPr indent="0" marL="0">
              <a:buNone/>
            </a:pPr>
            <a:r>
              <a:rPr lang="en-US" sz="1600" dirty="0">
                <a:solidFill>
                  <a:schemeClr val="tx2"/>
                </a:solidFill>
              </a:rPr>
              <a:t>a low-cost cane that warns early about obstacles and about water underfoot</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Objectives</a:t>
            </a:r>
            <a:endParaRPr lang="en-US" sz="3000" dirty="0"/>
          </a:p>
        </p:txBody>
      </p:sp>
      <p:sp>
        <p:nvSpPr>
          <p:cNvPr id="3" name="objective card"/>
          <p:cNvSpPr/>
          <p:nvPr/>
        </p:nvSpPr>
        <p:spPr>
          <a:xfrm>
            <a:off x="457200" y="1188720"/>
            <a:ext cx="4023360" cy="1508760"/>
          </a:xfrm>
          <a:prstGeom prst="rect">
            <a:avLst/>
          </a:prstGeom>
          <a:solidFill>
            <a:schemeClr val="bg2"/>
          </a:solidFill>
          <a:ln w="9525">
            <a:solidFill>
              <a:srgbClr val="B8C4D6"/>
            </a:solidFill>
            <a:prstDash val="solid"/>
          </a:ln>
        </p:spPr>
      </p:sp>
      <p:sp>
        <p:nvSpPr>
          <p:cNvPr id="4" name="Text 2"/>
          <p:cNvSpPr txBox="1"/>
          <p:nvPr/>
        </p:nvSpPr>
        <p:spPr>
          <a:xfrm>
            <a:off x="73152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 cm</a:t>
            </a:r>
            <a:endParaRPr lang="en-US" sz="3200" dirty="0"/>
          </a:p>
        </p:txBody>
      </p:sp>
      <p:sp>
        <p:nvSpPr>
          <p:cNvPr id="5" name="Text 3"/>
          <p:cNvSpPr txBox="1"/>
          <p:nvPr/>
        </p:nvSpPr>
        <p:spPr>
          <a:xfrm>
            <a:off x="73152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Detect obstacles ahead with an ultrasonic sensor and warn before contact</a:t>
            </a:r>
            <a:endParaRPr lang="en-US" sz="1400" dirty="0"/>
          </a:p>
        </p:txBody>
      </p:sp>
      <p:sp>
        <p:nvSpPr>
          <p:cNvPr id="6" name="objective card"/>
          <p:cNvSpPr/>
          <p:nvPr/>
        </p:nvSpPr>
        <p:spPr>
          <a:xfrm>
            <a:off x="4663440" y="1188720"/>
            <a:ext cx="4023360" cy="1508760"/>
          </a:xfrm>
          <a:prstGeom prst="rect">
            <a:avLst/>
          </a:prstGeom>
          <a:solidFill>
            <a:schemeClr val="bg2"/>
          </a:solidFill>
          <a:ln w="9525">
            <a:solidFill>
              <a:srgbClr val="B8C4D6"/>
            </a:solidFill>
            <a:prstDash val="solid"/>
          </a:ln>
        </p:spPr>
      </p:sp>
      <p:sp>
        <p:nvSpPr>
          <p:cNvPr id="7" name="Text 5"/>
          <p:cNvSpPr txBox="1"/>
          <p:nvPr/>
        </p:nvSpPr>
        <p:spPr>
          <a:xfrm>
            <a:off x="4937760" y="137160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50–400 ms</a:t>
            </a:r>
            <a:endParaRPr lang="en-US" sz="3200" dirty="0"/>
          </a:p>
        </p:txBody>
      </p:sp>
      <p:sp>
        <p:nvSpPr>
          <p:cNvPr id="8" name="Text 6"/>
          <p:cNvSpPr txBox="1"/>
          <p:nvPr/>
        </p:nvSpPr>
        <p:spPr>
          <a:xfrm>
            <a:off x="4937760" y="2029968"/>
            <a:ext cx="3520440" cy="594360"/>
          </a:xfrm>
          <a:prstGeom prst="rect">
            <a:avLst/>
          </a:prstGeom>
          <a:noFill/>
          <a:ln/>
        </p:spPr>
        <p:txBody>
          <a:bodyPr wrap="square" lIns="0" tIns="0" rIns="0" bIns="0" rtlCol="0" anchor="t"/>
          <a:lstStyle/>
          <a:p>
            <a:pPr indent="0" marL="0">
              <a:buNone/>
            </a:pPr>
            <a:r>
              <a:rPr lang="en-US" sz="1400" dirty="0">
                <a:solidFill>
                  <a:schemeClr val="tx1"/>
                </a:solidFill>
              </a:rPr>
              <a:t>Encode distance in the beep gap: closer obstacle, faster beeps</a:t>
            </a:r>
            <a:endParaRPr lang="en-US" sz="1400" dirty="0"/>
          </a:p>
        </p:txBody>
      </p:sp>
      <p:sp>
        <p:nvSpPr>
          <p:cNvPr id="9" name="objective card"/>
          <p:cNvSpPr/>
          <p:nvPr/>
        </p:nvSpPr>
        <p:spPr>
          <a:xfrm>
            <a:off x="457200" y="2880360"/>
            <a:ext cx="4023360" cy="1508760"/>
          </a:xfrm>
          <a:prstGeom prst="rect">
            <a:avLst/>
          </a:prstGeom>
          <a:solidFill>
            <a:schemeClr val="bg2"/>
          </a:solidFill>
          <a:ln w="9525">
            <a:solidFill>
              <a:srgbClr val="B8C4D6"/>
            </a:solidFill>
            <a:prstDash val="solid"/>
          </a:ln>
        </p:spPr>
      </p:sp>
      <p:sp>
        <p:nvSpPr>
          <p:cNvPr id="10" name="Text 8"/>
          <p:cNvSpPr txBox="1"/>
          <p:nvPr/>
        </p:nvSpPr>
        <p:spPr>
          <a:xfrm>
            <a:off x="73152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&lt; 500</a:t>
            </a:r>
            <a:endParaRPr lang="en-US" sz="3200" dirty="0"/>
          </a:p>
        </p:txBody>
      </p:sp>
      <p:sp>
        <p:nvSpPr>
          <p:cNvPr id="11" name="Text 9"/>
          <p:cNvSpPr txBox="1"/>
          <p:nvPr/>
        </p:nvSpPr>
        <p:spPr>
          <a:xfrm>
            <a:off x="73152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ADC reading below this means water: continuous tone, top priority</a:t>
            </a:r>
            <a:endParaRPr lang="en-US" sz="1400" dirty="0"/>
          </a:p>
        </p:txBody>
      </p:sp>
      <p:sp>
        <p:nvSpPr>
          <p:cNvPr id="12" name="objective card"/>
          <p:cNvSpPr/>
          <p:nvPr/>
        </p:nvSpPr>
        <p:spPr>
          <a:xfrm>
            <a:off x="4663440" y="2880360"/>
            <a:ext cx="4023360" cy="1508760"/>
          </a:xfrm>
          <a:prstGeom prst="rect">
            <a:avLst/>
          </a:prstGeom>
          <a:solidFill>
            <a:schemeClr val="bg2"/>
          </a:solidFill>
          <a:ln w="9525">
            <a:solidFill>
              <a:srgbClr val="B8C4D6"/>
            </a:solidFill>
            <a:prstDash val="solid"/>
          </a:ln>
        </p:spPr>
      </p:sp>
      <p:sp>
        <p:nvSpPr>
          <p:cNvPr id="13" name="Text 11"/>
          <p:cNvSpPr txBox="1"/>
          <p:nvPr/>
        </p:nvSpPr>
        <p:spPr>
          <a:xfrm>
            <a:off x="4937760" y="3063240"/>
            <a:ext cx="3474720" cy="640080"/>
          </a:xfrm>
          <a:prstGeom prst="rect">
            <a:avLst/>
          </a:prstGeom>
          <a:noFill/>
          <a:ln/>
        </p:spPr>
        <p:txBody>
          <a:bodyPr wrap="square" lIns="0" tIns="0" rIns="0" bIns="0" rtlCol="0" anchor="t"/>
          <a:lstStyle/>
          <a:p>
            <a:pPr indent="0" marL="0">
              <a:buNone/>
            </a:pPr>
            <a:r>
              <a:rPr lang="en-US" sz="3200" b="1" dirty="0">
                <a:solidFill>
                  <a:schemeClr val="accent2"/>
                </a:solidFill>
                <a:latin typeface="Times New Roman" pitchFamily="34" charset="0"/>
                <a:ea typeface="Times New Roman" pitchFamily="34" charset="-122"/>
                <a:cs typeface="Times New Roman" pitchFamily="34" charset="-120"/>
              </a:rPr>
              <a:t>₹876</a:t>
            </a:r>
            <a:endParaRPr lang="en-US" sz="3200" dirty="0"/>
          </a:p>
        </p:txBody>
      </p:sp>
      <p:sp>
        <p:nvSpPr>
          <p:cNvPr id="14" name="Text 12"/>
          <p:cNvSpPr txBox="1"/>
          <p:nvPr/>
        </p:nvSpPr>
        <p:spPr>
          <a:xfrm>
            <a:off x="4937760" y="3721608"/>
            <a:ext cx="3520440" cy="594360"/>
          </a:xfrm>
          <a:prstGeom prst="rect">
            <a:avLst/>
          </a:prstGeom>
          <a:noFill/>
          <a:ln/>
        </p:spPr>
        <p:txBody>
          <a:bodyPr wrap="square" lIns="0" tIns="0" rIns="0" bIns="0" rtlCol="0" anchor="t"/>
          <a:lstStyle/>
          <a:p>
            <a:pPr indent="0" marL="0">
              <a:buNone/>
            </a:pPr>
            <a:r>
              <a:rPr lang="en-US" sz="1400" dirty="0">
                <a:solidFill>
                  <a:schemeClr val="tx1"/>
                </a:solidFill>
              </a:rPr>
              <a:t>Low-cost, portable cane running on one 18650 cell with a switch</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Proposed solution: VisionGuard</a:t>
            </a:r>
            <a:endParaRPr lang="en-US" sz="3000" dirty="0"/>
          </a:p>
        </p:txBody>
      </p:sp>
      <p:pic>
        <p:nvPicPr>
          <p:cNvPr id="3" name="prototype photo" descr="img/overview.jpg">    </p:cNvPr>
          <p:cNvPicPr>
            <a:picLocks noChangeAspect="1"/>
          </p:cNvPicPr>
          <p:nvPr/>
        </p:nvPicPr>
        <p:blipFill>
          <a:blip r:embed="rId1"/>
          <a:stretch>
            <a:fillRect/>
          </a:stretch>
        </p:blipFill>
        <p:spPr>
          <a:xfrm>
            <a:off x="457200" y="1364894"/>
            <a:ext cx="4023360" cy="3030931"/>
          </a:xfrm>
          <a:prstGeom prst="rect">
            <a:avLst/>
          </a:prstGeom>
        </p:spPr>
      </p:pic>
      <p:pic>
        <p:nvPicPr>
          <p:cNvPr id="4" name="icon" descr="preencoded.png">    </p:cNvPr>
          <p:cNvPicPr>
            <a:picLocks noChangeAspect="1"/>
          </p:cNvPicPr>
          <p:nvPr/>
        </p:nvPicPr>
        <p:blipFill>
          <a:blip r:embed="rId2"/>
          <a:stretch>
            <a:fillRect/>
          </a:stretch>
        </p:blipFill>
        <p:spPr>
          <a:xfrm>
            <a:off x="4818888" y="1298448"/>
            <a:ext cx="480060" cy="480060"/>
          </a:xfrm>
          <a:prstGeom prst="rect">
            <a:avLst/>
          </a:prstGeom>
        </p:spPr>
      </p:pic>
      <p:sp>
        <p:nvSpPr>
          <p:cNvPr id="5" name="Text 1"/>
          <p:cNvSpPr txBox="1"/>
          <p:nvPr/>
        </p:nvSpPr>
        <p:spPr>
          <a:xfrm>
            <a:off x="5577840" y="1234440"/>
            <a:ext cx="3108960" cy="320040"/>
          </a:xfrm>
          <a:prstGeom prst="rect">
            <a:avLst/>
          </a:prstGeom>
          <a:noFill/>
          <a:ln/>
        </p:spPr>
        <p:txBody>
          <a:bodyPr wrap="square" lIns="0" tIns="0" rIns="0" bIns="0" rtlCol="0" anchor="t"/>
          <a:lstStyle/>
          <a:p>
            <a:pPr indent="0" marL="0">
              <a:buNone/>
            </a:pPr>
            <a:r>
              <a:rPr lang="en-US" sz="1700" b="1" dirty="0">
                <a:solidFill>
                  <a:schemeClr val="tx2"/>
                </a:solidFill>
              </a:rPr>
              <a:t>Ultrasonic “eyes”</a:t>
            </a:r>
            <a:endParaRPr lang="en-US" sz="1700" dirty="0"/>
          </a:p>
        </p:txBody>
      </p:sp>
      <p:sp>
        <p:nvSpPr>
          <p:cNvPr id="6" name="Text 2"/>
          <p:cNvSpPr txBox="1"/>
          <p:nvPr/>
        </p:nvSpPr>
        <p:spPr>
          <a:xfrm>
            <a:off x="5577840" y="158191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HC-SR04 measures distance to obstacles ahead</a:t>
            </a:r>
            <a:endParaRPr lang="en-US" sz="1400" dirty="0"/>
          </a:p>
        </p:txBody>
      </p:sp>
      <p:pic>
        <p:nvPicPr>
          <p:cNvPr id="7" name="icon" descr="preencoded.png">    </p:cNvPr>
          <p:cNvPicPr>
            <a:picLocks noChangeAspect="1"/>
          </p:cNvPicPr>
          <p:nvPr/>
        </p:nvPicPr>
        <p:blipFill>
          <a:blip r:embed="rId3"/>
          <a:stretch>
            <a:fillRect/>
          </a:stretch>
        </p:blipFill>
        <p:spPr>
          <a:xfrm>
            <a:off x="4818888" y="2395728"/>
            <a:ext cx="480060" cy="480060"/>
          </a:xfrm>
          <a:prstGeom prst="rect">
            <a:avLst/>
          </a:prstGeom>
        </p:spPr>
      </p:pic>
      <p:sp>
        <p:nvSpPr>
          <p:cNvPr id="8" name="Text 3"/>
          <p:cNvSpPr txBox="1"/>
          <p:nvPr/>
        </p:nvSpPr>
        <p:spPr>
          <a:xfrm>
            <a:off x="5577840" y="2331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Moisture-sensing tip</a:t>
            </a:r>
            <a:endParaRPr lang="en-US" sz="1700" dirty="0"/>
          </a:p>
        </p:txBody>
      </p:sp>
      <p:sp>
        <p:nvSpPr>
          <p:cNvPr id="9" name="Text 4"/>
          <p:cNvSpPr txBox="1"/>
          <p:nvPr/>
        </p:nvSpPr>
        <p:spPr>
          <a:xfrm>
            <a:off x="5577840" y="267919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Probe at the bottom detects water and wet mud</a:t>
            </a:r>
            <a:endParaRPr lang="en-US" sz="1400" dirty="0"/>
          </a:p>
        </p:txBody>
      </p:sp>
      <p:pic>
        <p:nvPicPr>
          <p:cNvPr id="10" name="icon" descr="preencoded.png">    </p:cNvPr>
          <p:cNvPicPr>
            <a:picLocks noChangeAspect="1"/>
          </p:cNvPicPr>
          <p:nvPr/>
        </p:nvPicPr>
        <p:blipFill>
          <a:blip r:embed="rId4"/>
          <a:stretch>
            <a:fillRect/>
          </a:stretch>
        </p:blipFill>
        <p:spPr>
          <a:xfrm>
            <a:off x="4818888" y="3493008"/>
            <a:ext cx="480060" cy="480060"/>
          </a:xfrm>
          <a:prstGeom prst="rect">
            <a:avLst/>
          </a:prstGeom>
        </p:spPr>
      </p:pic>
      <p:sp>
        <p:nvSpPr>
          <p:cNvPr id="11" name="Text 5"/>
          <p:cNvSpPr txBox="1"/>
          <p:nvPr/>
        </p:nvSpPr>
        <p:spPr>
          <a:xfrm>
            <a:off x="5577840" y="3429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Prioritised buzzer alerts</a:t>
            </a:r>
            <a:endParaRPr lang="en-US" sz="1700" dirty="0"/>
          </a:p>
        </p:txBody>
      </p:sp>
      <p:sp>
        <p:nvSpPr>
          <p:cNvPr id="12" name="Text 6"/>
          <p:cNvSpPr txBox="1"/>
          <p:nvPr/>
        </p:nvSpPr>
        <p:spPr>
          <a:xfrm>
            <a:off x="5577840" y="3776472"/>
            <a:ext cx="3108960" cy="594360"/>
          </a:xfrm>
          <a:prstGeom prst="rect">
            <a:avLst/>
          </a:prstGeom>
          <a:noFill/>
          <a:ln/>
        </p:spPr>
        <p:txBody>
          <a:bodyPr wrap="square" lIns="0" tIns="0" rIns="0" bIns="0" rtlCol="0" anchor="t"/>
          <a:lstStyle/>
          <a:p>
            <a:pPr indent="0" marL="0">
              <a:buNone/>
            </a:pPr>
            <a:r>
              <a:rPr lang="en-US" sz="1400" dirty="0">
                <a:solidFill>
                  <a:schemeClr val="accent5"/>
                </a:solidFill>
              </a:rPr>
              <a:t>Continuous tone for water; faster beeps as obstacles get closer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Block diagram</a:t>
            </a:r>
            <a:endParaRPr lang="en-US" sz="3000" dirty="0"/>
          </a:p>
        </p:txBody>
      </p:sp>
      <p:pic>
        <p:nvPicPr>
          <p:cNvPr id="3" name="block diagram" descr="img/block.png">    </p:cNvPr>
          <p:cNvPicPr>
            <a:picLocks noChangeAspect="1"/>
          </p:cNvPicPr>
          <p:nvPr/>
        </p:nvPicPr>
        <p:blipFill>
          <a:blip r:embed="rId1"/>
          <a:stretch>
            <a:fillRect/>
          </a:stretch>
        </p:blipFill>
        <p:spPr>
          <a:xfrm>
            <a:off x="818147" y="1097280"/>
            <a:ext cx="7507705" cy="35661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Hardware components</a:t>
            </a:r>
            <a:endParaRPr lang="en-US" sz="3000" dirty="0"/>
          </a:p>
        </p:txBody>
      </p:sp>
      <p:sp>
        <p:nvSpPr>
          <p:cNvPr id="3" name="component card"/>
          <p:cNvSpPr/>
          <p:nvPr/>
        </p:nvSpPr>
        <p:spPr>
          <a:xfrm>
            <a:off x="457200" y="1188720"/>
            <a:ext cx="1920240" cy="150876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64008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Arduino Nano</a:t>
            </a:r>
            <a:endParaRPr lang="en-US" sz="1500" dirty="0"/>
          </a:p>
        </p:txBody>
      </p:sp>
      <p:sp>
        <p:nvSpPr>
          <p:cNvPr id="6" name="Text 3"/>
          <p:cNvSpPr txBox="1"/>
          <p:nvPr/>
        </p:nvSpPr>
        <p:spPr>
          <a:xfrm>
            <a:off x="64008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ATmega328P controller</a:t>
            </a:r>
            <a:endParaRPr lang="en-US" sz="1200" dirty="0"/>
          </a:p>
        </p:txBody>
      </p:sp>
      <p:sp>
        <p:nvSpPr>
          <p:cNvPr id="7" name="component card"/>
          <p:cNvSpPr/>
          <p:nvPr/>
        </p:nvSpPr>
        <p:spPr>
          <a:xfrm>
            <a:off x="2560320" y="1188720"/>
            <a:ext cx="1920240" cy="150876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2793492" y="1421892"/>
            <a:ext cx="377190" cy="377190"/>
          </a:xfrm>
          <a:prstGeom prst="rect">
            <a:avLst/>
          </a:prstGeom>
        </p:spPr>
      </p:pic>
      <p:sp>
        <p:nvSpPr>
          <p:cNvPr id="9" name="Text 5"/>
          <p:cNvSpPr txBox="1"/>
          <p:nvPr/>
        </p:nvSpPr>
        <p:spPr>
          <a:xfrm>
            <a:off x="274320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HC-SR04</a:t>
            </a:r>
            <a:endParaRPr lang="en-US" sz="1500" dirty="0"/>
          </a:p>
        </p:txBody>
      </p:sp>
      <p:sp>
        <p:nvSpPr>
          <p:cNvPr id="10" name="Text 6"/>
          <p:cNvSpPr txBox="1"/>
          <p:nvPr/>
        </p:nvSpPr>
        <p:spPr>
          <a:xfrm>
            <a:off x="274320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Ultrasonic distance sensor</a:t>
            </a:r>
            <a:endParaRPr lang="en-US" sz="1200" dirty="0"/>
          </a:p>
        </p:txBody>
      </p:sp>
      <p:sp>
        <p:nvSpPr>
          <p:cNvPr id="11" name="component card"/>
          <p:cNvSpPr/>
          <p:nvPr/>
        </p:nvSpPr>
        <p:spPr>
          <a:xfrm>
            <a:off x="4663440" y="1188720"/>
            <a:ext cx="1920240" cy="150876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4896612" y="1421892"/>
            <a:ext cx="377190" cy="377190"/>
          </a:xfrm>
          <a:prstGeom prst="rect">
            <a:avLst/>
          </a:prstGeom>
        </p:spPr>
      </p:pic>
      <p:sp>
        <p:nvSpPr>
          <p:cNvPr id="13" name="Text 8"/>
          <p:cNvSpPr txBox="1"/>
          <p:nvPr/>
        </p:nvSpPr>
        <p:spPr>
          <a:xfrm>
            <a:off x="484632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Moisture probe</a:t>
            </a:r>
            <a:endParaRPr lang="en-US" sz="1500" dirty="0"/>
          </a:p>
        </p:txBody>
      </p:sp>
      <p:sp>
        <p:nvSpPr>
          <p:cNvPr id="14" name="Text 9"/>
          <p:cNvSpPr txBox="1"/>
          <p:nvPr/>
        </p:nvSpPr>
        <p:spPr>
          <a:xfrm>
            <a:off x="484632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Water sensing at the tip</a:t>
            </a:r>
            <a:endParaRPr lang="en-US" sz="1200" dirty="0"/>
          </a:p>
        </p:txBody>
      </p:sp>
      <p:sp>
        <p:nvSpPr>
          <p:cNvPr id="15" name="component card"/>
          <p:cNvSpPr/>
          <p:nvPr/>
        </p:nvSpPr>
        <p:spPr>
          <a:xfrm>
            <a:off x="6766560" y="1188720"/>
            <a:ext cx="1920240" cy="150876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99732" y="1421892"/>
            <a:ext cx="377190" cy="377190"/>
          </a:xfrm>
          <a:prstGeom prst="rect">
            <a:avLst/>
          </a:prstGeom>
        </p:spPr>
      </p:pic>
      <p:sp>
        <p:nvSpPr>
          <p:cNvPr id="17" name="Text 11"/>
          <p:cNvSpPr txBox="1"/>
          <p:nvPr/>
        </p:nvSpPr>
        <p:spPr>
          <a:xfrm>
            <a:off x="6949440" y="1965960"/>
            <a:ext cx="1645920" cy="320040"/>
          </a:xfrm>
          <a:prstGeom prst="rect">
            <a:avLst/>
          </a:prstGeom>
          <a:noFill/>
          <a:ln/>
        </p:spPr>
        <p:txBody>
          <a:bodyPr wrap="square" lIns="0" tIns="0" rIns="0" bIns="0" rtlCol="0" anchor="t"/>
          <a:lstStyle/>
          <a:p>
            <a:pPr indent="0" marL="0">
              <a:buNone/>
            </a:pPr>
            <a:r>
              <a:rPr lang="en-US" sz="1500" b="1" dirty="0">
                <a:solidFill>
                  <a:schemeClr val="tx2"/>
                </a:solidFill>
              </a:rPr>
              <a:t>LM393 module</a:t>
            </a:r>
            <a:endParaRPr lang="en-US" sz="1500" dirty="0"/>
          </a:p>
        </p:txBody>
      </p:sp>
      <p:sp>
        <p:nvSpPr>
          <p:cNvPr id="18" name="Text 12"/>
          <p:cNvSpPr txBox="1"/>
          <p:nvPr/>
        </p:nvSpPr>
        <p:spPr>
          <a:xfrm>
            <a:off x="6949440" y="225856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Probe resistance → voltage</a:t>
            </a:r>
            <a:endParaRPr lang="en-US" sz="1200" dirty="0"/>
          </a:p>
        </p:txBody>
      </p:sp>
      <p:sp>
        <p:nvSpPr>
          <p:cNvPr id="19" name="component card"/>
          <p:cNvSpPr/>
          <p:nvPr/>
        </p:nvSpPr>
        <p:spPr>
          <a:xfrm>
            <a:off x="457200" y="2880360"/>
            <a:ext cx="1920240" cy="150876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690372" y="3113532"/>
            <a:ext cx="377190" cy="377190"/>
          </a:xfrm>
          <a:prstGeom prst="rect">
            <a:avLst/>
          </a:prstGeom>
        </p:spPr>
      </p:pic>
      <p:sp>
        <p:nvSpPr>
          <p:cNvPr id="21" name="Text 14"/>
          <p:cNvSpPr txBox="1"/>
          <p:nvPr/>
        </p:nvSpPr>
        <p:spPr>
          <a:xfrm>
            <a:off x="64008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Active buzzer</a:t>
            </a:r>
            <a:endParaRPr lang="en-US" sz="1500" dirty="0"/>
          </a:p>
        </p:txBody>
      </p:sp>
      <p:sp>
        <p:nvSpPr>
          <p:cNvPr id="22" name="Text 15"/>
          <p:cNvSpPr txBox="1"/>
          <p:nvPr/>
        </p:nvSpPr>
        <p:spPr>
          <a:xfrm>
            <a:off x="64008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Audio alert on D2</a:t>
            </a:r>
            <a:endParaRPr lang="en-US" sz="1200" dirty="0"/>
          </a:p>
        </p:txBody>
      </p:sp>
      <p:sp>
        <p:nvSpPr>
          <p:cNvPr id="23" name="component card"/>
          <p:cNvSpPr/>
          <p:nvPr/>
        </p:nvSpPr>
        <p:spPr>
          <a:xfrm>
            <a:off x="2560320" y="2880360"/>
            <a:ext cx="1920240" cy="150876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2793492" y="3113532"/>
            <a:ext cx="377190" cy="377190"/>
          </a:xfrm>
          <a:prstGeom prst="rect">
            <a:avLst/>
          </a:prstGeom>
        </p:spPr>
      </p:pic>
      <p:sp>
        <p:nvSpPr>
          <p:cNvPr id="25" name="Text 17"/>
          <p:cNvSpPr txBox="1"/>
          <p:nvPr/>
        </p:nvSpPr>
        <p:spPr>
          <a:xfrm>
            <a:off x="274320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18650 Li-ion</a:t>
            </a:r>
            <a:endParaRPr lang="en-US" sz="1500" dirty="0"/>
          </a:p>
        </p:txBody>
      </p:sp>
      <p:sp>
        <p:nvSpPr>
          <p:cNvPr id="26" name="Text 18"/>
          <p:cNvSpPr txBox="1"/>
          <p:nvPr/>
        </p:nvSpPr>
        <p:spPr>
          <a:xfrm>
            <a:off x="274320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3.7 V, 1200 mAh</a:t>
            </a:r>
            <a:endParaRPr lang="en-US" sz="1200" dirty="0"/>
          </a:p>
        </p:txBody>
      </p:sp>
      <p:sp>
        <p:nvSpPr>
          <p:cNvPr id="27" name="component card"/>
          <p:cNvSpPr/>
          <p:nvPr/>
        </p:nvSpPr>
        <p:spPr>
          <a:xfrm>
            <a:off x="4663440" y="2880360"/>
            <a:ext cx="1920240" cy="1508760"/>
          </a:xfrm>
          <a:prstGeom prst="rect">
            <a:avLst/>
          </a:prstGeom>
          <a:solidFill>
            <a:schemeClr val="bg2"/>
          </a:solidFill>
          <a:ln w="9525">
            <a:solidFill>
              <a:srgbClr val="B8C4D6"/>
            </a:solidFill>
            <a:prstDash val="solid"/>
          </a:ln>
        </p:spPr>
      </p:sp>
      <p:pic>
        <p:nvPicPr>
          <p:cNvPr id="28" name="icon" descr="preencoded.png">    </p:cNvPr>
          <p:cNvPicPr>
            <a:picLocks noChangeAspect="1"/>
          </p:cNvPicPr>
          <p:nvPr/>
        </p:nvPicPr>
        <p:blipFill>
          <a:blip r:embed="rId7"/>
          <a:stretch>
            <a:fillRect/>
          </a:stretch>
        </p:blipFill>
        <p:spPr>
          <a:xfrm>
            <a:off x="4896612" y="3113532"/>
            <a:ext cx="377190" cy="377190"/>
          </a:xfrm>
          <a:prstGeom prst="rect">
            <a:avLst/>
          </a:prstGeom>
        </p:spPr>
      </p:pic>
      <p:sp>
        <p:nvSpPr>
          <p:cNvPr id="29" name="Text 20"/>
          <p:cNvSpPr txBox="1"/>
          <p:nvPr/>
        </p:nvSpPr>
        <p:spPr>
          <a:xfrm>
            <a:off x="484632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Rocker switch</a:t>
            </a:r>
            <a:endParaRPr lang="en-US" sz="1500" dirty="0"/>
          </a:p>
        </p:txBody>
      </p:sp>
      <p:sp>
        <p:nvSpPr>
          <p:cNvPr id="30" name="Text 21"/>
          <p:cNvSpPr txBox="1"/>
          <p:nvPr/>
        </p:nvSpPr>
        <p:spPr>
          <a:xfrm>
            <a:off x="484632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Power ON / OFF</a:t>
            </a:r>
            <a:endParaRPr lang="en-US" sz="1200" dirty="0"/>
          </a:p>
        </p:txBody>
      </p:sp>
      <p:sp>
        <p:nvSpPr>
          <p:cNvPr id="31" name="component card"/>
          <p:cNvSpPr/>
          <p:nvPr/>
        </p:nvSpPr>
        <p:spPr>
          <a:xfrm>
            <a:off x="6766560" y="2880360"/>
            <a:ext cx="1920240" cy="1508760"/>
          </a:xfrm>
          <a:prstGeom prst="rect">
            <a:avLst/>
          </a:prstGeom>
          <a:solidFill>
            <a:schemeClr val="bg2"/>
          </a:solidFill>
          <a:ln w="9525">
            <a:solidFill>
              <a:srgbClr val="B8C4D6"/>
            </a:solidFill>
            <a:prstDash val="solid"/>
          </a:ln>
        </p:spPr>
      </p:sp>
      <p:pic>
        <p:nvPicPr>
          <p:cNvPr id="32" name="icon" descr="preencoded.png">    </p:cNvPr>
          <p:cNvPicPr>
            <a:picLocks noChangeAspect="1"/>
          </p:cNvPicPr>
          <p:nvPr/>
        </p:nvPicPr>
        <p:blipFill>
          <a:blip r:embed="rId8"/>
          <a:stretch>
            <a:fillRect/>
          </a:stretch>
        </p:blipFill>
        <p:spPr>
          <a:xfrm>
            <a:off x="6999732" y="3113532"/>
            <a:ext cx="377190" cy="377190"/>
          </a:xfrm>
          <a:prstGeom prst="rect">
            <a:avLst/>
          </a:prstGeom>
        </p:spPr>
      </p:pic>
      <p:sp>
        <p:nvSpPr>
          <p:cNvPr id="33" name="Text 23"/>
          <p:cNvSpPr txBox="1"/>
          <p:nvPr/>
        </p:nvSpPr>
        <p:spPr>
          <a:xfrm>
            <a:off x="6949440" y="3657600"/>
            <a:ext cx="1645920" cy="320040"/>
          </a:xfrm>
          <a:prstGeom prst="rect">
            <a:avLst/>
          </a:prstGeom>
          <a:noFill/>
          <a:ln/>
        </p:spPr>
        <p:txBody>
          <a:bodyPr wrap="square" lIns="0" tIns="0" rIns="0" bIns="0" rtlCol="0" anchor="t"/>
          <a:lstStyle/>
          <a:p>
            <a:pPr indent="0" marL="0">
              <a:buNone/>
            </a:pPr>
            <a:r>
              <a:rPr lang="en-US" sz="1500" b="1" dirty="0">
                <a:solidFill>
                  <a:schemeClr val="tx2"/>
                </a:solidFill>
              </a:rPr>
              <a:t>Capacitor</a:t>
            </a:r>
            <a:endParaRPr lang="en-US" sz="1500" dirty="0"/>
          </a:p>
        </p:txBody>
      </p:sp>
      <p:sp>
        <p:nvSpPr>
          <p:cNvPr id="34" name="Text 24"/>
          <p:cNvSpPr txBox="1"/>
          <p:nvPr/>
        </p:nvSpPr>
        <p:spPr>
          <a:xfrm>
            <a:off x="6949440" y="3950208"/>
            <a:ext cx="1645920" cy="411480"/>
          </a:xfrm>
          <a:prstGeom prst="rect">
            <a:avLst/>
          </a:prstGeom>
          <a:noFill/>
          <a:ln/>
        </p:spPr>
        <p:txBody>
          <a:bodyPr wrap="square" lIns="0" tIns="0" rIns="0" bIns="0" rtlCol="0" anchor="t"/>
          <a:lstStyle/>
          <a:p>
            <a:pPr indent="0" marL="0">
              <a:buNone/>
            </a:pPr>
            <a:r>
              <a:rPr lang="en-US" sz="1200" dirty="0">
                <a:solidFill>
                  <a:schemeClr val="accent5"/>
                </a:solidFill>
              </a:rPr>
              <a:t>220–470 µF supply filter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Why the Arduino Nano</a:t>
            </a:r>
            <a:endParaRPr lang="en-US" sz="3000" dirty="0"/>
          </a:p>
        </p:txBody>
      </p:sp>
      <p:sp>
        <p:nvSpPr>
          <p:cNvPr id="3" name="spec card"/>
          <p:cNvSpPr/>
          <p:nvPr/>
        </p:nvSpPr>
        <p:spPr>
          <a:xfrm>
            <a:off x="457200" y="1188720"/>
            <a:ext cx="1874520" cy="1508760"/>
          </a:xfrm>
          <a:prstGeom prst="rect">
            <a:avLst/>
          </a:prstGeom>
          <a:solidFill>
            <a:schemeClr val="tx2"/>
          </a:solidFill>
          <a:ln w="9525">
            <a:solidFill>
              <a:srgbClr val="B8C4D6"/>
            </a:solidFill>
            <a:prstDash val="solid"/>
          </a:ln>
        </p:spPr>
      </p:sp>
      <p:sp>
        <p:nvSpPr>
          <p:cNvPr id="4" name="Text 2"/>
          <p:cNvSpPr txBox="1"/>
          <p:nvPr/>
        </p:nvSpPr>
        <p:spPr>
          <a:xfrm>
            <a:off x="5943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16 MHz</a:t>
            </a:r>
            <a:endParaRPr lang="en-US" sz="2200" dirty="0"/>
          </a:p>
        </p:txBody>
      </p:sp>
      <p:sp>
        <p:nvSpPr>
          <p:cNvPr id="5" name="Text 3"/>
          <p:cNvSpPr txBox="1"/>
          <p:nvPr/>
        </p:nvSpPr>
        <p:spPr>
          <a:xfrm>
            <a:off x="6400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ATmega328P clock</a:t>
            </a:r>
            <a:endParaRPr lang="en-US" sz="1300" dirty="0"/>
          </a:p>
        </p:txBody>
      </p:sp>
      <p:sp>
        <p:nvSpPr>
          <p:cNvPr id="6" name="spec card"/>
          <p:cNvSpPr/>
          <p:nvPr/>
        </p:nvSpPr>
        <p:spPr>
          <a:xfrm>
            <a:off x="2514600" y="1188720"/>
            <a:ext cx="1874520" cy="1508760"/>
          </a:xfrm>
          <a:prstGeom prst="rect">
            <a:avLst/>
          </a:prstGeom>
          <a:solidFill>
            <a:schemeClr val="tx2"/>
          </a:solidFill>
          <a:ln w="9525">
            <a:solidFill>
              <a:srgbClr val="B8C4D6"/>
            </a:solidFill>
            <a:prstDash val="solid"/>
          </a:ln>
        </p:spPr>
      </p:sp>
      <p:sp>
        <p:nvSpPr>
          <p:cNvPr id="7" name="Text 5"/>
          <p:cNvSpPr txBox="1"/>
          <p:nvPr/>
        </p:nvSpPr>
        <p:spPr>
          <a:xfrm>
            <a:off x="2651760" y="146304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32 KB</a:t>
            </a:r>
            <a:endParaRPr lang="en-US" sz="2200" dirty="0"/>
          </a:p>
        </p:txBody>
      </p:sp>
      <p:sp>
        <p:nvSpPr>
          <p:cNvPr id="8" name="Text 6"/>
          <p:cNvSpPr txBox="1"/>
          <p:nvPr/>
        </p:nvSpPr>
        <p:spPr>
          <a:xfrm>
            <a:off x="2697480" y="2057400"/>
            <a:ext cx="1554480" cy="457200"/>
          </a:xfrm>
          <a:prstGeom prst="rect">
            <a:avLst/>
          </a:prstGeom>
          <a:noFill/>
          <a:ln/>
        </p:spPr>
        <p:txBody>
          <a:bodyPr wrap="square" lIns="0" tIns="0" rIns="0" bIns="0" rtlCol="0" anchor="t"/>
          <a:lstStyle/>
          <a:p>
            <a:pPr indent="0" marL="0">
              <a:buNone/>
            </a:pPr>
            <a:r>
              <a:rPr lang="en-US" sz="1300" dirty="0">
                <a:solidFill>
                  <a:schemeClr val="bg1"/>
                </a:solidFill>
              </a:rPr>
              <a:t>Flash memory</a:t>
            </a:r>
            <a:endParaRPr lang="en-US" sz="1300" dirty="0"/>
          </a:p>
        </p:txBody>
      </p:sp>
      <p:sp>
        <p:nvSpPr>
          <p:cNvPr id="9" name="spec card"/>
          <p:cNvSpPr/>
          <p:nvPr/>
        </p:nvSpPr>
        <p:spPr>
          <a:xfrm>
            <a:off x="457200" y="2880360"/>
            <a:ext cx="1874520" cy="1508760"/>
          </a:xfrm>
          <a:prstGeom prst="rect">
            <a:avLst/>
          </a:prstGeom>
          <a:solidFill>
            <a:schemeClr val="tx2"/>
          </a:solidFill>
          <a:ln w="9525">
            <a:solidFill>
              <a:srgbClr val="B8C4D6"/>
            </a:solidFill>
            <a:prstDash val="solid"/>
          </a:ln>
        </p:spPr>
      </p:sp>
      <p:sp>
        <p:nvSpPr>
          <p:cNvPr id="10" name="Text 8"/>
          <p:cNvSpPr txBox="1"/>
          <p:nvPr/>
        </p:nvSpPr>
        <p:spPr>
          <a:xfrm>
            <a:off x="5943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10-bit</a:t>
            </a:r>
            <a:endParaRPr lang="en-US" sz="2200" dirty="0"/>
          </a:p>
        </p:txBody>
      </p:sp>
      <p:sp>
        <p:nvSpPr>
          <p:cNvPr id="11" name="Text 9"/>
          <p:cNvSpPr txBox="1"/>
          <p:nvPr/>
        </p:nvSpPr>
        <p:spPr>
          <a:xfrm>
            <a:off x="6400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ADC, 8 analog inputs</a:t>
            </a:r>
            <a:endParaRPr lang="en-US" sz="1300" dirty="0"/>
          </a:p>
        </p:txBody>
      </p:sp>
      <p:sp>
        <p:nvSpPr>
          <p:cNvPr id="12" name="spec card"/>
          <p:cNvSpPr/>
          <p:nvPr/>
        </p:nvSpPr>
        <p:spPr>
          <a:xfrm>
            <a:off x="2514600" y="2880360"/>
            <a:ext cx="1874520" cy="1508760"/>
          </a:xfrm>
          <a:prstGeom prst="rect">
            <a:avLst/>
          </a:prstGeom>
          <a:solidFill>
            <a:schemeClr val="tx2"/>
          </a:solidFill>
          <a:ln w="9525">
            <a:solidFill>
              <a:srgbClr val="B8C4D6"/>
            </a:solidFill>
            <a:prstDash val="solid"/>
          </a:ln>
        </p:spPr>
      </p:sp>
      <p:sp>
        <p:nvSpPr>
          <p:cNvPr id="13" name="Text 11"/>
          <p:cNvSpPr txBox="1"/>
          <p:nvPr/>
        </p:nvSpPr>
        <p:spPr>
          <a:xfrm>
            <a:off x="2651760" y="3154680"/>
            <a:ext cx="1645920" cy="548640"/>
          </a:xfrm>
          <a:prstGeom prst="rect">
            <a:avLst/>
          </a:prstGeom>
          <a:noFill/>
          <a:ln/>
        </p:spPr>
        <p:txBody>
          <a:bodyPr wrap="square" lIns="0" tIns="0" rIns="0" bIns="0" rtlCol="0" anchor="t"/>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18×45 mm</a:t>
            </a:r>
            <a:endParaRPr lang="en-US" sz="2200" dirty="0"/>
          </a:p>
        </p:txBody>
      </p:sp>
      <p:sp>
        <p:nvSpPr>
          <p:cNvPr id="14" name="Text 12"/>
          <p:cNvSpPr txBox="1"/>
          <p:nvPr/>
        </p:nvSpPr>
        <p:spPr>
          <a:xfrm>
            <a:off x="2697480" y="3749040"/>
            <a:ext cx="1554480" cy="457200"/>
          </a:xfrm>
          <a:prstGeom prst="rect">
            <a:avLst/>
          </a:prstGeom>
          <a:noFill/>
          <a:ln/>
        </p:spPr>
        <p:txBody>
          <a:bodyPr wrap="square" lIns="0" tIns="0" rIns="0" bIns="0" rtlCol="0" anchor="t"/>
          <a:lstStyle/>
          <a:p>
            <a:pPr indent="0" marL="0">
              <a:buNone/>
            </a:pPr>
            <a:r>
              <a:rPr lang="en-US" sz="1300" dirty="0">
                <a:solidFill>
                  <a:schemeClr val="bg1"/>
                </a:solidFill>
              </a:rPr>
              <a:t>Fits on a cane</a:t>
            </a:r>
            <a:endParaRPr lang="en-US" sz="1300" dirty="0"/>
          </a:p>
        </p:txBody>
      </p:sp>
      <p:sp>
        <p:nvSpPr>
          <p:cNvPr id="15" name="Text 13"/>
          <p:cNvSpPr txBox="1"/>
          <p:nvPr/>
        </p:nvSpPr>
        <p:spPr>
          <a:xfrm>
            <a:off x="4846320" y="1280160"/>
            <a:ext cx="38404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and light enough to mount on the cane shaft</a:t>
            </a:r>
            <a:endParaRPr lang="en-US" sz="1500" dirty="0"/>
          </a:p>
          <a:p>
            <a:pPr marL="342900" indent="-342900">
              <a:spcAft>
                <a:spcPts val="1000"/>
              </a:spcAft>
              <a:buSzPct val="100000"/>
              <a:buChar char="•"/>
            </a:pPr>
            <a:r>
              <a:rPr lang="en-US" sz="1500" dirty="0">
                <a:solidFill>
                  <a:schemeClr val="tx1"/>
                </a:solidFill>
              </a:rPr>
              <a:t>Low cost (about ₹250) and easy to replace</a:t>
            </a:r>
            <a:endParaRPr lang="en-US" sz="1500" dirty="0"/>
          </a:p>
          <a:p>
            <a:pPr marL="342900" indent="-342900">
              <a:spcAft>
                <a:spcPts val="1000"/>
              </a:spcAft>
              <a:buSzPct val="100000"/>
              <a:buChar char="•"/>
            </a:pPr>
            <a:r>
              <a:rPr lang="en-US" sz="1500" dirty="0">
                <a:solidFill>
                  <a:schemeClr val="tx1"/>
                </a:solidFill>
              </a:rPr>
              <a:t>5 V logic matches the HC-SR04 and the moisture module</a:t>
            </a:r>
            <a:endParaRPr lang="en-US" sz="1500" dirty="0"/>
          </a:p>
          <a:p>
            <a:pPr marL="342900" indent="-342900">
              <a:spcAft>
                <a:spcPts val="1000"/>
              </a:spcAft>
              <a:buSzPct val="100000"/>
              <a:buChar char="•"/>
            </a:pPr>
            <a:r>
              <a:rPr lang="en-US" sz="1500" dirty="0">
                <a:solidFill>
                  <a:schemeClr val="tx1"/>
                </a:solidFill>
              </a:rPr>
              <a:t>Built-in ADC reads the moisture voltage directly</a:t>
            </a:r>
            <a:endParaRPr lang="en-US" sz="1500" dirty="0"/>
          </a:p>
          <a:p>
            <a:pPr marL="342900" indent="-342900">
              <a:spcAft>
                <a:spcPts val="1000"/>
              </a:spcAft>
              <a:buSzPct val="100000"/>
              <a:buChar char="•"/>
            </a:pPr>
            <a:r>
              <a:rPr lang="en-US" sz="1500" dirty="0">
                <a:solidFill>
                  <a:schemeClr val="tx1"/>
                </a:solidFill>
              </a:rPr>
              <a:t>Programmed over USB with the free Arduino IDE</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ultrasonic sensor measures distance</a:t>
            </a:r>
            <a:endParaRPr lang="en-US" sz="3000" dirty="0"/>
          </a:p>
        </p:txBody>
      </p:sp>
      <p:sp>
        <p:nvSpPr>
          <p:cNvPr id="3" name="step number"/>
          <p:cNvSpPr/>
          <p:nvPr/>
        </p:nvSpPr>
        <p:spPr>
          <a:xfrm>
            <a:off x="457200" y="1188720"/>
            <a:ext cx="548640" cy="548640"/>
          </a:xfrm>
          <a:prstGeom prst="ellipse">
            <a:avLst/>
          </a:prstGeom>
          <a:solidFill>
            <a:schemeClr val="accent2"/>
          </a:solidFill>
          <a:ln w="12700">
            <a:solidFill>
              <a:schemeClr val="accent2"/>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188720"/>
            <a:ext cx="3108960" cy="320040"/>
          </a:xfrm>
          <a:prstGeom prst="rect">
            <a:avLst/>
          </a:prstGeom>
          <a:noFill/>
          <a:ln/>
        </p:spPr>
        <p:txBody>
          <a:bodyPr wrap="square" lIns="0" tIns="0" rIns="0" bIns="0" rtlCol="0" anchor="t"/>
          <a:lstStyle/>
          <a:p>
            <a:pPr indent="0" marL="0">
              <a:buNone/>
            </a:pPr>
            <a:r>
              <a:rPr lang="en-US" sz="1700" b="1" dirty="0">
                <a:solidFill>
                  <a:schemeClr val="tx2"/>
                </a:solidFill>
              </a:rPr>
              <a:t>Trigger</a:t>
            </a:r>
            <a:endParaRPr lang="en-US" sz="1700" dirty="0"/>
          </a:p>
        </p:txBody>
      </p:sp>
      <p:sp>
        <p:nvSpPr>
          <p:cNvPr id="6" name="Text 4"/>
          <p:cNvSpPr txBox="1"/>
          <p:nvPr/>
        </p:nvSpPr>
        <p:spPr>
          <a:xfrm>
            <a:off x="1188720" y="152704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Nano holds Trig HIGH for 10 µs</a:t>
            </a:r>
            <a:endParaRPr lang="en-US" sz="1400" dirty="0"/>
          </a:p>
        </p:txBody>
      </p:sp>
      <p:sp>
        <p:nvSpPr>
          <p:cNvPr id="7" name="step number"/>
          <p:cNvSpPr/>
          <p:nvPr/>
        </p:nvSpPr>
        <p:spPr>
          <a:xfrm>
            <a:off x="457200" y="2286000"/>
            <a:ext cx="548640" cy="548640"/>
          </a:xfrm>
          <a:prstGeom prst="ellipse">
            <a:avLst/>
          </a:prstGeom>
          <a:solidFill>
            <a:schemeClr val="accent2"/>
          </a:solidFill>
          <a:ln w="12700">
            <a:solidFill>
              <a:schemeClr val="accent2"/>
            </a:solidFill>
            <a:prstDash val="solid"/>
          </a:ln>
        </p:spPr>
      </p:sp>
      <p:sp>
        <p:nvSpPr>
          <p:cNvPr id="8" name="Text 6"/>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286000"/>
            <a:ext cx="3108960" cy="320040"/>
          </a:xfrm>
          <a:prstGeom prst="rect">
            <a:avLst/>
          </a:prstGeom>
          <a:noFill/>
          <a:ln/>
        </p:spPr>
        <p:txBody>
          <a:bodyPr wrap="square" lIns="0" tIns="0" rIns="0" bIns="0" rtlCol="0" anchor="t"/>
          <a:lstStyle/>
          <a:p>
            <a:pPr indent="0" marL="0">
              <a:buNone/>
            </a:pPr>
            <a:r>
              <a:rPr lang="en-US" sz="1700" b="1" dirty="0">
                <a:solidFill>
                  <a:schemeClr val="tx2"/>
                </a:solidFill>
              </a:rPr>
              <a:t>Burst</a:t>
            </a:r>
            <a:endParaRPr lang="en-US" sz="1700" dirty="0"/>
          </a:p>
        </p:txBody>
      </p:sp>
      <p:sp>
        <p:nvSpPr>
          <p:cNvPr id="10" name="Text 8"/>
          <p:cNvSpPr txBox="1"/>
          <p:nvPr/>
        </p:nvSpPr>
        <p:spPr>
          <a:xfrm>
            <a:off x="1188720" y="262432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Sensor sends eight 40 kHz sound pulses</a:t>
            </a:r>
            <a:endParaRPr lang="en-US" sz="1400" dirty="0"/>
          </a:p>
        </p:txBody>
      </p:sp>
      <p:sp>
        <p:nvSpPr>
          <p:cNvPr id="11" name="step number"/>
          <p:cNvSpPr/>
          <p:nvPr/>
        </p:nvSpPr>
        <p:spPr>
          <a:xfrm>
            <a:off x="457200" y="3383280"/>
            <a:ext cx="548640" cy="548640"/>
          </a:xfrm>
          <a:prstGeom prst="ellipse">
            <a:avLst/>
          </a:prstGeom>
          <a:solidFill>
            <a:schemeClr val="accent2"/>
          </a:solidFill>
          <a:ln w="12700">
            <a:solidFill>
              <a:schemeClr val="accent2"/>
            </a:solidFill>
            <a:prstDash val="solid"/>
          </a:ln>
        </p:spPr>
      </p:sp>
      <p:sp>
        <p:nvSpPr>
          <p:cNvPr id="12" name="Text 10"/>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83280"/>
            <a:ext cx="3108960" cy="320040"/>
          </a:xfrm>
          <a:prstGeom prst="rect">
            <a:avLst/>
          </a:prstGeom>
          <a:noFill/>
          <a:ln/>
        </p:spPr>
        <p:txBody>
          <a:bodyPr wrap="square" lIns="0" tIns="0" rIns="0" bIns="0" rtlCol="0" anchor="t"/>
          <a:lstStyle/>
          <a:p>
            <a:pPr indent="0" marL="0">
              <a:buNone/>
            </a:pPr>
            <a:r>
              <a:rPr lang="en-US" sz="1700" b="1" dirty="0">
                <a:solidFill>
                  <a:schemeClr val="tx2"/>
                </a:solidFill>
              </a:rPr>
              <a:t>Echo</a:t>
            </a:r>
            <a:endParaRPr lang="en-US" sz="1700" dirty="0"/>
          </a:p>
        </p:txBody>
      </p:sp>
      <p:sp>
        <p:nvSpPr>
          <p:cNvPr id="14" name="Text 12"/>
          <p:cNvSpPr txBox="1"/>
          <p:nvPr/>
        </p:nvSpPr>
        <p:spPr>
          <a:xfrm>
            <a:off x="1188720" y="3721608"/>
            <a:ext cx="3200400" cy="548640"/>
          </a:xfrm>
          <a:prstGeom prst="rect">
            <a:avLst/>
          </a:prstGeom>
          <a:noFill/>
          <a:ln/>
        </p:spPr>
        <p:txBody>
          <a:bodyPr wrap="square" lIns="0" tIns="0" rIns="0" bIns="0" rtlCol="0" anchor="t"/>
          <a:lstStyle/>
          <a:p>
            <a:pPr indent="0" marL="0">
              <a:buNone/>
            </a:pPr>
            <a:r>
              <a:rPr lang="en-US" sz="1400" dirty="0">
                <a:solidFill>
                  <a:schemeClr val="accent5"/>
                </a:solidFill>
              </a:rPr>
              <a:t>Echo stays HIGH for the round-trip time t</a:t>
            </a:r>
            <a:endParaRPr lang="en-US" sz="1400" dirty="0"/>
          </a:p>
        </p:txBody>
      </p:sp>
      <p:sp>
        <p:nvSpPr>
          <p:cNvPr id="15" name="formula card"/>
          <p:cNvSpPr/>
          <p:nvPr/>
        </p:nvSpPr>
        <p:spPr>
          <a:xfrm>
            <a:off x="4663440" y="1188720"/>
            <a:ext cx="4023360" cy="3291840"/>
          </a:xfrm>
          <a:prstGeom prst="rect">
            <a:avLst/>
          </a:prstGeom>
          <a:solidFill>
            <a:schemeClr val="tx2"/>
          </a:solidFill>
          <a:ln w="9525">
            <a:solidFill>
              <a:srgbClr val="B8C4D6"/>
            </a:solidFill>
            <a:prstDash val="solid"/>
          </a:ln>
        </p:spPr>
      </p:sp>
      <p:sp>
        <p:nvSpPr>
          <p:cNvPr id="16" name="Text 14"/>
          <p:cNvSpPr txBox="1"/>
          <p:nvPr/>
        </p:nvSpPr>
        <p:spPr>
          <a:xfrm>
            <a:off x="4937760" y="1417320"/>
            <a:ext cx="3474720" cy="640080"/>
          </a:xfrm>
          <a:prstGeom prst="rect">
            <a:avLst/>
          </a:prstGeom>
          <a:noFill/>
          <a:ln/>
        </p:spPr>
        <p:txBody>
          <a:bodyPr wrap="square" lIns="0" tIns="0" rIns="0" bIns="0" rtlCol="0" anchor="t"/>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d = v × t / 2</a:t>
            </a:r>
            <a:endParaRPr lang="en-US" sz="3000" dirty="0"/>
          </a:p>
        </p:txBody>
      </p:sp>
      <p:sp>
        <p:nvSpPr>
          <p:cNvPr id="17" name="Text 15"/>
          <p:cNvSpPr txBox="1"/>
          <p:nvPr/>
        </p:nvSpPr>
        <p:spPr>
          <a:xfrm>
            <a:off x="4937760" y="2194560"/>
            <a:ext cx="3566160" cy="2103120"/>
          </a:xfrm>
          <a:prstGeom prst="rect">
            <a:avLst/>
          </a:prstGeom>
          <a:noFill/>
          <a:ln/>
        </p:spPr>
        <p:txBody>
          <a:bodyPr wrap="square" lIns="0" tIns="0" rIns="0" bIns="0" rtlCol="0" anchor="t"/>
          <a:lstStyle/>
          <a:p>
            <a:pPr indent="0" marL="0">
              <a:buNone/>
            </a:pPr>
            <a:r>
              <a:rPr lang="en-US" sz="1400" dirty="0">
                <a:solidFill>
                  <a:schemeClr val="bg1"/>
                </a:solidFill>
              </a:rPr>
              <a:t>v ≈ 343 m/s = 0.034 cm/µs</a:t>
            </a:r>
            <a:endParaRPr lang="en-US" sz="1400" dirty="0"/>
          </a:p>
          <a:p>
            <a:pPr indent="0" marL="0">
              <a:buNone/>
            </a:pPr>
            <a:r>
              <a:rPr lang="en-US" sz="1400" dirty="0">
                <a:solidFill>
                  <a:schemeClr val="bg1"/>
                </a:solidFill>
              </a:rPr>
              <a:t>÷ 2 because sound travels there and back</a:t>
            </a:r>
            <a:endParaRPr lang="en-US" sz="1400" dirty="0"/>
          </a:p>
          <a:p>
            <a:pPr indent="0" marL="0">
              <a:buNone/>
            </a:pPr>
            <a:r>
              <a:rPr lang="en-US" sz="1400" dirty="0">
                <a:solidFill>
                  <a:schemeClr val="bg1"/>
                </a:solidFill>
              </a:rPr>
              <a:t> </a:t>
            </a:r>
            <a:endParaRPr lang="en-US" sz="1400" dirty="0"/>
          </a:p>
          <a:p>
            <a:pPr indent="0" marL="0">
              <a:buNone/>
            </a:pPr>
            <a:r>
              <a:rPr lang="en-US" sz="1400" b="1" dirty="0">
                <a:solidFill>
                  <a:schemeClr val="accent1"/>
                </a:solidFill>
              </a:rPr>
              <a:t>Example: </a:t>
            </a:r>
            <a:pPr indent="0" marL="0">
              <a:buNone/>
            </a:pPr>
            <a:r>
              <a:rPr lang="en-US" sz="1400" dirty="0">
                <a:solidFill>
                  <a:schemeClr val="bg1"/>
                </a:solidFill>
              </a:rPr>
              <a:t>t = 1000 µs → d = 0.034 × 1000 / 2 = 17 cm</a:t>
            </a:r>
            <a:endParaRPr lang="en-US" sz="1400" dirty="0"/>
          </a:p>
          <a:p>
            <a:pPr indent="0" marL="0">
              <a:buNone/>
            </a:pPr>
            <a:r>
              <a:rPr lang="en-US" sz="1400" dirty="0">
                <a:solidFill>
                  <a:schemeClr val="bg1"/>
                </a:solidFill>
              </a:rPr>
              <a:t> </a:t>
            </a:r>
            <a:endParaRPr lang="en-US" sz="1400" dirty="0"/>
          </a:p>
          <a:p>
            <a:pPr indent="0" marL="0">
              <a:buNone/>
            </a:pPr>
            <a:r>
              <a:rPr lang="en-US" sz="1400" dirty="0">
                <a:solidFill>
                  <a:schemeClr val="bg1"/>
                </a:solidFill>
              </a:rPr>
              <a:t>Range 2–400 cm  ·  beam ≈ 15°</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How the tip detects water</a:t>
            </a:r>
            <a:endParaRPr lang="en-US" sz="3000" dirty="0"/>
          </a:p>
        </p:txBody>
      </p:sp>
      <p:pic>
        <p:nvPicPr>
          <p:cNvPr id="3" name="probe photo" descr="img/probe.jpg">    </p:cNvPr>
          <p:cNvPicPr>
            <a:picLocks noChangeAspect="1"/>
          </p:cNvPicPr>
          <p:nvPr/>
        </p:nvPicPr>
        <p:blipFill>
          <a:blip r:embed="rId1"/>
          <a:stretch>
            <a:fillRect/>
          </a:stretch>
        </p:blipFill>
        <p:spPr>
          <a:xfrm>
            <a:off x="465292" y="1188720"/>
            <a:ext cx="3641416" cy="2743200"/>
          </a:xfrm>
          <a:prstGeom prst="rect">
            <a:avLst/>
          </a:prstGeom>
        </p:spPr>
      </p:pic>
      <p:sp>
        <p:nvSpPr>
          <p:cNvPr id="4" name="Text 1"/>
          <p:cNvSpPr txBox="1"/>
          <p:nvPr/>
        </p:nvSpPr>
        <p:spPr>
          <a:xfrm>
            <a:off x="457200" y="4023360"/>
            <a:ext cx="3657600" cy="274320"/>
          </a:xfrm>
          <a:prstGeom prst="rect">
            <a:avLst/>
          </a:prstGeom>
          <a:noFill/>
          <a:ln/>
        </p:spPr>
        <p:txBody>
          <a:bodyPr wrap="square" lIns="0" tIns="0" rIns="0" bIns="0" rtlCol="0" anchor="t"/>
          <a:lstStyle/>
          <a:p>
            <a:pPr indent="0" marL="0">
              <a:buNone/>
            </a:pPr>
            <a:r>
              <a:rPr lang="en-US" sz="1100" i="1" dirty="0">
                <a:solidFill>
                  <a:schemeClr val="accent5"/>
                </a:solidFill>
              </a:rPr>
              <a:t>Moisture probe glued at the cane tip</a:t>
            </a:r>
            <a:endParaRPr lang="en-US" sz="1100" dirty="0"/>
          </a:p>
        </p:txBody>
      </p:sp>
      <p:sp>
        <p:nvSpPr>
          <p:cNvPr id="5" name="Text 2"/>
          <p:cNvSpPr txBox="1"/>
          <p:nvPr/>
        </p:nvSpPr>
        <p:spPr>
          <a:xfrm>
            <a:off x="4480560" y="1188720"/>
            <a:ext cx="4206240" cy="822960"/>
          </a:xfrm>
          <a:prstGeom prst="rect">
            <a:avLst/>
          </a:prstGeom>
          <a:noFill/>
          <a:ln/>
        </p:spPr>
        <p:txBody>
          <a:bodyPr wrap="square" lIns="0" tIns="0" rIns="0" bIns="0" rtlCol="0" anchor="t"/>
          <a:lstStyle/>
          <a:p>
            <a:pPr indent="0" marL="0">
              <a:buNone/>
            </a:pPr>
            <a:r>
              <a:rPr lang="en-US" sz="1400" dirty="0">
                <a:solidFill>
                  <a:schemeClr val="tx1"/>
                </a:solidFill>
              </a:rPr>
              <a:t>Water conducts electricity, so the resistance Rp between the copper tracks drops. The LM393 module turns this into a voltage:</a:t>
            </a:r>
            <a:endParaRPr lang="en-US" sz="1400" dirty="0"/>
          </a:p>
        </p:txBody>
      </p:sp>
      <p:sp>
        <p:nvSpPr>
          <p:cNvPr id="6" name="formula"/>
          <p:cNvSpPr/>
          <p:nvPr/>
        </p:nvSpPr>
        <p:spPr>
          <a:xfrm>
            <a:off x="4480560" y="2057400"/>
            <a:ext cx="4206240" cy="594360"/>
          </a:xfrm>
          <a:prstGeom prst="rect">
            <a:avLst/>
          </a:prstGeom>
          <a:solidFill>
            <a:schemeClr val="bg2"/>
          </a:solidFill>
          <a:ln w="9525">
            <a:solidFill>
              <a:srgbClr val="B8C4D6"/>
            </a:solidFill>
            <a:prstDash val="solid"/>
          </a:ln>
        </p:spPr>
      </p:sp>
      <p:sp>
        <p:nvSpPr>
          <p:cNvPr id="7" name="Text 4"/>
          <p:cNvSpPr txBox="1"/>
          <p:nvPr/>
        </p:nvSpPr>
        <p:spPr>
          <a:xfrm>
            <a:off x="4663440" y="2057400"/>
            <a:ext cx="3931920" cy="594360"/>
          </a:xfrm>
          <a:prstGeom prst="rect">
            <a:avLst/>
          </a:prstGeom>
          <a:noFill/>
          <a:ln/>
        </p:spPr>
        <p:txBody>
          <a:bodyPr wrap="square" lIns="0" tIns="0" rIns="0" bIns="0" rtlCol="0" anchor="ctr"/>
          <a:lstStyle/>
          <a:p>
            <a:pPr indent="0" marL="0">
              <a:buNone/>
            </a:pPr>
            <a:r>
              <a:rPr lang="en-US" sz="1800" b="1" dirty="0">
                <a:solidFill>
                  <a:schemeClr val="tx2"/>
                </a:solidFill>
                <a:latin typeface="Times New Roman" pitchFamily="34" charset="0"/>
                <a:ea typeface="Times New Roman" pitchFamily="34" charset="-122"/>
                <a:cs typeface="Times New Roman" pitchFamily="34" charset="-120"/>
              </a:rPr>
              <a:t>V_A0 = Vcc × Rp / (Rp + Rf)</a:t>
            </a:r>
            <a:endParaRPr lang="en-US" sz="1800" dirty="0"/>
          </a:p>
        </p:txBody>
      </p:sp>
      <p:sp>
        <p:nvSpPr>
          <p:cNvPr id="8" name="reading card"/>
          <p:cNvSpPr/>
          <p:nvPr/>
        </p:nvSpPr>
        <p:spPr>
          <a:xfrm>
            <a:off x="4480560" y="2834640"/>
            <a:ext cx="2057400" cy="1051560"/>
          </a:xfrm>
          <a:prstGeom prst="rect">
            <a:avLst/>
          </a:prstGeom>
          <a:solidFill>
            <a:schemeClr val="bg2"/>
          </a:solidFill>
          <a:ln w="9525">
            <a:solidFill>
              <a:srgbClr val="B8C4D6"/>
            </a:solidFill>
            <a:prstDash val="solid"/>
          </a:ln>
        </p:spPr>
      </p:sp>
      <p:sp>
        <p:nvSpPr>
          <p:cNvPr id="9" name="Text 6"/>
          <p:cNvSpPr txBox="1"/>
          <p:nvPr/>
        </p:nvSpPr>
        <p:spPr>
          <a:xfrm>
            <a:off x="4663440" y="2926080"/>
            <a:ext cx="1737360" cy="457200"/>
          </a:xfrm>
          <a:prstGeom prst="rect">
            <a:avLst/>
          </a:prstGeom>
          <a:noFill/>
          <a:ln/>
        </p:spPr>
        <p:txBody>
          <a:bodyPr wrap="square" lIns="0" tIns="0" rIns="0" bIns="0" rtlCol="0" anchor="t"/>
          <a:lstStyle/>
          <a:p>
            <a:pPr indent="0" marL="0">
              <a:buNone/>
            </a:pPr>
            <a:r>
              <a:rPr lang="en-US" sz="2400" b="1" dirty="0">
                <a:solidFill>
                  <a:schemeClr val="accent4"/>
                </a:solidFill>
                <a:latin typeface="Times New Roman" pitchFamily="34" charset="0"/>
                <a:ea typeface="Times New Roman" pitchFamily="34" charset="-122"/>
                <a:cs typeface="Times New Roman" pitchFamily="34" charset="-120"/>
              </a:rPr>
              <a:t>≈ 1023</a:t>
            </a:r>
            <a:endParaRPr lang="en-US" sz="2400" dirty="0"/>
          </a:p>
        </p:txBody>
      </p:sp>
      <p:sp>
        <p:nvSpPr>
          <p:cNvPr id="10" name="Text 7"/>
          <p:cNvSpPr txBox="1"/>
          <p:nvPr/>
        </p:nvSpPr>
        <p:spPr>
          <a:xfrm>
            <a:off x="466344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Dry: Rp very high</a:t>
            </a:r>
            <a:endParaRPr lang="en-US" sz="1300" dirty="0"/>
          </a:p>
        </p:txBody>
      </p:sp>
      <p:sp>
        <p:nvSpPr>
          <p:cNvPr id="11" name="reading card"/>
          <p:cNvSpPr/>
          <p:nvPr/>
        </p:nvSpPr>
        <p:spPr>
          <a:xfrm>
            <a:off x="6629400" y="2834640"/>
            <a:ext cx="2057400" cy="1051560"/>
          </a:xfrm>
          <a:prstGeom prst="rect">
            <a:avLst/>
          </a:prstGeom>
          <a:solidFill>
            <a:schemeClr val="bg2"/>
          </a:solidFill>
          <a:ln w="9525">
            <a:solidFill>
              <a:srgbClr val="B8C4D6"/>
            </a:solidFill>
            <a:prstDash val="solid"/>
          </a:ln>
        </p:spPr>
      </p:sp>
      <p:sp>
        <p:nvSpPr>
          <p:cNvPr id="12" name="Text 9"/>
          <p:cNvSpPr txBox="1"/>
          <p:nvPr/>
        </p:nvSpPr>
        <p:spPr>
          <a:xfrm>
            <a:off x="6812280" y="2926080"/>
            <a:ext cx="1737360" cy="457200"/>
          </a:xfrm>
          <a:prstGeom prst="rect">
            <a:avLst/>
          </a:prstGeom>
          <a:noFill/>
          <a:ln/>
        </p:spPr>
        <p:txBody>
          <a:bodyPr wrap="square" lIns="0" tIns="0" rIns="0" bIns="0" rtlCol="0" anchor="t"/>
          <a:lstStyle/>
          <a:p>
            <a:pPr indent="0" marL="0">
              <a:buNone/>
            </a:pPr>
            <a:r>
              <a:rPr lang="en-US" sz="2400" b="1" dirty="0">
                <a:solidFill>
                  <a:schemeClr val="accent3"/>
                </a:solidFill>
                <a:latin typeface="Times New Roman" pitchFamily="34" charset="0"/>
                <a:ea typeface="Times New Roman" pitchFamily="34" charset="-122"/>
                <a:cs typeface="Times New Roman" pitchFamily="34" charset="-120"/>
              </a:rPr>
              <a:t>&lt; 500</a:t>
            </a:r>
            <a:endParaRPr lang="en-US" sz="2400" dirty="0"/>
          </a:p>
        </p:txBody>
      </p:sp>
      <p:sp>
        <p:nvSpPr>
          <p:cNvPr id="13" name="Text 10"/>
          <p:cNvSpPr txBox="1"/>
          <p:nvPr/>
        </p:nvSpPr>
        <p:spPr>
          <a:xfrm>
            <a:off x="6812280" y="3401568"/>
            <a:ext cx="1783080" cy="365760"/>
          </a:xfrm>
          <a:prstGeom prst="rect">
            <a:avLst/>
          </a:prstGeom>
          <a:noFill/>
          <a:ln/>
        </p:spPr>
        <p:txBody>
          <a:bodyPr wrap="square" lIns="0" tIns="0" rIns="0" bIns="0" rtlCol="0" anchor="t"/>
          <a:lstStyle/>
          <a:p>
            <a:pPr indent="0" marL="0">
              <a:buNone/>
            </a:pPr>
            <a:r>
              <a:rPr lang="en-US" sz="1300" dirty="0">
                <a:solidFill>
                  <a:schemeClr val="accent5"/>
                </a:solidFill>
              </a:rPr>
              <a:t>Wet: water alert</a:t>
            </a:r>
            <a:endParaRPr lang="en-US" sz="1300" dirty="0"/>
          </a:p>
        </p:txBody>
      </p:sp>
      <p:sp>
        <p:nvSpPr>
          <p:cNvPr id="14" name="Text 11"/>
          <p:cNvSpPr txBox="1"/>
          <p:nvPr/>
        </p:nvSpPr>
        <p:spPr>
          <a:xfrm>
            <a:off x="4480560" y="4023360"/>
            <a:ext cx="4206240" cy="594360"/>
          </a:xfrm>
          <a:prstGeom prst="rect">
            <a:avLst/>
          </a:prstGeom>
          <a:noFill/>
          <a:ln/>
        </p:spPr>
        <p:txBody>
          <a:bodyPr wrap="square" lIns="0" tIns="0" rIns="0" bIns="0" rtlCol="0" anchor="t"/>
          <a:lstStyle/>
          <a:p>
            <a:pPr indent="0" marL="0">
              <a:buNone/>
            </a:pPr>
            <a:r>
              <a:rPr lang="en-US" sz="1200" dirty="0">
                <a:solidFill>
                  <a:schemeClr val="accent5"/>
                </a:solidFill>
              </a:rPr>
              <a:t>The reading is ratiometric (independent of battery voltage). The D0 output is unused; the threshold is set in code.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Power system</a:t>
            </a:r>
            <a:endParaRPr lang="en-US" sz="3000" dirty="0"/>
          </a:p>
        </p:txBody>
      </p:sp>
      <p:sp>
        <p:nvSpPr>
          <p:cNvPr id="3" name="power block"/>
          <p:cNvSpPr/>
          <p:nvPr/>
        </p:nvSpPr>
        <p:spPr>
          <a:xfrm>
            <a:off x="457200" y="1188720"/>
            <a:ext cx="1691640" cy="160020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1078992" y="1380744"/>
            <a:ext cx="411480" cy="411480"/>
          </a:xfrm>
          <a:prstGeom prst="rect">
            <a:avLst/>
          </a:prstGeom>
        </p:spPr>
      </p:pic>
      <p:sp>
        <p:nvSpPr>
          <p:cNvPr id="5" name="Text 2"/>
          <p:cNvSpPr txBox="1"/>
          <p:nvPr/>
        </p:nvSpPr>
        <p:spPr>
          <a:xfrm>
            <a:off x="54864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18650 cell</a:t>
            </a:r>
            <a:endParaRPr lang="en-US" sz="1500" dirty="0"/>
          </a:p>
        </p:txBody>
      </p:sp>
      <p:sp>
        <p:nvSpPr>
          <p:cNvPr id="6" name="Text 3"/>
          <p:cNvSpPr txBox="1"/>
          <p:nvPr/>
        </p:nvSpPr>
        <p:spPr>
          <a:xfrm>
            <a:off x="54864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3.7 V, 1200 mAh</a:t>
            </a:r>
            <a:endParaRPr lang="en-US" sz="1200" dirty="0"/>
          </a:p>
        </p:txBody>
      </p:sp>
      <p:sp>
        <p:nvSpPr>
          <p:cNvPr id="7" name="arrow"/>
          <p:cNvSpPr/>
          <p:nvPr/>
        </p:nvSpPr>
        <p:spPr>
          <a:xfrm>
            <a:off x="2176272" y="1856232"/>
            <a:ext cx="219456" cy="237744"/>
          </a:xfrm>
          <a:prstGeom prst="rightArrow">
            <a:avLst/>
          </a:prstGeom>
          <a:solidFill>
            <a:schemeClr val="accent1"/>
          </a:solidFill>
          <a:ln w="12700">
            <a:solidFill>
              <a:schemeClr val="accent1"/>
            </a:solidFill>
            <a:prstDash val="solid"/>
          </a:ln>
        </p:spPr>
      </p:sp>
      <p:sp>
        <p:nvSpPr>
          <p:cNvPr id="8" name="power block"/>
          <p:cNvSpPr/>
          <p:nvPr/>
        </p:nvSpPr>
        <p:spPr>
          <a:xfrm>
            <a:off x="2423160" y="1188720"/>
            <a:ext cx="1691640" cy="1600200"/>
          </a:xfrm>
          <a:prstGeom prst="rect">
            <a:avLst/>
          </a:prstGeom>
          <a:solidFill>
            <a:schemeClr val="bg2"/>
          </a:solidFill>
          <a:ln w="9525">
            <a:solidFill>
              <a:srgbClr val="B8C4D6"/>
            </a:solidFill>
            <a:prstDash val="solid"/>
          </a:ln>
        </p:spPr>
      </p:sp>
      <p:pic>
        <p:nvPicPr>
          <p:cNvPr id="9" name="icon" descr="preencoded.png">    </p:cNvPr>
          <p:cNvPicPr>
            <a:picLocks noChangeAspect="1"/>
          </p:cNvPicPr>
          <p:nvPr/>
        </p:nvPicPr>
        <p:blipFill>
          <a:blip r:embed="rId2"/>
          <a:stretch>
            <a:fillRect/>
          </a:stretch>
        </p:blipFill>
        <p:spPr>
          <a:xfrm>
            <a:off x="3044952" y="1380744"/>
            <a:ext cx="411480" cy="411480"/>
          </a:xfrm>
          <a:prstGeom prst="rect">
            <a:avLst/>
          </a:prstGeom>
        </p:spPr>
      </p:pic>
      <p:sp>
        <p:nvSpPr>
          <p:cNvPr id="10" name="Text 6"/>
          <p:cNvSpPr txBox="1"/>
          <p:nvPr/>
        </p:nvSpPr>
        <p:spPr>
          <a:xfrm>
            <a:off x="251460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Rocker switch</a:t>
            </a:r>
            <a:endParaRPr lang="en-US" sz="1500" dirty="0"/>
          </a:p>
        </p:txBody>
      </p:sp>
      <p:sp>
        <p:nvSpPr>
          <p:cNvPr id="11" name="Text 7"/>
          <p:cNvSpPr txBox="1"/>
          <p:nvPr/>
        </p:nvSpPr>
        <p:spPr>
          <a:xfrm>
            <a:off x="251460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ON / OFF</a:t>
            </a:r>
            <a:endParaRPr lang="en-US" sz="1200" dirty="0"/>
          </a:p>
        </p:txBody>
      </p:sp>
      <p:sp>
        <p:nvSpPr>
          <p:cNvPr id="12" name="arrow"/>
          <p:cNvSpPr/>
          <p:nvPr/>
        </p:nvSpPr>
        <p:spPr>
          <a:xfrm>
            <a:off x="4142232" y="1856232"/>
            <a:ext cx="219456" cy="237744"/>
          </a:xfrm>
          <a:prstGeom prst="rightArrow">
            <a:avLst/>
          </a:prstGeom>
          <a:solidFill>
            <a:schemeClr val="accent1"/>
          </a:solidFill>
          <a:ln w="12700">
            <a:solidFill>
              <a:schemeClr val="accent1"/>
            </a:solidFill>
            <a:prstDash val="solid"/>
          </a:ln>
        </p:spPr>
      </p:sp>
      <p:sp>
        <p:nvSpPr>
          <p:cNvPr id="13" name="power block"/>
          <p:cNvSpPr/>
          <p:nvPr/>
        </p:nvSpPr>
        <p:spPr>
          <a:xfrm>
            <a:off x="4389120" y="1188720"/>
            <a:ext cx="1691640" cy="1600200"/>
          </a:xfrm>
          <a:prstGeom prst="rect">
            <a:avLst/>
          </a:prstGeom>
          <a:solidFill>
            <a:schemeClr val="bg2"/>
          </a:solidFill>
          <a:ln w="9525">
            <a:solidFill>
              <a:srgbClr val="B8C4D6"/>
            </a:solidFill>
            <a:prstDash val="solid"/>
          </a:ln>
        </p:spPr>
      </p:sp>
      <p:pic>
        <p:nvPicPr>
          <p:cNvPr id="14" name="icon" descr="preencoded.png">    </p:cNvPr>
          <p:cNvPicPr>
            <a:picLocks noChangeAspect="1"/>
          </p:cNvPicPr>
          <p:nvPr/>
        </p:nvPicPr>
        <p:blipFill>
          <a:blip r:embed="rId3"/>
          <a:stretch>
            <a:fillRect/>
          </a:stretch>
        </p:blipFill>
        <p:spPr>
          <a:xfrm>
            <a:off x="5010912" y="1380744"/>
            <a:ext cx="411480" cy="411480"/>
          </a:xfrm>
          <a:prstGeom prst="rect">
            <a:avLst/>
          </a:prstGeom>
        </p:spPr>
      </p:pic>
      <p:sp>
        <p:nvSpPr>
          <p:cNvPr id="15" name="Text 10"/>
          <p:cNvSpPr txBox="1"/>
          <p:nvPr/>
        </p:nvSpPr>
        <p:spPr>
          <a:xfrm>
            <a:off x="4480560" y="1965960"/>
            <a:ext cx="1508760" cy="320040"/>
          </a:xfrm>
          <a:prstGeom prst="rect">
            <a:avLst/>
          </a:prstGeom>
          <a:noFill/>
          <a:ln/>
        </p:spPr>
        <p:txBody>
          <a:bodyPr wrap="square" lIns="0" tIns="0" rIns="0" bIns="0" rtlCol="0" anchor="t"/>
          <a:lstStyle/>
          <a:p>
            <a:pPr algn="ctr" indent="0" marL="0">
              <a:buNone/>
            </a:pPr>
            <a:r>
              <a:rPr lang="en-US" sz="1500" b="1" dirty="0">
                <a:solidFill>
                  <a:schemeClr val="tx2"/>
                </a:solidFill>
              </a:rPr>
              <a:t>5V pin</a:t>
            </a:r>
            <a:endParaRPr lang="en-US" sz="1500" dirty="0"/>
          </a:p>
        </p:txBody>
      </p:sp>
      <p:sp>
        <p:nvSpPr>
          <p:cNvPr id="16" name="Text 11"/>
          <p:cNvSpPr txBox="1"/>
          <p:nvPr/>
        </p:nvSpPr>
        <p:spPr>
          <a:xfrm>
            <a:off x="4480560" y="2286000"/>
            <a:ext cx="1508760" cy="411480"/>
          </a:xfrm>
          <a:prstGeom prst="rect">
            <a:avLst/>
          </a:prstGeom>
          <a:noFill/>
          <a:ln/>
        </p:spPr>
        <p:txBody>
          <a:bodyPr wrap="square" lIns="0" tIns="0" rIns="0" bIns="0" rtlCol="0" anchor="t"/>
          <a:lstStyle/>
          <a:p>
            <a:pPr algn="ctr" indent="0" marL="0">
              <a:buNone/>
            </a:pPr>
            <a:r>
              <a:rPr lang="en-US" sz="1200" dirty="0">
                <a:solidFill>
                  <a:schemeClr val="accent5"/>
                </a:solidFill>
              </a:rPr>
              <a:t>Nano + both sensors</a:t>
            </a:r>
            <a:endParaRPr lang="en-US" sz="1200" dirty="0"/>
          </a:p>
        </p:txBody>
      </p:sp>
      <p:sp>
        <p:nvSpPr>
          <p:cNvPr id="17" name="Text 12"/>
          <p:cNvSpPr txBox="1"/>
          <p:nvPr/>
        </p:nvSpPr>
        <p:spPr>
          <a:xfrm>
            <a:off x="45720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~40 mA</a:t>
            </a:r>
            <a:endParaRPr lang="en-US" sz="3000" dirty="0"/>
          </a:p>
        </p:txBody>
      </p:sp>
      <p:sp>
        <p:nvSpPr>
          <p:cNvPr id="18" name="Text 13"/>
          <p:cNvSpPr txBox="1"/>
          <p:nvPr/>
        </p:nvSpPr>
        <p:spPr>
          <a:xfrm>
            <a:off x="45720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total current draw</a:t>
            </a:r>
            <a:endParaRPr lang="en-US" sz="1300" dirty="0"/>
          </a:p>
        </p:txBody>
      </p:sp>
      <p:sp>
        <p:nvSpPr>
          <p:cNvPr id="19" name="Text 14"/>
          <p:cNvSpPr txBox="1"/>
          <p:nvPr/>
        </p:nvSpPr>
        <p:spPr>
          <a:xfrm>
            <a:off x="3383280" y="3017520"/>
            <a:ext cx="2743200" cy="548640"/>
          </a:xfrm>
          <a:prstGeom prst="rect">
            <a:avLst/>
          </a:prstGeom>
          <a:noFill/>
          <a:ln/>
        </p:spPr>
        <p:txBody>
          <a:bodyPr wrap="square" lIns="0" tIns="0" rIns="0" bIns="0" rtlCol="0" anchor="t"/>
          <a:lstStyle/>
          <a:p>
            <a:pPr indent="0" marL="0">
              <a:buNone/>
            </a:pPr>
            <a:r>
              <a:rPr lang="en-US" sz="3000" b="1" dirty="0">
                <a:solidFill>
                  <a:schemeClr val="accent2"/>
                </a:solidFill>
                <a:latin typeface="Times New Roman" pitchFamily="34" charset="0"/>
                <a:ea typeface="Times New Roman" pitchFamily="34" charset="-122"/>
                <a:cs typeface="Times New Roman" pitchFamily="34" charset="-120"/>
              </a:rPr>
              <a:t>≈ 30 h</a:t>
            </a:r>
            <a:endParaRPr lang="en-US" sz="3000" dirty="0"/>
          </a:p>
        </p:txBody>
      </p:sp>
      <p:sp>
        <p:nvSpPr>
          <p:cNvPr id="20" name="Text 15"/>
          <p:cNvSpPr txBox="1"/>
          <p:nvPr/>
        </p:nvSpPr>
        <p:spPr>
          <a:xfrm>
            <a:off x="3383280" y="3566160"/>
            <a:ext cx="2743200" cy="320040"/>
          </a:xfrm>
          <a:prstGeom prst="rect">
            <a:avLst/>
          </a:prstGeom>
          <a:noFill/>
          <a:ln/>
        </p:spPr>
        <p:txBody>
          <a:bodyPr wrap="square" lIns="0" tIns="0" rIns="0" bIns="0" rtlCol="0" anchor="t"/>
          <a:lstStyle/>
          <a:p>
            <a:pPr indent="0" marL="0">
              <a:buNone/>
            </a:pPr>
            <a:r>
              <a:rPr lang="en-US" sz="1300" dirty="0">
                <a:solidFill>
                  <a:schemeClr val="accent5"/>
                </a:solidFill>
              </a:rPr>
              <a:t>theoretical runtime</a:t>
            </a:r>
            <a:endParaRPr lang="en-US" sz="1300" dirty="0"/>
          </a:p>
        </p:txBody>
      </p:sp>
      <p:sp>
        <p:nvSpPr>
          <p:cNvPr id="21" name="warning"/>
          <p:cNvSpPr/>
          <p:nvPr/>
        </p:nvSpPr>
        <p:spPr>
          <a:xfrm>
            <a:off x="457200" y="3977640"/>
            <a:ext cx="5669280" cy="594360"/>
          </a:xfrm>
          <a:prstGeom prst="rect">
            <a:avLst/>
          </a:prstGeom>
          <a:solidFill>
            <a:srgbClr val="FDECEA"/>
          </a:solidFill>
          <a:ln w="9525">
            <a:solidFill>
              <a:srgbClr val="B8C4D6"/>
            </a:solidFill>
            <a:prstDash val="solid"/>
          </a:ln>
        </p:spPr>
      </p:sp>
      <p:sp>
        <p:nvSpPr>
          <p:cNvPr id="22" name="Text 17"/>
          <p:cNvSpPr txBox="1"/>
          <p:nvPr/>
        </p:nvSpPr>
        <p:spPr>
          <a:xfrm>
            <a:off x="640080" y="3977640"/>
            <a:ext cx="5394960" cy="594360"/>
          </a:xfrm>
          <a:prstGeom prst="rect">
            <a:avLst/>
          </a:prstGeom>
          <a:noFill/>
          <a:ln/>
        </p:spPr>
        <p:txBody>
          <a:bodyPr wrap="square" lIns="0" tIns="0" rIns="0" bIns="0" rtlCol="0" anchor="ctr"/>
          <a:lstStyle/>
          <a:p>
            <a:pPr indent="0" marL="0">
              <a:buNone/>
            </a:pPr>
            <a:r>
              <a:rPr lang="en-US" sz="1300" b="1" dirty="0">
                <a:solidFill>
                  <a:schemeClr val="accent3"/>
                </a:solidFill>
              </a:rPr>
              <a:t>Safety: </a:t>
            </a:r>
            <a:pPr indent="0" marL="0">
              <a:buNone/>
            </a:pPr>
            <a:r>
              <a:rPr lang="en-US" sz="1300" dirty="0">
                <a:solidFill>
                  <a:schemeClr val="tx1"/>
                </a:solidFill>
              </a:rPr>
              <a:t>switch OFF before plugging in USB. The battery feeds the 5V rail directly.</a:t>
            </a:r>
            <a:endParaRPr lang="en-US" sz="1300" dirty="0"/>
          </a:p>
        </p:txBody>
      </p:sp>
      <p:pic>
        <p:nvPicPr>
          <p:cNvPr id="23" name="battery photo" descr="img/battery.jpg">    </p:cNvPr>
          <p:cNvPicPr>
            <a:picLocks noChangeAspect="1"/>
          </p:cNvPicPr>
          <p:nvPr/>
        </p:nvPicPr>
        <p:blipFill>
          <a:blip r:embed="rId4"/>
          <a:stretch>
            <a:fillRect/>
          </a:stretch>
        </p:blipFill>
        <p:spPr>
          <a:xfrm>
            <a:off x="6400800" y="1363103"/>
            <a:ext cx="2286000" cy="3034513"/>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Circuit diagram</a:t>
            </a:r>
            <a:endParaRPr lang="en-US" sz="3000" dirty="0"/>
          </a:p>
        </p:txBody>
      </p:sp>
      <p:pic>
        <p:nvPicPr>
          <p:cNvPr id="3" name="circuit diagram" descr="img/circuit.png">    </p:cNvPr>
          <p:cNvPicPr>
            <a:picLocks noChangeAspect="1"/>
          </p:cNvPicPr>
          <p:nvPr/>
        </p:nvPicPr>
        <p:blipFill>
          <a:blip r:embed="rId1"/>
          <a:stretch>
            <a:fillRect/>
          </a:stretch>
        </p:blipFill>
        <p:spPr>
          <a:xfrm>
            <a:off x="530352" y="1097280"/>
            <a:ext cx="5705856" cy="3566160"/>
          </a:xfrm>
          <a:prstGeom prst="rect">
            <a:avLst/>
          </a:prstGeom>
        </p:spPr>
      </p:pic>
      <p:sp>
        <p:nvSpPr>
          <p:cNvPr id="4" name="Text 1"/>
          <p:cNvSpPr txBox="1"/>
          <p:nvPr/>
        </p:nvSpPr>
        <p:spPr>
          <a:xfrm>
            <a:off x="6492240" y="1371600"/>
            <a:ext cx="219456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Shared +5 V and GND rails</a:t>
            </a:r>
            <a:endParaRPr lang="en-US" sz="1400" dirty="0"/>
          </a:p>
          <a:p>
            <a:pPr marL="342900" indent="-342900">
              <a:spcAft>
                <a:spcPts val="800"/>
              </a:spcAft>
              <a:buSzPct val="100000"/>
              <a:buChar char="•"/>
            </a:pPr>
            <a:r>
              <a:rPr lang="en-US" sz="1400" dirty="0">
                <a:solidFill>
                  <a:schemeClr val="tx1"/>
                </a:solidFill>
              </a:rPr>
              <a:t>Trig → D5, Echo → D6</a:t>
            </a:r>
            <a:endParaRPr lang="en-US" sz="1400" dirty="0"/>
          </a:p>
          <a:p>
            <a:pPr marL="342900" indent="-342900">
              <a:spcAft>
                <a:spcPts val="800"/>
              </a:spcAft>
              <a:buSzPct val="100000"/>
              <a:buChar char="•"/>
            </a:pPr>
            <a:r>
              <a:rPr lang="en-US" sz="1400" dirty="0">
                <a:solidFill>
                  <a:schemeClr val="tx1"/>
                </a:solidFill>
              </a:rPr>
              <a:t>Moisture A0 → A0</a:t>
            </a:r>
            <a:endParaRPr lang="en-US" sz="1400" dirty="0"/>
          </a:p>
          <a:p>
            <a:pPr marL="342900" indent="-342900">
              <a:spcAft>
                <a:spcPts val="800"/>
              </a:spcAft>
              <a:buSzPct val="100000"/>
              <a:buChar char="•"/>
            </a:pPr>
            <a:r>
              <a:rPr lang="en-US" sz="1400" dirty="0">
                <a:solidFill>
                  <a:schemeClr val="tx1"/>
                </a:solidFill>
              </a:rPr>
              <a:t>Buzzer → D2</a:t>
            </a:r>
            <a:endParaRPr lang="en-US" sz="1400" dirty="0"/>
          </a:p>
          <a:p>
            <a:pPr marL="342900" indent="-342900">
              <a:spcAft>
                <a:spcPts val="800"/>
              </a:spcAft>
              <a:buSzPct val="100000"/>
              <a:buChar char="•"/>
            </a:pPr>
            <a:r>
              <a:rPr lang="en-US" sz="1400" dirty="0">
                <a:solidFill>
                  <a:schemeClr val="tx1"/>
                </a:solidFill>
              </a:rPr>
              <a:t>Capacitor across 5V and GND</a:t>
            </a:r>
            <a:endParaRPr lang="en-US" sz="1400" dirty="0"/>
          </a:p>
          <a:p>
            <a:pPr marL="342900" indent="-342900">
              <a:spcAft>
                <a:spcPts val="800"/>
              </a:spcAft>
              <a:buSzPct val="100000"/>
              <a:buChar char="•"/>
            </a:pPr>
            <a:r>
              <a:rPr lang="en-US" sz="1400" dirty="0">
                <a:solidFill>
                  <a:schemeClr val="tx1"/>
                </a:solidFill>
              </a:rPr>
              <a:t>D3 reserved for a vibration motor</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Pin connections</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2926080"/>
                <a:gridCol w="1645920"/>
                <a:gridCol w="3657600"/>
              </a:tblGrid>
              <a:tr h="384048">
                <a:tc>
                  <a:txBody>
                    <a:bodyPr/>
                    <a:lstStyle/>
                    <a:p>
                      <a:pPr indent="0" marL="0">
                        <a:buNone/>
                      </a:pPr>
                      <a:r>
                        <a:rPr lang="en-US" sz="1400" b="1" dirty="0">
                          <a:solidFill>
                            <a:schemeClr val="bg1"/>
                          </a:solidFill>
                        </a:rPr>
                        <a:t>Device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Nano pin</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Purpose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384048">
                <a:tc>
                  <a:txBody>
                    <a:bodyPr/>
                    <a:lstStyle/>
                    <a:p>
                      <a:pPr indent="0" marL="0">
                        <a:buNone/>
                      </a:pPr>
                      <a:r>
                        <a:rPr lang="en-US" sz="1400" dirty="0">
                          <a:solidFill>
                            <a:schemeClr val="tx1"/>
                          </a:solidFill>
                        </a:rPr>
                        <a:t>Battery + (via switch)</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Power, 3.0–4.2 V</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Battery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Common ground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Trig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D5</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10 µs trigger pulse (output)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HC-SR04 Echo</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D6</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Echo pulse width (input)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Moisture value 0–1023</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LM393 D0</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Not used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Buzzer +</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D2</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HIGH = sound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384048">
                <a:tc>
                  <a:txBody>
                    <a:bodyPr/>
                    <a:lstStyle/>
                    <a:p>
                      <a:pPr indent="0" marL="0">
                        <a:buNone/>
                      </a:pPr>
                      <a:r>
                        <a:rPr lang="en-US" sz="1400" dirty="0">
                          <a:solidFill>
                            <a:schemeClr val="tx1"/>
                          </a:solidFill>
                        </a:rPr>
                        <a:t>Sensor VCC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5V / GND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Module power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Algorithm</a:t>
            </a:r>
            <a:endParaRPr lang="en-US" sz="3000" dirty="0"/>
          </a:p>
        </p:txBody>
      </p:sp>
      <p:sp>
        <p:nvSpPr>
          <p:cNvPr id="3" name="algorithm step"/>
          <p:cNvSpPr/>
          <p:nvPr/>
        </p:nvSpPr>
        <p:spPr>
          <a:xfrm>
            <a:off x="457200" y="1188720"/>
            <a:ext cx="2606040" cy="1463040"/>
          </a:xfrm>
          <a:prstGeom prst="rect">
            <a:avLst/>
          </a:prstGeom>
          <a:solidFill>
            <a:srgbClr val="EEF2F7"/>
          </a:solidFill>
          <a:ln w="9525">
            <a:solidFill>
              <a:srgbClr val="B8C4D6"/>
            </a:solidFill>
            <a:prstDash val="solid"/>
          </a:ln>
        </p:spPr>
      </p:sp>
      <p:sp>
        <p:nvSpPr>
          <p:cNvPr id="4" name="Text 2"/>
          <p:cNvSpPr txBox="1"/>
          <p:nvPr/>
        </p:nvSpPr>
        <p:spPr>
          <a:xfrm>
            <a:off x="64008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1</a:t>
            </a:r>
            <a:endParaRPr lang="en-US" sz="2400" dirty="0"/>
          </a:p>
        </p:txBody>
      </p:sp>
      <p:sp>
        <p:nvSpPr>
          <p:cNvPr id="5" name="Text 3"/>
          <p:cNvSpPr txBox="1"/>
          <p:nvPr/>
        </p:nvSpPr>
        <p:spPr>
          <a:xfrm>
            <a:off x="109728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Initialise</a:t>
            </a:r>
            <a:endParaRPr lang="en-US" sz="1600" dirty="0"/>
          </a:p>
        </p:txBody>
      </p:sp>
      <p:sp>
        <p:nvSpPr>
          <p:cNvPr id="6" name="Text 4"/>
          <p:cNvSpPr txBox="1"/>
          <p:nvPr/>
        </p:nvSpPr>
        <p:spPr>
          <a:xfrm>
            <a:off x="64008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Set pin modes, start Serial at 9600</a:t>
            </a:r>
            <a:endParaRPr lang="en-US" sz="1300" dirty="0"/>
          </a:p>
        </p:txBody>
      </p:sp>
      <p:sp>
        <p:nvSpPr>
          <p:cNvPr id="7" name="algorithm step"/>
          <p:cNvSpPr/>
          <p:nvPr/>
        </p:nvSpPr>
        <p:spPr>
          <a:xfrm>
            <a:off x="3246120" y="1188720"/>
            <a:ext cx="2606040" cy="1463040"/>
          </a:xfrm>
          <a:prstGeom prst="rect">
            <a:avLst/>
          </a:prstGeom>
          <a:solidFill>
            <a:srgbClr val="EEF2F7"/>
          </a:solidFill>
          <a:ln w="9525">
            <a:solidFill>
              <a:srgbClr val="B8C4D6"/>
            </a:solidFill>
            <a:prstDash val="solid"/>
          </a:ln>
        </p:spPr>
      </p:sp>
      <p:sp>
        <p:nvSpPr>
          <p:cNvPr id="8" name="Text 6"/>
          <p:cNvSpPr txBox="1"/>
          <p:nvPr/>
        </p:nvSpPr>
        <p:spPr>
          <a:xfrm>
            <a:off x="342900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2</a:t>
            </a:r>
            <a:endParaRPr lang="en-US" sz="2400" dirty="0"/>
          </a:p>
        </p:txBody>
      </p:sp>
      <p:sp>
        <p:nvSpPr>
          <p:cNvPr id="9" name="Text 7"/>
          <p:cNvSpPr txBox="1"/>
          <p:nvPr/>
        </p:nvSpPr>
        <p:spPr>
          <a:xfrm>
            <a:off x="388620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Measure distance</a:t>
            </a:r>
            <a:endParaRPr lang="en-US" sz="1600" dirty="0"/>
          </a:p>
        </p:txBody>
      </p:sp>
      <p:sp>
        <p:nvSpPr>
          <p:cNvPr id="10" name="Text 8"/>
          <p:cNvSpPr txBox="1"/>
          <p:nvPr/>
        </p:nvSpPr>
        <p:spPr>
          <a:xfrm>
            <a:off x="342900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Trigger, pulseIn() with 30 ms timeout, d = t × 0.034 / 2</a:t>
            </a:r>
            <a:endParaRPr lang="en-US" sz="1300" dirty="0"/>
          </a:p>
        </p:txBody>
      </p:sp>
      <p:sp>
        <p:nvSpPr>
          <p:cNvPr id="11" name="algorithm step"/>
          <p:cNvSpPr/>
          <p:nvPr/>
        </p:nvSpPr>
        <p:spPr>
          <a:xfrm>
            <a:off x="6035040" y="1188720"/>
            <a:ext cx="2606040" cy="1463040"/>
          </a:xfrm>
          <a:prstGeom prst="rect">
            <a:avLst/>
          </a:prstGeom>
          <a:solidFill>
            <a:srgbClr val="EEF2F7"/>
          </a:solidFill>
          <a:ln w="9525">
            <a:solidFill>
              <a:srgbClr val="B8C4D6"/>
            </a:solidFill>
            <a:prstDash val="solid"/>
          </a:ln>
        </p:spPr>
      </p:sp>
      <p:sp>
        <p:nvSpPr>
          <p:cNvPr id="12" name="Text 10"/>
          <p:cNvSpPr txBox="1"/>
          <p:nvPr/>
        </p:nvSpPr>
        <p:spPr>
          <a:xfrm>
            <a:off x="6217920" y="132588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3</a:t>
            </a:r>
            <a:endParaRPr lang="en-US" sz="2400" dirty="0"/>
          </a:p>
        </p:txBody>
      </p:sp>
      <p:sp>
        <p:nvSpPr>
          <p:cNvPr id="13" name="Text 11"/>
          <p:cNvSpPr txBox="1"/>
          <p:nvPr/>
        </p:nvSpPr>
        <p:spPr>
          <a:xfrm>
            <a:off x="6675120" y="1371600"/>
            <a:ext cx="1828800" cy="365760"/>
          </a:xfrm>
          <a:prstGeom prst="rect">
            <a:avLst/>
          </a:prstGeom>
          <a:noFill/>
          <a:ln/>
        </p:spPr>
        <p:txBody>
          <a:bodyPr wrap="square" lIns="0" tIns="0" rIns="0" bIns="0" rtlCol="0" anchor="t"/>
          <a:lstStyle/>
          <a:p>
            <a:pPr indent="0" marL="0">
              <a:buNone/>
            </a:pPr>
            <a:r>
              <a:rPr lang="en-US" sz="1600" b="1" dirty="0">
                <a:solidFill>
                  <a:schemeClr val="tx2"/>
                </a:solidFill>
              </a:rPr>
              <a:t>Read moisture</a:t>
            </a:r>
            <a:endParaRPr lang="en-US" sz="1600" dirty="0"/>
          </a:p>
        </p:txBody>
      </p:sp>
      <p:sp>
        <p:nvSpPr>
          <p:cNvPr id="14" name="Text 12"/>
          <p:cNvSpPr txBox="1"/>
          <p:nvPr/>
        </p:nvSpPr>
        <p:spPr>
          <a:xfrm>
            <a:off x="6217920" y="1828800"/>
            <a:ext cx="2286000" cy="731520"/>
          </a:xfrm>
          <a:prstGeom prst="rect">
            <a:avLst/>
          </a:prstGeom>
          <a:noFill/>
          <a:ln/>
        </p:spPr>
        <p:txBody>
          <a:bodyPr wrap="square" lIns="0" tIns="0" rIns="0" bIns="0" rtlCol="0" anchor="t"/>
          <a:lstStyle/>
          <a:p>
            <a:pPr indent="0" marL="0">
              <a:buNone/>
            </a:pPr>
            <a:r>
              <a:rPr lang="en-US" sz="1300" dirty="0">
                <a:solidFill>
                  <a:schemeClr val="tx1"/>
                </a:solidFill>
              </a:rPr>
              <a:t>m = analogRead(A0), 0–1023</a:t>
            </a:r>
            <a:endParaRPr lang="en-US" sz="1300" dirty="0"/>
          </a:p>
        </p:txBody>
      </p:sp>
      <p:sp>
        <p:nvSpPr>
          <p:cNvPr id="15" name="algorithm step"/>
          <p:cNvSpPr/>
          <p:nvPr/>
        </p:nvSpPr>
        <p:spPr>
          <a:xfrm>
            <a:off x="457200" y="2880360"/>
            <a:ext cx="2606040" cy="1463040"/>
          </a:xfrm>
          <a:prstGeom prst="rect">
            <a:avLst/>
          </a:prstGeom>
          <a:solidFill>
            <a:srgbClr val="FDECEA"/>
          </a:solidFill>
          <a:ln w="9525">
            <a:solidFill>
              <a:srgbClr val="B8C4D6"/>
            </a:solidFill>
            <a:prstDash val="solid"/>
          </a:ln>
        </p:spPr>
      </p:sp>
      <p:sp>
        <p:nvSpPr>
          <p:cNvPr id="16" name="Text 14"/>
          <p:cNvSpPr txBox="1"/>
          <p:nvPr/>
        </p:nvSpPr>
        <p:spPr>
          <a:xfrm>
            <a:off x="64008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4</a:t>
            </a:r>
            <a:endParaRPr lang="en-US" sz="2400" dirty="0"/>
          </a:p>
        </p:txBody>
      </p:sp>
      <p:sp>
        <p:nvSpPr>
          <p:cNvPr id="17" name="Text 15"/>
          <p:cNvSpPr txBox="1"/>
          <p:nvPr/>
        </p:nvSpPr>
        <p:spPr>
          <a:xfrm>
            <a:off x="109728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Water?</a:t>
            </a:r>
            <a:endParaRPr lang="en-US" sz="1600" dirty="0"/>
          </a:p>
        </p:txBody>
      </p:sp>
      <p:sp>
        <p:nvSpPr>
          <p:cNvPr id="18" name="Text 16"/>
          <p:cNvSpPr txBox="1"/>
          <p:nvPr/>
        </p:nvSpPr>
        <p:spPr>
          <a:xfrm>
            <a:off x="64008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If m &lt; 500, buzzer ON continuously</a:t>
            </a:r>
            <a:endParaRPr lang="en-US" sz="1300" dirty="0"/>
          </a:p>
        </p:txBody>
      </p:sp>
      <p:sp>
        <p:nvSpPr>
          <p:cNvPr id="19" name="algorithm step"/>
          <p:cNvSpPr/>
          <p:nvPr/>
        </p:nvSpPr>
        <p:spPr>
          <a:xfrm>
            <a:off x="3246120" y="2880360"/>
            <a:ext cx="2606040" cy="1463040"/>
          </a:xfrm>
          <a:prstGeom prst="rect">
            <a:avLst/>
          </a:prstGeom>
          <a:solidFill>
            <a:srgbClr val="FFF3E0"/>
          </a:solidFill>
          <a:ln w="9525">
            <a:solidFill>
              <a:srgbClr val="B8C4D6"/>
            </a:solidFill>
            <a:prstDash val="solid"/>
          </a:ln>
        </p:spPr>
      </p:sp>
      <p:sp>
        <p:nvSpPr>
          <p:cNvPr id="20" name="Text 18"/>
          <p:cNvSpPr txBox="1"/>
          <p:nvPr/>
        </p:nvSpPr>
        <p:spPr>
          <a:xfrm>
            <a:off x="342900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5</a:t>
            </a:r>
            <a:endParaRPr lang="en-US" sz="2400" dirty="0"/>
          </a:p>
        </p:txBody>
      </p:sp>
      <p:sp>
        <p:nvSpPr>
          <p:cNvPr id="21" name="Text 19"/>
          <p:cNvSpPr txBox="1"/>
          <p:nvPr/>
        </p:nvSpPr>
        <p:spPr>
          <a:xfrm>
            <a:off x="388620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Obstacle?</a:t>
            </a:r>
            <a:endParaRPr lang="en-US" sz="1600" dirty="0"/>
          </a:p>
        </p:txBody>
      </p:sp>
      <p:sp>
        <p:nvSpPr>
          <p:cNvPr id="22" name="Text 20"/>
          <p:cNvSpPr txBox="1"/>
          <p:nvPr/>
        </p:nvSpPr>
        <p:spPr>
          <a:xfrm>
            <a:off x="342900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if 0 &lt; d &lt; 50, beep 50 ms, wait map(d) = 50–400 ms</a:t>
            </a:r>
            <a:endParaRPr lang="en-US" sz="1300" dirty="0"/>
          </a:p>
        </p:txBody>
      </p:sp>
      <p:sp>
        <p:nvSpPr>
          <p:cNvPr id="23" name="algorithm step"/>
          <p:cNvSpPr/>
          <p:nvPr/>
        </p:nvSpPr>
        <p:spPr>
          <a:xfrm>
            <a:off x="6035040" y="2880360"/>
            <a:ext cx="2606040" cy="1463040"/>
          </a:xfrm>
          <a:prstGeom prst="rect">
            <a:avLst/>
          </a:prstGeom>
          <a:solidFill>
            <a:srgbClr val="E6F4EA"/>
          </a:solidFill>
          <a:ln w="9525">
            <a:solidFill>
              <a:srgbClr val="B8C4D6"/>
            </a:solidFill>
            <a:prstDash val="solid"/>
          </a:ln>
        </p:spPr>
      </p:sp>
      <p:sp>
        <p:nvSpPr>
          <p:cNvPr id="24" name="Text 22"/>
          <p:cNvSpPr txBox="1"/>
          <p:nvPr/>
        </p:nvSpPr>
        <p:spPr>
          <a:xfrm>
            <a:off x="6217920" y="3017520"/>
            <a:ext cx="457200" cy="457200"/>
          </a:xfrm>
          <a:prstGeom prst="rect">
            <a:avLst/>
          </a:prstGeom>
          <a:noFill/>
          <a:ln/>
        </p:spPr>
        <p:txBody>
          <a:bodyPr wrap="square" lIns="0" tIns="0" rIns="0" bIns="0" rtlCol="0" anchor="t"/>
          <a:lstStyle/>
          <a:p>
            <a:pPr indent="0" marL="0">
              <a:buNone/>
            </a:pPr>
            <a:r>
              <a:rPr lang="en-US" sz="2400" b="1" dirty="0">
                <a:solidFill>
                  <a:schemeClr val="accent2"/>
                </a:solidFill>
                <a:latin typeface="Times New Roman" pitchFamily="34" charset="0"/>
                <a:ea typeface="Times New Roman" pitchFamily="34" charset="-122"/>
                <a:cs typeface="Times New Roman" pitchFamily="34" charset="-120"/>
              </a:rPr>
              <a:t>6</a:t>
            </a:r>
            <a:endParaRPr lang="en-US" sz="2400" dirty="0"/>
          </a:p>
        </p:txBody>
      </p:sp>
      <p:sp>
        <p:nvSpPr>
          <p:cNvPr id="25" name="Text 23"/>
          <p:cNvSpPr txBox="1"/>
          <p:nvPr/>
        </p:nvSpPr>
        <p:spPr>
          <a:xfrm>
            <a:off x="6675120" y="3063240"/>
            <a:ext cx="1828800" cy="365760"/>
          </a:xfrm>
          <a:prstGeom prst="rect">
            <a:avLst/>
          </a:prstGeom>
          <a:noFill/>
          <a:ln/>
        </p:spPr>
        <p:txBody>
          <a:bodyPr wrap="square" lIns="0" tIns="0" rIns="0" bIns="0" rtlCol="0" anchor="t"/>
          <a:lstStyle/>
          <a:p>
            <a:pPr indent="0" marL="0">
              <a:buNone/>
            </a:pPr>
            <a:r>
              <a:rPr lang="en-US" sz="1600" b="1" dirty="0">
                <a:solidFill>
                  <a:schemeClr val="tx2"/>
                </a:solidFill>
              </a:rPr>
              <a:t>Clear</a:t>
            </a:r>
            <a:endParaRPr lang="en-US" sz="1600" dirty="0"/>
          </a:p>
        </p:txBody>
      </p:sp>
      <p:sp>
        <p:nvSpPr>
          <p:cNvPr id="26" name="Text 24"/>
          <p:cNvSpPr txBox="1"/>
          <p:nvPr/>
        </p:nvSpPr>
        <p:spPr>
          <a:xfrm>
            <a:off x="6217920" y="3520440"/>
            <a:ext cx="2286000" cy="731520"/>
          </a:xfrm>
          <a:prstGeom prst="rect">
            <a:avLst/>
          </a:prstGeom>
          <a:noFill/>
          <a:ln/>
        </p:spPr>
        <p:txBody>
          <a:bodyPr wrap="square" lIns="0" tIns="0" rIns="0" bIns="0" rtlCol="0" anchor="t"/>
          <a:lstStyle/>
          <a:p>
            <a:pPr indent="0" marL="0">
              <a:buNone/>
            </a:pPr>
            <a:r>
              <a:rPr lang="en-US" sz="1300" dirty="0">
                <a:solidFill>
                  <a:schemeClr val="tx1"/>
                </a:solidFill>
              </a:rPr>
              <a:t>Else buzzer OFF; wait 30 ms and repeat</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Data flow graph</a:t>
            </a:r>
            <a:endParaRPr lang="en-US" sz="3000" dirty="0"/>
          </a:p>
        </p:txBody>
      </p:sp>
      <p:pic>
        <p:nvPicPr>
          <p:cNvPr id="3" name="data flow graph" descr="img/dfg.png">    </p:cNvPr>
          <p:cNvPicPr>
            <a:picLocks noChangeAspect="1"/>
          </p:cNvPicPr>
          <p:nvPr/>
        </p:nvPicPr>
        <p:blipFill>
          <a:blip r:embed="rId1"/>
          <a:stretch>
            <a:fillRect/>
          </a:stretch>
        </p:blipFill>
        <p:spPr>
          <a:xfrm>
            <a:off x="984738" y="1051560"/>
            <a:ext cx="7174523"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Echo time t becomes distance d, which feeds two branches (near, and beep gap g); moisture m becomes wet. The priority select drives the buzzer.</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State diagram</a:t>
            </a:r>
            <a:endParaRPr lang="en-US" sz="3000" dirty="0"/>
          </a:p>
        </p:txBody>
      </p:sp>
      <p:pic>
        <p:nvPicPr>
          <p:cNvPr id="3" name="state diagram" descr="img/state.png">    </p:cNvPr>
          <p:cNvPicPr>
            <a:picLocks noChangeAspect="1"/>
          </p:cNvPicPr>
          <p:nvPr/>
        </p:nvPicPr>
        <p:blipFill>
          <a:blip r:embed="rId1"/>
          <a:stretch>
            <a:fillRect/>
          </a:stretch>
        </p:blipFill>
        <p:spPr>
          <a:xfrm>
            <a:off x="1360449" y="1051560"/>
            <a:ext cx="6423102" cy="3291840"/>
          </a:xfrm>
          <a:prstGeom prst="rect">
            <a:avLst/>
          </a:prstGeom>
        </p:spPr>
      </p:pic>
      <p:sp>
        <p:nvSpPr>
          <p:cNvPr id="4" name="Text 1"/>
          <p:cNvSpPr txBox="1"/>
          <p:nvPr/>
        </p:nvSpPr>
        <p:spPr>
          <a:xfrm>
            <a:off x="457200" y="4370832"/>
            <a:ext cx="8229600" cy="365760"/>
          </a:xfrm>
          <a:prstGeom prst="rect">
            <a:avLst/>
          </a:prstGeom>
          <a:noFill/>
          <a:ln/>
        </p:spPr>
        <p:txBody>
          <a:bodyPr wrap="square" lIns="0" tIns="0" rIns="0" bIns="0" rtlCol="0" anchor="t"/>
          <a:lstStyle/>
          <a:p>
            <a:pPr indent="0" marL="0">
              <a:buNone/>
            </a:pPr>
            <a:r>
              <a:rPr lang="en-US" sz="1200" dirty="0">
                <a:solidFill>
                  <a:schemeClr val="accent5"/>
                </a:solidFill>
              </a:rPr>
              <a:t>Every loop the system senses, then enters exactly one state: WATER, OBSTACLE or CLEAR. Water always wins.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Key code logic</a:t>
            </a:r>
            <a:endParaRPr lang="en-US" sz="3000" dirty="0"/>
          </a:p>
        </p:txBody>
      </p:sp>
      <p:sp>
        <p:nvSpPr>
          <p:cNvPr id="3" name="code box"/>
          <p:cNvSpPr/>
          <p:nvPr/>
        </p:nvSpPr>
        <p:spPr>
          <a:xfrm>
            <a:off x="457200" y="1188720"/>
            <a:ext cx="5120640" cy="3383280"/>
          </a:xfrm>
          <a:prstGeom prst="rect">
            <a:avLst/>
          </a:prstGeom>
          <a:solidFill>
            <a:schemeClr val="tx2"/>
          </a:solidFill>
          <a:ln w="9525">
            <a:solidFill>
              <a:srgbClr val="B8C4D6"/>
            </a:solidFill>
            <a:prstDash val="solid"/>
          </a:ln>
        </p:spPr>
      </p:sp>
      <p:sp>
        <p:nvSpPr>
          <p:cNvPr id="4" name="Text 2"/>
          <p:cNvSpPr txBox="1"/>
          <p:nvPr/>
        </p:nvSpPr>
        <p:spPr>
          <a:xfrm>
            <a:off x="685800" y="1325880"/>
            <a:ext cx="4754880" cy="315468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int readDistanceCm()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HIGH);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delayMicroseconds(10);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digitalWrite(TRIG_PIN, LOW);</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unsigned long 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pulseIn(ECHO_PIN, HIGH, 30000);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return t * 0.034 / 2;</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if (soil &lt; 500)        // water</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buzzer ON (continuous);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if (d &gt; 0 &amp;&amp; d &lt; 50)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beep, gap = map(d,2,50,50,400);</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else  buzzer OFF;     // clear</a:t>
            </a:r>
            <a:endParaRPr lang="en-US" sz="1200" dirty="0"/>
          </a:p>
        </p:txBody>
      </p:sp>
      <p:sp>
        <p:nvSpPr>
          <p:cNvPr id="5" name="explanation card"/>
          <p:cNvSpPr/>
          <p:nvPr/>
        </p:nvSpPr>
        <p:spPr>
          <a:xfrm>
            <a:off x="5852160" y="1188720"/>
            <a:ext cx="2834640" cy="1005840"/>
          </a:xfrm>
          <a:prstGeom prst="rect">
            <a:avLst/>
          </a:prstGeom>
          <a:solidFill>
            <a:schemeClr val="bg2"/>
          </a:solidFill>
          <a:ln w="9525">
            <a:solidFill>
              <a:srgbClr val="B8C4D6"/>
            </a:solidFill>
            <a:prstDash val="solid"/>
          </a:ln>
        </p:spPr>
      </p:sp>
      <p:sp>
        <p:nvSpPr>
          <p:cNvPr id="6" name="Text 4"/>
          <p:cNvSpPr txBox="1"/>
          <p:nvPr/>
        </p:nvSpPr>
        <p:spPr>
          <a:xfrm>
            <a:off x="6035040" y="1298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pulseIn() timeout</a:t>
            </a:r>
            <a:endParaRPr lang="en-US" sz="1500" dirty="0"/>
          </a:p>
        </p:txBody>
      </p:sp>
      <p:sp>
        <p:nvSpPr>
          <p:cNvPr id="7" name="Text 5"/>
          <p:cNvSpPr txBox="1"/>
          <p:nvPr/>
        </p:nvSpPr>
        <p:spPr>
          <a:xfrm>
            <a:off x="6035040" y="1627632"/>
            <a:ext cx="2560320" cy="548640"/>
          </a:xfrm>
          <a:prstGeom prst="rect">
            <a:avLst/>
          </a:prstGeom>
          <a:noFill/>
          <a:ln/>
        </p:spPr>
        <p:txBody>
          <a:bodyPr wrap="square" lIns="0" tIns="0" rIns="0" bIns="0" rtlCol="0" anchor="t"/>
          <a:lstStyle/>
          <a:p>
            <a:pPr indent="0" marL="0">
              <a:buNone/>
            </a:pPr>
            <a:r>
              <a:rPr lang="en-US" sz="1200" dirty="0">
                <a:solidFill>
                  <a:schemeClr val="tx1"/>
                </a:solidFill>
              </a:rPr>
              <a:t>30 ms, so a missed echo cannot freeze the loop</a:t>
            </a:r>
            <a:endParaRPr lang="en-US" sz="1200" dirty="0"/>
          </a:p>
        </p:txBody>
      </p:sp>
      <p:sp>
        <p:nvSpPr>
          <p:cNvPr id="8" name="explanation card"/>
          <p:cNvSpPr/>
          <p:nvPr/>
        </p:nvSpPr>
        <p:spPr>
          <a:xfrm>
            <a:off x="5852160" y="2331720"/>
            <a:ext cx="2834640" cy="1005840"/>
          </a:xfrm>
          <a:prstGeom prst="rect">
            <a:avLst/>
          </a:prstGeom>
          <a:solidFill>
            <a:schemeClr val="bg2"/>
          </a:solidFill>
          <a:ln w="9525">
            <a:solidFill>
              <a:srgbClr val="B8C4D6"/>
            </a:solidFill>
            <a:prstDash val="solid"/>
          </a:ln>
        </p:spPr>
      </p:sp>
      <p:sp>
        <p:nvSpPr>
          <p:cNvPr id="9" name="Text 7"/>
          <p:cNvSpPr txBox="1"/>
          <p:nvPr/>
        </p:nvSpPr>
        <p:spPr>
          <a:xfrm>
            <a:off x="6035040" y="2441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0.034 / 2</a:t>
            </a:r>
            <a:endParaRPr lang="en-US" sz="1500" dirty="0"/>
          </a:p>
        </p:txBody>
      </p:sp>
      <p:sp>
        <p:nvSpPr>
          <p:cNvPr id="10" name="Text 8"/>
          <p:cNvSpPr txBox="1"/>
          <p:nvPr/>
        </p:nvSpPr>
        <p:spPr>
          <a:xfrm>
            <a:off x="6035040" y="2770632"/>
            <a:ext cx="2560320" cy="548640"/>
          </a:xfrm>
          <a:prstGeom prst="rect">
            <a:avLst/>
          </a:prstGeom>
          <a:noFill/>
          <a:ln/>
        </p:spPr>
        <p:txBody>
          <a:bodyPr wrap="square" lIns="0" tIns="0" rIns="0" bIns="0" rtlCol="0" anchor="t"/>
          <a:lstStyle/>
          <a:p>
            <a:pPr indent="0" marL="0">
              <a:buNone/>
            </a:pPr>
            <a:r>
              <a:rPr lang="en-US" sz="1200" dirty="0">
                <a:solidFill>
                  <a:schemeClr val="tx1"/>
                </a:solidFill>
              </a:rPr>
              <a:t>Speed of sound in cm/µs, halved for the round trip</a:t>
            </a:r>
            <a:endParaRPr lang="en-US" sz="1200" dirty="0"/>
          </a:p>
        </p:txBody>
      </p:sp>
      <p:sp>
        <p:nvSpPr>
          <p:cNvPr id="11" name="explanation card"/>
          <p:cNvSpPr/>
          <p:nvPr/>
        </p:nvSpPr>
        <p:spPr>
          <a:xfrm>
            <a:off x="5852160" y="3474720"/>
            <a:ext cx="2834640" cy="1005840"/>
          </a:xfrm>
          <a:prstGeom prst="rect">
            <a:avLst/>
          </a:prstGeom>
          <a:solidFill>
            <a:schemeClr val="bg2"/>
          </a:solidFill>
          <a:ln w="9525">
            <a:solidFill>
              <a:srgbClr val="B8C4D6"/>
            </a:solidFill>
            <a:prstDash val="solid"/>
          </a:ln>
        </p:spPr>
      </p:sp>
      <p:sp>
        <p:nvSpPr>
          <p:cNvPr id="12" name="Text 10"/>
          <p:cNvSpPr txBox="1"/>
          <p:nvPr/>
        </p:nvSpPr>
        <p:spPr>
          <a:xfrm>
            <a:off x="6035040" y="3584448"/>
            <a:ext cx="2560320" cy="320040"/>
          </a:xfrm>
          <a:prstGeom prst="rect">
            <a:avLst/>
          </a:prstGeom>
          <a:noFill/>
          <a:ln/>
        </p:spPr>
        <p:txBody>
          <a:bodyPr wrap="square" lIns="0" tIns="0" rIns="0" bIns="0" rtlCol="0" anchor="t"/>
          <a:lstStyle/>
          <a:p>
            <a:pPr indent="0" marL="0">
              <a:buNone/>
            </a:pPr>
            <a:r>
              <a:rPr lang="en-US" sz="1500" b="1" dirty="0">
                <a:solidFill>
                  <a:schemeClr val="accent2"/>
                </a:solidFill>
              </a:rPr>
              <a:t>map()</a:t>
            </a:r>
            <a:endParaRPr lang="en-US" sz="1500" dirty="0"/>
          </a:p>
        </p:txBody>
      </p:sp>
      <p:sp>
        <p:nvSpPr>
          <p:cNvPr id="13" name="Text 11"/>
          <p:cNvSpPr txBox="1"/>
          <p:nvPr/>
        </p:nvSpPr>
        <p:spPr>
          <a:xfrm>
            <a:off x="6035040" y="3913632"/>
            <a:ext cx="2560320" cy="548640"/>
          </a:xfrm>
          <a:prstGeom prst="rect">
            <a:avLst/>
          </a:prstGeom>
          <a:noFill/>
          <a:ln/>
        </p:spPr>
        <p:txBody>
          <a:bodyPr wrap="square" lIns="0" tIns="0" rIns="0" bIns="0" rtlCol="0" anchor="t"/>
          <a:lstStyle/>
          <a:p>
            <a:pPr indent="0" marL="0">
              <a:buNone/>
            </a:pPr>
            <a:r>
              <a:rPr lang="en-US" sz="1200" dirty="0">
                <a:solidFill>
                  <a:schemeClr val="tx1"/>
                </a:solidFill>
              </a:rPr>
              <a:t>Turns 2–50 cm into a 50–400 ms beep gap</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The prototype</a:t>
            </a:r>
            <a:endParaRPr lang="en-US" sz="3000" dirty="0"/>
          </a:p>
        </p:txBody>
      </p:sp>
      <p:pic>
        <p:nvPicPr>
          <p:cNvPr id="3" name="prototype photo" descr="img/overview.jpg">    </p:cNvPr>
          <p:cNvPicPr>
            <a:picLocks noChangeAspect="1"/>
          </p:cNvPicPr>
          <p:nvPr/>
        </p:nvPicPr>
        <p:blipFill>
          <a:blip r:embed="rId1"/>
          <a:stretch>
            <a:fillRect/>
          </a:stretch>
        </p:blipFill>
        <p:spPr>
          <a:xfrm>
            <a:off x="467315" y="1097280"/>
            <a:ext cx="4551770" cy="3429000"/>
          </a:xfrm>
          <a:prstGeom prst="rect">
            <a:avLst/>
          </a:prstGeom>
        </p:spPr>
      </p:pic>
      <p:pic>
        <p:nvPicPr>
          <p:cNvPr id="4" name="probe photo" descr="img/probe.jpg">    </p:cNvPr>
          <p:cNvPicPr>
            <a:picLocks noChangeAspect="1"/>
          </p:cNvPicPr>
          <p:nvPr/>
        </p:nvPicPr>
        <p:blipFill>
          <a:blip r:embed="rId2"/>
          <a:stretch>
            <a:fillRect/>
          </a:stretch>
        </p:blipFill>
        <p:spPr>
          <a:xfrm>
            <a:off x="5303520" y="1317498"/>
            <a:ext cx="1600200" cy="1205484"/>
          </a:xfrm>
          <a:prstGeom prst="rect">
            <a:avLst/>
          </a:prstGeom>
        </p:spPr>
      </p:pic>
      <p:pic>
        <p:nvPicPr>
          <p:cNvPr id="5" name="LM393 photo" descr="img/lm393.jpg">    </p:cNvPr>
          <p:cNvPicPr>
            <a:picLocks noChangeAspect="1"/>
          </p:cNvPicPr>
          <p:nvPr/>
        </p:nvPicPr>
        <p:blipFill>
          <a:blip r:embed="rId3"/>
          <a:stretch>
            <a:fillRect/>
          </a:stretch>
        </p:blipFill>
        <p:spPr>
          <a:xfrm>
            <a:off x="7086600" y="1317498"/>
            <a:ext cx="1600200" cy="1205484"/>
          </a:xfrm>
          <a:prstGeom prst="rect">
            <a:avLst/>
          </a:prstGeom>
        </p:spPr>
      </p:pic>
      <p:pic>
        <p:nvPicPr>
          <p:cNvPr id="6" name="battery photo" descr="img/battery.jpg">    </p:cNvPr>
          <p:cNvPicPr>
            <a:picLocks noChangeAspect="1"/>
          </p:cNvPicPr>
          <p:nvPr/>
        </p:nvPicPr>
        <p:blipFill>
          <a:blip r:embed="rId4"/>
          <a:stretch>
            <a:fillRect/>
          </a:stretch>
        </p:blipFill>
        <p:spPr>
          <a:xfrm>
            <a:off x="5483657" y="2880360"/>
            <a:ext cx="1239926" cy="1645920"/>
          </a:xfrm>
          <a:prstGeom prst="rect">
            <a:avLst/>
          </a:prstGeom>
        </p:spPr>
      </p:pic>
      <p:pic>
        <p:nvPicPr>
          <p:cNvPr id="7" name="switch photo" descr="img/switch.jpg">    </p:cNvPr>
          <p:cNvPicPr>
            <a:picLocks noChangeAspect="1"/>
          </p:cNvPicPr>
          <p:nvPr/>
        </p:nvPicPr>
        <p:blipFill>
          <a:blip r:embed="rId5"/>
          <a:stretch>
            <a:fillRect/>
          </a:stretch>
        </p:blipFill>
        <p:spPr>
          <a:xfrm>
            <a:off x="7086600" y="3100578"/>
            <a:ext cx="1600200" cy="1205484"/>
          </a:xfrm>
          <a:prstGeom prst="rect">
            <a:avLst/>
          </a:prstGeom>
        </p:spPr>
      </p:pic>
      <p:sp>
        <p:nvSpPr>
          <p:cNvPr id="8" name="Text 1"/>
          <p:cNvSpPr txBox="1"/>
          <p:nvPr/>
        </p:nvSpPr>
        <p:spPr>
          <a:xfrm>
            <a:off x="457200" y="4544568"/>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Sensors, Nano, buzzer and power are mounted along a PVC pipe; the probe sits at the tip</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Testing and results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828800"/>
                <a:gridCol w="2377440"/>
                <a:gridCol w="2651760"/>
                <a:gridCol w="1371600"/>
              </a:tblGrid>
              <a:tr h="457200">
                <a:tc>
                  <a:txBody>
                    <a:bodyPr/>
                    <a:lstStyle/>
                    <a:p>
                      <a:pPr indent="0" marL="0">
                        <a:buNone/>
                      </a:pPr>
                      <a:r>
                        <a:rPr lang="en-US" sz="1400" b="1" dirty="0">
                          <a:solidFill>
                            <a:schemeClr val="bg1"/>
                          </a:solidFill>
                        </a:rPr>
                        <a:t>Test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Method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Expected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Power on battery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Switch ON, no USB</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Nano LED on, system runs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Obstacle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Move a notebook from 60 to 5 cm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Beeps under 50 cm, faster when closer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4"/>
                          </a:solidFill>
                        </a:rPr>
                        <a:t>Verified</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Path clear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Point at open space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Silent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Water alert</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Dip probe tip in water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Calibrating</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457200">
                <a:tc>
                  <a:txBody>
                    <a:bodyPr/>
                    <a:lstStyle/>
                    <a:p>
                      <a:pPr indent="0" marL="0">
                        <a:buNone/>
                      </a:pPr>
                      <a:r>
                        <a:rPr lang="en-US" sz="1400" dirty="0">
                          <a:solidFill>
                            <a:schemeClr val="tx1"/>
                          </a:solidFill>
                        </a:rPr>
                        <a:t>Priority</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Water + obstacle together</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dirty="0">
                          <a:solidFill>
                            <a:schemeClr val="tx1"/>
                          </a:solidFill>
                        </a:rPr>
                        <a:t>Continuous tone (water wins)</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indent="0" marL="0">
                        <a:buNone/>
                      </a:pPr>
                      <a:r>
                        <a:rPr lang="en-US" sz="1400" b="1" dirty="0">
                          <a:solidFill>
                            <a:schemeClr val="accent1"/>
                          </a:solidFill>
                        </a:rPr>
                        <a:t>To confirm</a:t>
                      </a:r>
                      <a:endParaRPr lang="en-US" sz="14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ext 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accent5"/>
                </a:solidFill>
              </a:rPr>
              <a:t>Update the Result column after the Serial Monitor tests (dry and wet readings).</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Cost of the cane hardware</a:t>
            </a:r>
            <a:endParaRPr lang="en-US" sz="3000" dirty="0"/>
          </a:p>
        </p:txBody>
      </p:sp>
      <p:graphicFrame>
        <p:nvGraphicFramePr>
          <p:cNvPr id="3" name="Chart 0" descr=""/>
          <p:cNvGraphicFramePr/>
          <p:nvPr/>
        </p:nvGraphicFramePr>
        <p:xfrm>
          <a:off x="457200" y="109728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total card"/>
          <p:cNvSpPr/>
          <p:nvPr/>
        </p:nvSpPr>
        <p:spPr>
          <a:xfrm>
            <a:off x="6126480" y="1188720"/>
            <a:ext cx="2560320" cy="1554480"/>
          </a:xfrm>
          <a:prstGeom prst="rect">
            <a:avLst/>
          </a:prstGeom>
          <a:solidFill>
            <a:schemeClr val="tx2"/>
          </a:solidFill>
          <a:ln w="9525">
            <a:solidFill>
              <a:srgbClr val="B8C4D6"/>
            </a:solidFill>
            <a:prstDash val="solid"/>
          </a:ln>
        </p:spPr>
      </p:sp>
      <p:sp>
        <p:nvSpPr>
          <p:cNvPr id="5" name="Text 2"/>
          <p:cNvSpPr txBox="1"/>
          <p:nvPr/>
        </p:nvSpPr>
        <p:spPr>
          <a:xfrm>
            <a:off x="6309360" y="1325880"/>
            <a:ext cx="2194560" cy="731520"/>
          </a:xfrm>
          <a:prstGeom prst="rect">
            <a:avLst/>
          </a:prstGeom>
          <a:noFill/>
          <a:ln/>
        </p:spPr>
        <p:txBody>
          <a:bodyPr wrap="square" lIns="0" tIns="0" rIns="0" bIns="0" rtlCol="0" anchor="t"/>
          <a:lstStyle/>
          <a:p>
            <a:pPr indent="0" marL="0">
              <a:buNone/>
            </a:pPr>
            <a:r>
              <a:rPr lang="en-US" sz="4000" b="1" dirty="0">
                <a:solidFill>
                  <a:schemeClr val="accent1"/>
                </a:solidFill>
                <a:latin typeface="Times New Roman" pitchFamily="34" charset="0"/>
                <a:ea typeface="Times New Roman" pitchFamily="34" charset="-122"/>
                <a:cs typeface="Times New Roman" pitchFamily="34" charset="-120"/>
              </a:rPr>
              <a:t>₹876</a:t>
            </a:r>
            <a:endParaRPr lang="en-US" sz="4000" dirty="0"/>
          </a:p>
        </p:txBody>
      </p:sp>
      <p:sp>
        <p:nvSpPr>
          <p:cNvPr id="6" name="Text 3"/>
          <p:cNvSpPr txBox="1"/>
          <p:nvPr/>
        </p:nvSpPr>
        <p:spPr>
          <a:xfrm>
            <a:off x="6309360" y="2103120"/>
            <a:ext cx="2194560" cy="365760"/>
          </a:xfrm>
          <a:prstGeom prst="rect">
            <a:avLst/>
          </a:prstGeom>
          <a:noFill/>
          <a:ln/>
        </p:spPr>
        <p:txBody>
          <a:bodyPr wrap="square" lIns="0" tIns="0" rIns="0" bIns="0" rtlCol="0" anchor="t"/>
          <a:lstStyle/>
          <a:p>
            <a:pPr indent="0" marL="0">
              <a:buNone/>
            </a:pPr>
            <a:r>
              <a:rPr lang="en-US" sz="1400" dirty="0">
                <a:solidFill>
                  <a:schemeClr val="bg1"/>
                </a:solidFill>
              </a:rPr>
              <a:t>total cane hardware</a:t>
            </a:r>
            <a:endParaRPr lang="en-US" sz="1400" dirty="0"/>
          </a:p>
        </p:txBody>
      </p:sp>
      <p:sp>
        <p:nvSpPr>
          <p:cNvPr id="7" name="Text 4"/>
          <p:cNvSpPr txBox="1"/>
          <p:nvPr/>
        </p:nvSpPr>
        <p:spPr>
          <a:xfrm>
            <a:off x="6126480" y="2926080"/>
            <a:ext cx="2560320" cy="1554480"/>
          </a:xfrm>
          <a:prstGeom prst="rect">
            <a:avLst/>
          </a:prstGeom>
          <a:noFill/>
          <a:ln/>
        </p:spPr>
        <p:txBody>
          <a:bodyPr wrap="square" lIns="0" tIns="0" rIns="0" bIns="0" rtlCol="0" anchor="t"/>
          <a:lstStyle/>
          <a:p>
            <a:pPr indent="0" marL="0">
              <a:buNone/>
            </a:pPr>
            <a:r>
              <a:rPr lang="en-US" sz="1300" dirty="0">
                <a:solidFill>
                  <a:schemeClr val="accent5"/>
                </a:solidFill>
              </a:rPr>
              <a:t>₹1,805 including tools (₹660) and parts for planned upgrades (₹269). Prices from the supplier invoice; buzzer and PVC body estimated.</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Advantages and limitations</a:t>
            </a:r>
            <a:endParaRPr lang="en-US" sz="3000" dirty="0"/>
          </a:p>
        </p:txBody>
      </p:sp>
      <p:sp>
        <p:nvSpPr>
          <p:cNvPr id="3" name="advantages"/>
          <p:cNvSpPr/>
          <p:nvPr/>
        </p:nvSpPr>
        <p:spPr>
          <a:xfrm>
            <a:off x="457200" y="1188720"/>
            <a:ext cx="4023360" cy="3383280"/>
          </a:xfrm>
          <a:prstGeom prst="rect">
            <a:avLst/>
          </a:prstGeom>
          <a:solidFill>
            <a:srgbClr val="E6F4EA"/>
          </a:solidFill>
          <a:ln w="9525">
            <a:solidFill>
              <a:srgbClr val="B8C4D6"/>
            </a:solidFill>
            <a:prstDash val="solid"/>
          </a:ln>
        </p:spPr>
      </p:sp>
      <p:sp>
        <p:nvSpPr>
          <p:cNvPr id="4" name="limitations"/>
          <p:cNvSpPr/>
          <p:nvPr/>
        </p:nvSpPr>
        <p:spPr>
          <a:xfrm>
            <a:off x="4663440" y="1188720"/>
            <a:ext cx="4023360" cy="3383280"/>
          </a:xfrm>
          <a:prstGeom prst="rect">
            <a:avLst/>
          </a:prstGeom>
          <a:solidFill>
            <a:srgbClr val="FDECEA"/>
          </a:solidFill>
          <a:ln w="9525">
            <a:solidFill>
              <a:srgbClr val="B8C4D6"/>
            </a:solidFill>
            <a:prstDash val="solid"/>
          </a:ln>
        </p:spPr>
      </p:sp>
      <p:pic>
        <p:nvPicPr>
          <p:cNvPr id="5" name="icon" descr="preencoded.png">    </p:cNvPr>
          <p:cNvPicPr>
            <a:picLocks noChangeAspect="1"/>
          </p:cNvPicPr>
          <p:nvPr/>
        </p:nvPicPr>
        <p:blipFill>
          <a:blip r:embed="rId1"/>
          <a:stretch>
            <a:fillRect/>
          </a:stretch>
        </p:blipFill>
        <p:spPr>
          <a:xfrm>
            <a:off x="731520" y="1417320"/>
            <a:ext cx="342900" cy="342900"/>
          </a:xfrm>
          <a:prstGeom prst="rect">
            <a:avLst/>
          </a:prstGeom>
        </p:spPr>
      </p:pic>
      <p:pic>
        <p:nvPicPr>
          <p:cNvPr id="6" name="icon" descr="preencoded.png">    </p:cNvPr>
          <p:cNvPicPr>
            <a:picLocks noChangeAspect="1"/>
          </p:cNvPicPr>
          <p:nvPr/>
        </p:nvPicPr>
        <p:blipFill>
          <a:blip r:embed="rId2"/>
          <a:stretch>
            <a:fillRect/>
          </a:stretch>
        </p:blipFill>
        <p:spPr>
          <a:xfrm>
            <a:off x="4937760" y="1417320"/>
            <a:ext cx="342900" cy="342900"/>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Advantages</a:t>
            </a:r>
            <a:endParaRPr lang="en-US" sz="1800" dirty="0"/>
          </a:p>
        </p:txBody>
      </p:sp>
      <p:sp>
        <p:nvSpPr>
          <p:cNvPr id="8" name="Text 4"/>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1800" b="1" dirty="0">
                <a:solidFill>
                  <a:schemeClr val="tx2"/>
                </a:solidFill>
              </a:rPr>
              <a:t>Limitations</a:t>
            </a:r>
            <a:endParaRPr lang="en-US" sz="1800" dirty="0"/>
          </a:p>
        </p:txBody>
      </p:sp>
      <p:sp>
        <p:nvSpPr>
          <p:cNvPr id="9" name="Text 5"/>
          <p:cNvSpPr txBox="1"/>
          <p:nvPr/>
        </p:nvSpPr>
        <p:spPr>
          <a:xfrm>
            <a:off x="685800" y="2011680"/>
            <a:ext cx="361188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Warns before contact; distance shown by beep rate</a:t>
            </a:r>
            <a:endParaRPr lang="en-US" sz="1400" dirty="0"/>
          </a:p>
          <a:p>
            <a:pPr marL="342900" indent="-342900">
              <a:spcAft>
                <a:spcPts val="800"/>
              </a:spcAft>
              <a:buSzPct val="100000"/>
              <a:buChar char="•"/>
            </a:pPr>
            <a:r>
              <a:rPr lang="en-US" sz="1400" dirty="0">
                <a:solidFill>
                  <a:schemeClr val="tx1"/>
                </a:solidFill>
              </a:rPr>
              <a:t>Detects water and wet mud, unlike most basic smart canes</a:t>
            </a:r>
            <a:endParaRPr lang="en-US" sz="1400" dirty="0"/>
          </a:p>
          <a:p>
            <a:pPr marL="342900" indent="-342900">
              <a:spcAft>
                <a:spcPts val="800"/>
              </a:spcAft>
              <a:buSzPct val="100000"/>
              <a:buChar char="•"/>
            </a:pPr>
            <a:r>
              <a:rPr lang="en-US" sz="1400" dirty="0">
                <a:solidFill>
                  <a:schemeClr val="tx1"/>
                </a:solidFill>
              </a:rPr>
              <a:t>Low cost, local parts, easy to repair</a:t>
            </a:r>
            <a:endParaRPr lang="en-US" sz="1400" dirty="0"/>
          </a:p>
          <a:p>
            <a:pPr marL="342900" indent="-342900">
              <a:spcAft>
                <a:spcPts val="800"/>
              </a:spcAft>
              <a:buSzPct val="100000"/>
              <a:buChar char="•"/>
            </a:pPr>
            <a:r>
              <a:rPr lang="en-US" sz="1400" dirty="0">
                <a:solidFill>
                  <a:schemeClr val="tx1"/>
                </a:solidFill>
              </a:rPr>
              <a:t>Rechargeable battery, simple on/off use</a:t>
            </a:r>
            <a:endParaRPr lang="en-US" sz="1400" dirty="0"/>
          </a:p>
        </p:txBody>
      </p:sp>
      <p:sp>
        <p:nvSpPr>
          <p:cNvPr id="10" name="Text 6"/>
          <p:cNvSpPr txBox="1"/>
          <p:nvPr/>
        </p:nvSpPr>
        <p:spPr>
          <a:xfrm>
            <a:off x="4892040" y="201168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Narrow ~15° beam misses head-level and thin obstacles</a:t>
            </a:r>
            <a:endParaRPr lang="en-US" sz="1400" dirty="0"/>
          </a:p>
          <a:p>
            <a:pPr marL="342900" indent="-342900">
              <a:spcAft>
                <a:spcPts val="600"/>
              </a:spcAft>
              <a:buSzPct val="100000"/>
              <a:buChar char="•"/>
            </a:pPr>
            <a:r>
              <a:rPr lang="en-US" sz="1400" dirty="0">
                <a:solidFill>
                  <a:schemeClr val="tx1"/>
                </a:solidFill>
              </a:rPr>
              <a:t>Water detected only when the tip touches it</a:t>
            </a:r>
            <a:endParaRPr lang="en-US" sz="1400" dirty="0"/>
          </a:p>
          <a:p>
            <a:pPr marL="342900" indent="-342900">
              <a:spcAft>
                <a:spcPts val="600"/>
              </a:spcAft>
              <a:buSzPct val="100000"/>
              <a:buChar char="•"/>
            </a:pPr>
            <a:r>
              <a:rPr lang="en-US" sz="1400" dirty="0">
                <a:solidFill>
                  <a:schemeClr val="tx1"/>
                </a:solidFill>
              </a:rPr>
              <a:t>Resistive probe corrodes over time</a:t>
            </a:r>
            <a:endParaRPr lang="en-US" sz="1400" dirty="0"/>
          </a:p>
          <a:p>
            <a:pPr marL="342900" indent="-342900">
              <a:spcAft>
                <a:spcPts val="600"/>
              </a:spcAft>
              <a:buSzPct val="100000"/>
              <a:buChar char="•"/>
            </a:pPr>
            <a:r>
              <a:rPr lang="en-US" sz="1400" dirty="0">
                <a:solidFill>
                  <a:schemeClr val="tx1"/>
                </a:solidFill>
              </a:rPr>
              <a:t>Unregulated 3.7 V supply, no low-battery warning</a:t>
            </a:r>
            <a:endParaRPr lang="en-US" sz="1400" dirty="0"/>
          </a:p>
          <a:p>
            <a:pPr marL="342900" indent="-342900">
              <a:spcAft>
                <a:spcPts val="600"/>
              </a:spcAft>
              <a:buSzPct val="100000"/>
              <a:buChar char="•"/>
            </a:pPr>
            <a:r>
              <a:rPr lang="en-US" sz="1400" dirty="0">
                <a:solidFill>
                  <a:schemeClr val="tx1"/>
                </a:solidFill>
              </a:rPr>
              <a:t>Buzzer hard to hear in heavy traffic</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Future scope</a:t>
            </a:r>
            <a:endParaRPr lang="en-US" sz="3000" dirty="0"/>
          </a:p>
        </p:txBody>
      </p:sp>
      <p:sp>
        <p:nvSpPr>
          <p:cNvPr id="3" name="future card"/>
          <p:cNvSpPr/>
          <p:nvPr/>
        </p:nvSpPr>
        <p:spPr>
          <a:xfrm>
            <a:off x="457200" y="1188720"/>
            <a:ext cx="2606040" cy="1463040"/>
          </a:xfrm>
          <a:prstGeom prst="rect">
            <a:avLst/>
          </a:prstGeom>
          <a:solidFill>
            <a:schemeClr val="bg2"/>
          </a:solidFill>
          <a:ln w="9525">
            <a:solidFill>
              <a:srgbClr val="B8C4D6"/>
            </a:solidFill>
            <a:prstDash val="solid"/>
          </a:ln>
        </p:spPr>
      </p:sp>
      <p:pic>
        <p:nvPicPr>
          <p:cNvPr id="4" name="icon" descr="preencoded.png">    </p:cNvPr>
          <p:cNvPicPr>
            <a:picLocks noChangeAspect="1"/>
          </p:cNvPicPr>
          <p:nvPr/>
        </p:nvPicPr>
        <p:blipFill>
          <a:blip r:embed="rId1"/>
          <a:stretch>
            <a:fillRect/>
          </a:stretch>
        </p:blipFill>
        <p:spPr>
          <a:xfrm>
            <a:off x="690372" y="1421892"/>
            <a:ext cx="377190" cy="377190"/>
          </a:xfrm>
          <a:prstGeom prst="rect">
            <a:avLst/>
          </a:prstGeom>
        </p:spPr>
      </p:pic>
      <p:sp>
        <p:nvSpPr>
          <p:cNvPr id="5" name="Text 2"/>
          <p:cNvSpPr txBox="1"/>
          <p:nvPr/>
        </p:nvSpPr>
        <p:spPr>
          <a:xfrm>
            <a:off x="128016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Vibration motor</a:t>
            </a:r>
            <a:endParaRPr lang="en-US" sz="1500" dirty="0"/>
          </a:p>
        </p:txBody>
      </p:sp>
      <p:sp>
        <p:nvSpPr>
          <p:cNvPr id="6" name="Text 3"/>
          <p:cNvSpPr txBox="1"/>
          <p:nvPr/>
        </p:nvSpPr>
        <p:spPr>
          <a:xfrm>
            <a:off x="64008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Silent haptic alerts via the IRLZ44N MOSFET</a:t>
            </a:r>
            <a:endParaRPr lang="en-US" sz="1300" dirty="0"/>
          </a:p>
        </p:txBody>
      </p:sp>
      <p:sp>
        <p:nvSpPr>
          <p:cNvPr id="7" name="future card"/>
          <p:cNvSpPr/>
          <p:nvPr/>
        </p:nvSpPr>
        <p:spPr>
          <a:xfrm>
            <a:off x="3246120" y="1188720"/>
            <a:ext cx="2606040" cy="1463040"/>
          </a:xfrm>
          <a:prstGeom prst="rect">
            <a:avLst/>
          </a:prstGeom>
          <a:solidFill>
            <a:schemeClr val="bg2"/>
          </a:solidFill>
          <a:ln w="9525">
            <a:solidFill>
              <a:srgbClr val="B8C4D6"/>
            </a:solidFill>
            <a:prstDash val="solid"/>
          </a:ln>
        </p:spPr>
      </p:sp>
      <p:pic>
        <p:nvPicPr>
          <p:cNvPr id="8" name="icon" descr="preencoded.png">    </p:cNvPr>
          <p:cNvPicPr>
            <a:picLocks noChangeAspect="1"/>
          </p:cNvPicPr>
          <p:nvPr/>
        </p:nvPicPr>
        <p:blipFill>
          <a:blip r:embed="rId2"/>
          <a:stretch>
            <a:fillRect/>
          </a:stretch>
        </p:blipFill>
        <p:spPr>
          <a:xfrm>
            <a:off x="3479292" y="1421892"/>
            <a:ext cx="377190" cy="377190"/>
          </a:xfrm>
          <a:prstGeom prst="rect">
            <a:avLst/>
          </a:prstGeom>
        </p:spPr>
      </p:pic>
      <p:sp>
        <p:nvSpPr>
          <p:cNvPr id="9" name="Text 5"/>
          <p:cNvSpPr txBox="1"/>
          <p:nvPr/>
        </p:nvSpPr>
        <p:spPr>
          <a:xfrm>
            <a:off x="406908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Regulated power</a:t>
            </a:r>
            <a:endParaRPr lang="en-US" sz="1500" dirty="0"/>
          </a:p>
        </p:txBody>
      </p:sp>
      <p:sp>
        <p:nvSpPr>
          <p:cNvPr id="10" name="Text 6"/>
          <p:cNvSpPr txBox="1"/>
          <p:nvPr/>
        </p:nvSpPr>
        <p:spPr>
          <a:xfrm>
            <a:off x="342900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5 V boost converter, TP4056 charger, 1 A fuse</a:t>
            </a:r>
            <a:endParaRPr lang="en-US" sz="1300" dirty="0"/>
          </a:p>
        </p:txBody>
      </p:sp>
      <p:sp>
        <p:nvSpPr>
          <p:cNvPr id="11" name="future card"/>
          <p:cNvSpPr/>
          <p:nvPr/>
        </p:nvSpPr>
        <p:spPr>
          <a:xfrm>
            <a:off x="6035040" y="1188720"/>
            <a:ext cx="2606040" cy="1463040"/>
          </a:xfrm>
          <a:prstGeom prst="rect">
            <a:avLst/>
          </a:prstGeom>
          <a:solidFill>
            <a:schemeClr val="bg2"/>
          </a:solidFill>
          <a:ln w="9525">
            <a:solidFill>
              <a:srgbClr val="B8C4D6"/>
            </a:solidFill>
            <a:prstDash val="solid"/>
          </a:ln>
        </p:spPr>
      </p:sp>
      <p:pic>
        <p:nvPicPr>
          <p:cNvPr id="12" name="icon" descr="preencoded.png">    </p:cNvPr>
          <p:cNvPicPr>
            <a:picLocks noChangeAspect="1"/>
          </p:cNvPicPr>
          <p:nvPr/>
        </p:nvPicPr>
        <p:blipFill>
          <a:blip r:embed="rId3"/>
          <a:stretch>
            <a:fillRect/>
          </a:stretch>
        </p:blipFill>
        <p:spPr>
          <a:xfrm>
            <a:off x="6268212" y="1421892"/>
            <a:ext cx="377190" cy="377190"/>
          </a:xfrm>
          <a:prstGeom prst="rect">
            <a:avLst/>
          </a:prstGeom>
        </p:spPr>
      </p:pic>
      <p:sp>
        <p:nvSpPr>
          <p:cNvPr id="13" name="Text 8"/>
          <p:cNvSpPr txBox="1"/>
          <p:nvPr/>
        </p:nvSpPr>
        <p:spPr>
          <a:xfrm>
            <a:off x="6858000" y="1463040"/>
            <a:ext cx="1691640" cy="365760"/>
          </a:xfrm>
          <a:prstGeom prst="rect">
            <a:avLst/>
          </a:prstGeom>
          <a:noFill/>
          <a:ln/>
        </p:spPr>
        <p:txBody>
          <a:bodyPr wrap="square" lIns="0" tIns="0" rIns="0" bIns="0" rtlCol="0" anchor="t"/>
          <a:lstStyle/>
          <a:p>
            <a:pPr indent="0" marL="0">
              <a:buNone/>
            </a:pPr>
            <a:r>
              <a:rPr lang="en-US" sz="1500" b="1" dirty="0">
                <a:solidFill>
                  <a:schemeClr val="tx2"/>
                </a:solidFill>
              </a:rPr>
              <a:t>More sensors</a:t>
            </a:r>
            <a:endParaRPr lang="en-US" sz="1500" dirty="0"/>
          </a:p>
        </p:txBody>
      </p:sp>
      <p:sp>
        <p:nvSpPr>
          <p:cNvPr id="14" name="Text 9"/>
          <p:cNvSpPr txBox="1"/>
          <p:nvPr/>
        </p:nvSpPr>
        <p:spPr>
          <a:xfrm>
            <a:off x="6217920" y="201168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Angled up for heads, down for steps and potholes</a:t>
            </a:r>
            <a:endParaRPr lang="en-US" sz="1300" dirty="0"/>
          </a:p>
        </p:txBody>
      </p:sp>
      <p:sp>
        <p:nvSpPr>
          <p:cNvPr id="15" name="future card"/>
          <p:cNvSpPr/>
          <p:nvPr/>
        </p:nvSpPr>
        <p:spPr>
          <a:xfrm>
            <a:off x="457200" y="2880360"/>
            <a:ext cx="2606040" cy="1463040"/>
          </a:xfrm>
          <a:prstGeom prst="rect">
            <a:avLst/>
          </a:prstGeom>
          <a:solidFill>
            <a:schemeClr val="bg2"/>
          </a:solidFill>
          <a:ln w="9525">
            <a:solidFill>
              <a:srgbClr val="B8C4D6"/>
            </a:solidFill>
            <a:prstDash val="solid"/>
          </a:ln>
        </p:spPr>
      </p:sp>
      <p:pic>
        <p:nvPicPr>
          <p:cNvPr id="16" name="icon" descr="preencoded.png">    </p:cNvPr>
          <p:cNvPicPr>
            <a:picLocks noChangeAspect="1"/>
          </p:cNvPicPr>
          <p:nvPr/>
        </p:nvPicPr>
        <p:blipFill>
          <a:blip r:embed="rId4"/>
          <a:stretch>
            <a:fillRect/>
          </a:stretch>
        </p:blipFill>
        <p:spPr>
          <a:xfrm>
            <a:off x="690372" y="3113532"/>
            <a:ext cx="377190" cy="377190"/>
          </a:xfrm>
          <a:prstGeom prst="rect">
            <a:avLst/>
          </a:prstGeom>
        </p:spPr>
      </p:pic>
      <p:sp>
        <p:nvSpPr>
          <p:cNvPr id="17" name="Text 11"/>
          <p:cNvSpPr txBox="1"/>
          <p:nvPr/>
        </p:nvSpPr>
        <p:spPr>
          <a:xfrm>
            <a:off x="128016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Capacitive probe</a:t>
            </a:r>
            <a:endParaRPr lang="en-US" sz="1500" dirty="0"/>
          </a:p>
        </p:txBody>
      </p:sp>
      <p:sp>
        <p:nvSpPr>
          <p:cNvPr id="18" name="Text 12"/>
          <p:cNvSpPr txBox="1"/>
          <p:nvPr/>
        </p:nvSpPr>
        <p:spPr>
          <a:xfrm>
            <a:off x="64008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No exposed metal, so no corrosion</a:t>
            </a:r>
            <a:endParaRPr lang="en-US" sz="1300" dirty="0"/>
          </a:p>
        </p:txBody>
      </p:sp>
      <p:sp>
        <p:nvSpPr>
          <p:cNvPr id="19" name="future card"/>
          <p:cNvSpPr/>
          <p:nvPr/>
        </p:nvSpPr>
        <p:spPr>
          <a:xfrm>
            <a:off x="3246120" y="2880360"/>
            <a:ext cx="2606040" cy="1463040"/>
          </a:xfrm>
          <a:prstGeom prst="rect">
            <a:avLst/>
          </a:prstGeom>
          <a:solidFill>
            <a:schemeClr val="bg2"/>
          </a:solidFill>
          <a:ln w="9525">
            <a:solidFill>
              <a:srgbClr val="B8C4D6"/>
            </a:solidFill>
            <a:prstDash val="solid"/>
          </a:ln>
        </p:spPr>
      </p:sp>
      <p:pic>
        <p:nvPicPr>
          <p:cNvPr id="20" name="icon" descr="preencoded.png">    </p:cNvPr>
          <p:cNvPicPr>
            <a:picLocks noChangeAspect="1"/>
          </p:cNvPicPr>
          <p:nvPr/>
        </p:nvPicPr>
        <p:blipFill>
          <a:blip r:embed="rId5"/>
          <a:stretch>
            <a:fillRect/>
          </a:stretch>
        </p:blipFill>
        <p:spPr>
          <a:xfrm>
            <a:off x="3479292" y="3113532"/>
            <a:ext cx="377190" cy="377190"/>
          </a:xfrm>
          <a:prstGeom prst="rect">
            <a:avLst/>
          </a:prstGeom>
        </p:spPr>
      </p:pic>
      <p:sp>
        <p:nvSpPr>
          <p:cNvPr id="21" name="Text 14"/>
          <p:cNvSpPr txBox="1"/>
          <p:nvPr/>
        </p:nvSpPr>
        <p:spPr>
          <a:xfrm>
            <a:off x="406908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GPS + SOS</a:t>
            </a:r>
            <a:endParaRPr lang="en-US" sz="1500" dirty="0"/>
          </a:p>
        </p:txBody>
      </p:sp>
      <p:sp>
        <p:nvSpPr>
          <p:cNvPr id="22" name="Text 15"/>
          <p:cNvSpPr txBox="1"/>
          <p:nvPr/>
        </p:nvSpPr>
        <p:spPr>
          <a:xfrm>
            <a:off x="342900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Send location to family via GSM or Bluetooth</a:t>
            </a:r>
            <a:endParaRPr lang="en-US" sz="1300" dirty="0"/>
          </a:p>
        </p:txBody>
      </p:sp>
      <p:sp>
        <p:nvSpPr>
          <p:cNvPr id="23" name="future card"/>
          <p:cNvSpPr/>
          <p:nvPr/>
        </p:nvSpPr>
        <p:spPr>
          <a:xfrm>
            <a:off x="6035040" y="2880360"/>
            <a:ext cx="2606040" cy="1463040"/>
          </a:xfrm>
          <a:prstGeom prst="rect">
            <a:avLst/>
          </a:prstGeom>
          <a:solidFill>
            <a:schemeClr val="bg2"/>
          </a:solidFill>
          <a:ln w="9525">
            <a:solidFill>
              <a:srgbClr val="B8C4D6"/>
            </a:solidFill>
            <a:prstDash val="solid"/>
          </a:ln>
        </p:spPr>
      </p:sp>
      <p:pic>
        <p:nvPicPr>
          <p:cNvPr id="24" name="icon" descr="preencoded.png">    </p:cNvPr>
          <p:cNvPicPr>
            <a:picLocks noChangeAspect="1"/>
          </p:cNvPicPr>
          <p:nvPr/>
        </p:nvPicPr>
        <p:blipFill>
          <a:blip r:embed="rId6"/>
          <a:stretch>
            <a:fillRect/>
          </a:stretch>
        </p:blipFill>
        <p:spPr>
          <a:xfrm>
            <a:off x="6268212" y="3113532"/>
            <a:ext cx="377190" cy="377190"/>
          </a:xfrm>
          <a:prstGeom prst="rect">
            <a:avLst/>
          </a:prstGeom>
        </p:spPr>
      </p:pic>
      <p:sp>
        <p:nvSpPr>
          <p:cNvPr id="25" name="Text 17"/>
          <p:cNvSpPr txBox="1"/>
          <p:nvPr/>
        </p:nvSpPr>
        <p:spPr>
          <a:xfrm>
            <a:off x="6858000" y="3154680"/>
            <a:ext cx="1691640" cy="365760"/>
          </a:xfrm>
          <a:prstGeom prst="rect">
            <a:avLst/>
          </a:prstGeom>
          <a:noFill/>
          <a:ln/>
        </p:spPr>
        <p:txBody>
          <a:bodyPr wrap="square" lIns="0" tIns="0" rIns="0" bIns="0" rtlCol="0" anchor="t"/>
          <a:lstStyle/>
          <a:p>
            <a:pPr indent="0" marL="0">
              <a:buNone/>
            </a:pPr>
            <a:r>
              <a:rPr lang="en-US" sz="1500" b="1" dirty="0">
                <a:solidFill>
                  <a:schemeClr val="tx2"/>
                </a:solidFill>
              </a:rPr>
              <a:t>PCB + enclosure</a:t>
            </a:r>
            <a:endParaRPr lang="en-US" sz="1500" dirty="0"/>
          </a:p>
        </p:txBody>
      </p:sp>
      <p:sp>
        <p:nvSpPr>
          <p:cNvPr id="26" name="Text 18"/>
          <p:cNvSpPr txBox="1"/>
          <p:nvPr/>
        </p:nvSpPr>
        <p:spPr>
          <a:xfrm>
            <a:off x="6217920" y="3703320"/>
            <a:ext cx="2286000" cy="594360"/>
          </a:xfrm>
          <a:prstGeom prst="rect">
            <a:avLst/>
          </a:prstGeom>
          <a:noFill/>
          <a:ln/>
        </p:spPr>
        <p:txBody>
          <a:bodyPr wrap="square" lIns="0" tIns="0" rIns="0" bIns="0" rtlCol="0" anchor="t"/>
          <a:lstStyle/>
          <a:p>
            <a:pPr indent="0" marL="0">
              <a:buNone/>
            </a:pPr>
            <a:r>
              <a:rPr lang="en-US" sz="1300" dirty="0">
                <a:solidFill>
                  <a:schemeClr val="accent5"/>
                </a:solidFill>
              </a:rPr>
              <a:t>Waterproof, robust, ready for field trials</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1"/>
          <p:cNvSpPr txBox="1"/>
          <p:nvPr/>
        </p:nvSpPr>
        <p:spPr>
          <a:xfrm>
            <a:off x="457200" y="1188720"/>
            <a:ext cx="8229600" cy="3383280"/>
          </a:xfrm>
          <a:prstGeom prst="rect">
            <a:avLst/>
          </a:prstGeom>
          <a:noFill/>
          <a:ln/>
        </p:spPr>
        <p:txBody>
          <a:bodyPr wrap="square" lIns="0" tIns="0" rIns="0" bIns="0" rtlCol="0" anchor="t"/>
          <a:lstStyle/>
          <a:p>
            <a:pPr indent="0" marL="0">
              <a:spcAft>
                <a:spcPts val="1200"/>
              </a:spcAft>
              <a:buNone/>
            </a:pPr>
            <a:r>
              <a:rPr lang="en-US" sz="1500" dirty="0">
                <a:solidFill>
                  <a:schemeClr val="tx1"/>
                </a:solidFill>
              </a:rPr>
              <a:t>[1] Elecfreaks, “Ultrasonic Ranging Module HC-SR04,” datasheet, 2011.</a:t>
            </a:r>
            <a:endParaRPr lang="en-US" sz="1500" dirty="0"/>
          </a:p>
          <a:p>
            <a:pPr indent="0" marL="0">
              <a:spcAft>
                <a:spcPts val="1200"/>
              </a:spcAft>
              <a:buNone/>
            </a:pPr>
            <a:r>
              <a:rPr lang="en-US" sz="1500" dirty="0">
                <a:solidFill>
                  <a:schemeClr val="tx1"/>
                </a:solidFill>
              </a:rPr>
              <a:t>[2] Microchip Technology, “ATmega328P megaAVR Data Sheet,” DS40002061, 2020.</a:t>
            </a:r>
            <a:endParaRPr lang="en-US" sz="1500" dirty="0"/>
          </a:p>
          <a:p>
            <a:pPr indent="0" marL="0">
              <a:spcAft>
                <a:spcPts val="1200"/>
              </a:spcAft>
              <a:buNone/>
            </a:pPr>
            <a:r>
              <a:rPr lang="en-US" sz="1500" dirty="0">
                <a:solidFill>
                  <a:schemeClr val="tx1"/>
                </a:solidFill>
              </a:rPr>
              <a:t>[3] Arduino, “Arduino Nano,” docs.arduino.cc/hardware/nano</a:t>
            </a:r>
            <a:endParaRPr lang="en-US" sz="1500" dirty="0"/>
          </a:p>
          <a:p>
            <a:pPr indent="0" marL="0">
              <a:spcAft>
                <a:spcPts val="1200"/>
              </a:spcAft>
              <a:buNone/>
            </a:pPr>
            <a:r>
              <a:rPr lang="en-US" sz="1500" dirty="0">
                <a:solidFill>
                  <a:schemeClr val="tx1"/>
                </a:solidFill>
              </a:rPr>
              <a:t>[4] Arduino, “Language Reference: pulseIn(), analogRead(), map(),” arduino.cc/reference</a:t>
            </a:r>
            <a:endParaRPr lang="en-US" sz="1500" dirty="0"/>
          </a:p>
          <a:p>
            <a:pPr indent="0" marL="0">
              <a:spcAft>
                <a:spcPts val="1200"/>
              </a:spcAft>
              <a:buNone/>
            </a:pPr>
            <a:r>
              <a:rPr lang="en-US" sz="1500" dirty="0">
                <a:solidFill>
                  <a:schemeClr val="tx1"/>
                </a:solidFill>
              </a:rPr>
              <a:t>[5] Texas Instruments, “LM393 Dual Comparator,” datasheet, ti.com/product/LM393</a:t>
            </a:r>
            <a:endParaRPr lang="en-US" sz="1500" dirty="0"/>
          </a:p>
          <a:p>
            <a:pPr indent="0" marL="0">
              <a:spcAft>
                <a:spcPts val="1200"/>
              </a:spcAft>
              <a:buNone/>
            </a:pPr>
            <a:r>
              <a:rPr lang="en-US" sz="1500" dirty="0">
                <a:solidFill>
                  <a:schemeClr val="tx1"/>
                </a:solidFill>
              </a:rPr>
              <a:t>[6] World Health Organization, “World Report on Vision,” Geneva, 2019.</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4572000" cy="109728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548640" y="2423160"/>
            <a:ext cx="4572000" cy="1188720"/>
          </a:xfrm>
          <a:prstGeom prst="rect">
            <a:avLst/>
          </a:prstGeom>
          <a:noFill/>
          <a:ln/>
        </p:spPr>
        <p:txBody>
          <a:bodyPr wrap="square" lIns="0" tIns="0" rIns="0" bIns="0" rtlCol="0" anchor="t"/>
          <a:lstStyle/>
          <a:p>
            <a:pPr algn="l" indent="0" marL="0">
              <a:buNone/>
            </a:pPr>
            <a:r>
              <a:rPr lang="en-US" sz="1800" dirty="0">
                <a:solidFill>
                  <a:schemeClr val="accent6"/>
                </a:solidFill>
              </a:rPr>
              <a:t>Questions?</a:t>
            </a:r>
            <a:endParaRPr lang="en-US" sz="1800" dirty="0"/>
          </a:p>
        </p:txBody>
      </p:sp>
      <p:sp>
        <p:nvSpPr>
          <p:cNvPr id="4" name="conclusion card"/>
          <p:cNvSpPr/>
          <p:nvPr/>
        </p:nvSpPr>
        <p:spPr>
          <a:xfrm>
            <a:off x="5120640" y="822960"/>
            <a:ext cx="3566160" cy="3566160"/>
          </a:xfrm>
          <a:prstGeom prst="rect">
            <a:avLst/>
          </a:prstGeom>
          <a:solidFill>
            <a:srgbClr val="1F2E52"/>
          </a:solidFill>
          <a:ln w="9525">
            <a:solidFill>
              <a:srgbClr val="B8C4D6"/>
            </a:solidFill>
            <a:prstDash val="solid"/>
          </a:ln>
        </p:spPr>
      </p:sp>
      <p:sp>
        <p:nvSpPr>
          <p:cNvPr id="5" name="Text 3"/>
          <p:cNvSpPr txBox="1"/>
          <p:nvPr/>
        </p:nvSpPr>
        <p:spPr>
          <a:xfrm>
            <a:off x="5349240" y="1005840"/>
            <a:ext cx="3108960" cy="411480"/>
          </a:xfrm>
          <a:prstGeom prst="rect">
            <a:avLst/>
          </a:prstGeom>
          <a:noFill/>
          <a:ln/>
        </p:spPr>
        <p:txBody>
          <a:bodyPr wrap="square" lIns="0" tIns="0" rIns="0" bIns="0" rtlCol="0" anchor="t"/>
          <a:lstStyle/>
          <a:p>
            <a:pPr indent="0" marL="0">
              <a:buNone/>
            </a:pPr>
            <a:r>
              <a:rPr lang="en-US" sz="1800" b="1" dirty="0">
                <a:solidFill>
                  <a:schemeClr val="accent1"/>
                </a:solidFill>
              </a:rPr>
              <a:t>Conclusion</a:t>
            </a:r>
            <a:endParaRPr lang="en-US" sz="1800" dirty="0"/>
          </a:p>
        </p:txBody>
      </p:sp>
      <p:sp>
        <p:nvSpPr>
          <p:cNvPr id="6" name="Text 4"/>
          <p:cNvSpPr txBox="1"/>
          <p:nvPr/>
        </p:nvSpPr>
        <p:spPr>
          <a:xfrm>
            <a:off x="5349240" y="1508760"/>
            <a:ext cx="31546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A plain cane becomes a low-cost electronic travel aid</a:t>
            </a:r>
            <a:endParaRPr lang="en-US" sz="1400" dirty="0"/>
          </a:p>
          <a:p>
            <a:pPr marL="342900" indent="-342900">
              <a:spcAft>
                <a:spcPts val="800"/>
              </a:spcAft>
              <a:buSzPct val="100000"/>
              <a:buChar char="•"/>
            </a:pPr>
            <a:r>
              <a:rPr lang="en-US" sz="1400" dirty="0">
                <a:solidFill>
                  <a:schemeClr val="bg1"/>
                </a:solidFill>
              </a:rPr>
              <a:t>Warns about obstacles before contact, with distance in the beep rate</a:t>
            </a:r>
            <a:endParaRPr lang="en-US" sz="1400" dirty="0"/>
          </a:p>
          <a:p>
            <a:pPr marL="342900" indent="-342900">
              <a:spcAft>
                <a:spcPts val="800"/>
              </a:spcAft>
              <a:buSzPct val="100000"/>
              <a:buChar char="•"/>
            </a:pPr>
            <a:r>
              <a:rPr lang="en-US" sz="1400" dirty="0">
                <a:solidFill>
                  <a:schemeClr val="bg1"/>
                </a:solidFill>
              </a:rPr>
              <a:t>Gives priority warnings for water underfoot</a:t>
            </a:r>
            <a:endParaRPr lang="en-US" sz="1400" dirty="0"/>
          </a:p>
          <a:p>
            <a:pPr marL="342900" indent="-342900">
              <a:spcAft>
                <a:spcPts val="800"/>
              </a:spcAft>
              <a:buSzPct val="100000"/>
              <a:buChar char="•"/>
            </a:pPr>
            <a:r>
              <a:rPr lang="en-US" sz="1400" dirty="0">
                <a:solidFill>
                  <a:schemeClr val="bg1"/>
                </a:solidFill>
              </a:rPr>
              <a:t>Runs from one rechargeable cell for about ₹876</a:t>
            </a:r>
            <a:endParaRPr lang="en-US" sz="1400" dirty="0"/>
          </a:p>
        </p:txBody>
      </p:sp>
    </p:spTree>
  </p:cSld>
  <p:clrMapOvr>
    <a:masterClrMapping/>
  </p:clrMapOvr>
</p:sld>
</file>

<file path=ppt/theme/theme1.xml><?xml version="1.0" encoding="utf-8"?>
<a:theme xmlns:a="http://schemas.openxmlformats.org/drawingml/2006/main" name="VisionGuard">
  <a:themeElements>
    <a:clrScheme name="VisionGuard">
      <a:dk1>
        <a:srgbClr val="1B1B1F"/>
      </a:dk1>
      <a:lt1>
        <a:srgbClr val="FFFFFF"/>
      </a:lt1>
      <a:dk2>
        <a:srgbClr val="14213D"/>
      </a:dk2>
      <a:lt2>
        <a:srgbClr val="EEF2F7"/>
      </a:lt2>
      <a:accent1>
        <a:srgbClr val="FCA311"/>
      </a:accent1>
      <a:accent2>
        <a:srgbClr val="1F7A8C"/>
      </a:accent2>
      <a:accent3>
        <a:srgbClr val="D62828"/>
      </a:accent3>
      <a:accent4>
        <a:srgbClr val="2A9D8F"/>
      </a:accent4>
      <a:accent5>
        <a:srgbClr val="5C677D"/>
      </a:accent5>
      <a:accent6>
        <a:srgbClr val="8DA9C4"/>
      </a:accent6>
      <a:hlink>
        <a:srgbClr val="1F7A8C"/>
      </a:hlink>
      <a:folHlink>
        <a:srgbClr val="5C677D"/>
      </a:folHlink>
    </a:clrScheme>
    <a:fontScheme name="VisionGuard">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VisionGuard Smart Cane</dc:title>
  <dc:subject>PptxGenJS Presentation</dc:subject>
  <dc:creator>S Darshan, Tanay Agarwal</dc:creator>
  <cp:lastModifiedBy>S Darshan, Tanay Agarwal</cp:lastModifiedBy>
  <cp:revision>1</cp:revision>
  <dcterms:created xsi:type="dcterms:W3CDTF">2026-10-26T14:40:18Z</dcterms:created>
  <dcterms:modified xsi:type="dcterms:W3CDTF">2026-10-26T14:40:18Z</dcterms:modified>
</cp:coreProperties>
</file>